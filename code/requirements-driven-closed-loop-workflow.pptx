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df16e17eb34904" /><Relationship Type="http://schemas.openxmlformats.org/officeDocument/2006/relationships/extended-properties" Target="/docProps/app.xml" Id="R4e50605664b04936" /><Relationship Type="http://schemas.openxmlformats.org/officeDocument/2006/relationships/officeDocument" Target="/ppt/presentation.xml" Id="Rb8925941c11344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cd7a1bbf5d4601"/>
  </p:sldMasterIdLst>
  <p:notesMasterIdLst>
    <p:notesMasterId xmlns:r="http://schemas.openxmlformats.org/officeDocument/2006/relationships" r:id="Rc1a6edfb2af842c5"/>
  </p:notesMasterIdLst>
  <p:sldIdLst>
    <p:sldId xmlns:r="http://schemas.openxmlformats.org/officeDocument/2006/relationships" id="256" r:id="Rd9ca8f25da934997"/>
    <p:sldId xmlns:r="http://schemas.openxmlformats.org/officeDocument/2006/relationships" id="257" r:id="R7100f3a987ce49b4"/>
    <p:sldId xmlns:r="http://schemas.openxmlformats.org/officeDocument/2006/relationships" id="258" r:id="R8d8afe0b623f478e"/>
    <p:sldId xmlns:r="http://schemas.openxmlformats.org/officeDocument/2006/relationships" id="259" r:id="R180dc88da1a544f4"/>
    <p:sldId xmlns:r="http://schemas.openxmlformats.org/officeDocument/2006/relationships" id="260" r:id="R8a1918e6d14949eb"/>
    <p:sldId xmlns:r="http://schemas.openxmlformats.org/officeDocument/2006/relationships" id="261" r:id="R1250a7c634c143ef"/>
    <p:sldId xmlns:r="http://schemas.openxmlformats.org/officeDocument/2006/relationships" id="262" r:id="Rb6b14d464a5c4ec8"/>
    <p:sldId xmlns:r="http://schemas.openxmlformats.org/officeDocument/2006/relationships" id="263" r:id="Rcf3d881d503648cb"/>
    <p:sldId xmlns:r="http://schemas.openxmlformats.org/officeDocument/2006/relationships" id="264" r:id="R7592b300d5944a9d"/>
    <p:sldId xmlns:r="http://schemas.openxmlformats.org/officeDocument/2006/relationships" id="265" r:id="R39392f60d7224c4a"/>
    <p:sldId xmlns:r="http://schemas.openxmlformats.org/officeDocument/2006/relationships" id="266" r:id="R6c6e6967ebd14582"/>
    <p:sldId xmlns:r="http://schemas.openxmlformats.org/officeDocument/2006/relationships" id="267" r:id="Rc533bfb3547642bd"/>
    <p:sldId xmlns:r="http://schemas.openxmlformats.org/officeDocument/2006/relationships" id="268" r:id="R53cb9f5b60224ab7"/>
    <p:sldId xmlns:r="http://schemas.openxmlformats.org/officeDocument/2006/relationships" id="269" r:id="R3748f48496cd47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37a1723c8f4854" /><Relationship Type="http://schemas.openxmlformats.org/officeDocument/2006/relationships/slideMaster" Target="/ppt/slideMasters/slideMaster1.xml" Id="R19cd7a1bbf5d4601" /><Relationship Type="http://schemas.openxmlformats.org/officeDocument/2006/relationships/notesMaster" Target="/ppt/notesMasters/notesMaster1.xml" Id="Rc1a6edfb2af842c5" /><Relationship Type="http://schemas.openxmlformats.org/officeDocument/2006/relationships/presProps" Target="/ppt/presProps.xml" Id="Rf3ac3bf29efa4b99" /><Relationship Type="http://schemas.openxmlformats.org/officeDocument/2006/relationships/tableStyles" Target="/ppt/tableStyles.xml" Id="R019b3f7871014770" /><Relationship Type="http://schemas.openxmlformats.org/officeDocument/2006/relationships/slide" Target="/ppt/slides/slide1.xml" Id="Rd9ca8f25da934997" /><Relationship Type="http://schemas.openxmlformats.org/officeDocument/2006/relationships/slide" Target="/ppt/slides/slide2.xml" Id="R7100f3a987ce49b4" /><Relationship Type="http://schemas.openxmlformats.org/officeDocument/2006/relationships/slide" Target="/ppt/slides/slide3.xml" Id="R8d8afe0b623f478e" /><Relationship Type="http://schemas.openxmlformats.org/officeDocument/2006/relationships/slide" Target="/ppt/slides/slide4.xml" Id="R180dc88da1a544f4" /><Relationship Type="http://schemas.openxmlformats.org/officeDocument/2006/relationships/slide" Target="/ppt/slides/slide5.xml" Id="R8a1918e6d14949eb" /><Relationship Type="http://schemas.openxmlformats.org/officeDocument/2006/relationships/slide" Target="/ppt/slides/slide6.xml" Id="R1250a7c634c143ef" /><Relationship Type="http://schemas.openxmlformats.org/officeDocument/2006/relationships/slide" Target="/ppt/slides/slide7.xml" Id="Rb6b14d464a5c4ec8" /><Relationship Type="http://schemas.openxmlformats.org/officeDocument/2006/relationships/slide" Target="/ppt/slides/slide8.xml" Id="Rcf3d881d503648cb" /><Relationship Type="http://schemas.openxmlformats.org/officeDocument/2006/relationships/slide" Target="/ppt/slides/slide9.xml" Id="R7592b300d5944a9d" /><Relationship Type="http://schemas.openxmlformats.org/officeDocument/2006/relationships/slide" Target="/ppt/slides/slide10.xml" Id="R39392f60d7224c4a" /><Relationship Type="http://schemas.openxmlformats.org/officeDocument/2006/relationships/slide" Target="/ppt/slides/slide11.xml" Id="R6c6e6967ebd14582" /><Relationship Type="http://schemas.openxmlformats.org/officeDocument/2006/relationships/slide" Target="/ppt/slides/slide12.xml" Id="Rc533bfb3547642bd" /><Relationship Type="http://schemas.openxmlformats.org/officeDocument/2006/relationships/slide" Target="/ppt/slides/slide13.xml" Id="R53cb9f5b60224ab7" /><Relationship Type="http://schemas.openxmlformats.org/officeDocument/2006/relationships/slide" Target="/ppt/slides/slide14.xml" Id="R3748f48496cd47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6bbf2fed404f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01ae3555f541bc" /><Relationship Type="http://schemas.openxmlformats.org/officeDocument/2006/relationships/notesMaster" Target="/ppt/notesMasters/notesMaster1.xml" Id="Rbc8a84ee141247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a993c0d4054339" /><Relationship Type="http://schemas.openxmlformats.org/officeDocument/2006/relationships/notesMaster" Target="/ppt/notesMasters/notesMaster1.xml" Id="Rec7626e00e5349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79401211f34c38" /><Relationship Type="http://schemas.openxmlformats.org/officeDocument/2006/relationships/notesMaster" Target="/ppt/notesMasters/notesMaster1.xml" Id="Rda13a1318c0c49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2fb54288f64392" /><Relationship Type="http://schemas.openxmlformats.org/officeDocument/2006/relationships/notesMaster" Target="/ppt/notesMasters/notesMaster1.xml" Id="R8ed6d467e49146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e3da4e3e494540" /><Relationship Type="http://schemas.openxmlformats.org/officeDocument/2006/relationships/notesMaster" Target="/ppt/notesMasters/notesMaster1.xml" Id="R30f62d40213b43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bd3eb4167e4a51" /><Relationship Type="http://schemas.openxmlformats.org/officeDocument/2006/relationships/notesMaster" Target="/ppt/notesMasters/notesMaster1.xml" Id="Rda3b2da2399445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36f15ba4f54fe8" /><Relationship Type="http://schemas.openxmlformats.org/officeDocument/2006/relationships/notesMaster" Target="/ppt/notesMasters/notesMaster1.xml" Id="R57e4f6d69c814a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5f7f7026624fd4" /><Relationship Type="http://schemas.openxmlformats.org/officeDocument/2006/relationships/notesMaster" Target="/ppt/notesMasters/notesMaster1.xml" Id="R534aa00bbbe946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2ba31410d84df6" /><Relationship Type="http://schemas.openxmlformats.org/officeDocument/2006/relationships/notesMaster" Target="/ppt/notesMasters/notesMaster1.xml" Id="R00f26e8816334f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6b9d2902404f4e" /><Relationship Type="http://schemas.openxmlformats.org/officeDocument/2006/relationships/notesMaster" Target="/ppt/notesMasters/notesMaster1.xml" Id="R001ef30156c84a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f771cfcab34c58" /><Relationship Type="http://schemas.openxmlformats.org/officeDocument/2006/relationships/notesMaster" Target="/ppt/notesMasters/notesMaster1.xml" Id="Rf51ca2f4a25d4b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d678f39e36409e" /><Relationship Type="http://schemas.openxmlformats.org/officeDocument/2006/relationships/notesMaster" Target="/ppt/notesMasters/notesMaster1.xml" Id="R25d1dc675dd040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add67084804dd5" /><Relationship Type="http://schemas.openxmlformats.org/officeDocument/2006/relationships/notesMaster" Target="/ppt/notesMasters/notesMaster1.xml" Id="R26fb8338f04547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0e65afd68840cc" /><Relationship Type="http://schemas.openxmlformats.org/officeDocument/2006/relationships/notesMaster" Target="/ppt/notesMasters/notesMaster1.xml" Id="R961660698ecb4f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开场强调：这不是单纯的测试流程，而是一条从意图到证据、再回到受控变更的工程闭环。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指出三个常见误区，为后续完整流程建立必要性。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按顺时针方向介绍流程。强调出现问题后不是固定回到代码，而是回到最早受影响阶段。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这六条是全过程不可破坏的约束，尤其要避免下游现状反向决定上游意图。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质量审查与合理性评估必须分开，智能体不能替代有权角色批准业务、安全或风险取舍。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正向追溯检查落实，反向追溯检查依据。实现基线必须包含配置和目标构建，而不只是源码提交号。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验证链分为规格、执行和证据评估三部分，绿色汇总只是输入之一。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先定位最早偏离，再做责任域分类。分类是为了找到正确的决策者和修订对象，而不是快速归责。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需要改变已批准行为时，必须停在人工决策点。智能体不能替代业务、安全或风险接受责任。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不同变更类型有不同回退点。需求变化的影响范围通常最广，不能只验证直接修改的代码。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修复提交不是关闭证据。五项条件缺一，问题就应保持开放、待复查或保留限制。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遗留系统补文档必须保留事实、推断和未知的边界，不能把历史代码行为自动升级为批准需求。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工作流记录既是审计线索，也是跨角色、跨智能体恢复工作的最小上下文。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结束时提出明确的试点行动，而不是泛泛总结。优先选择一个边界清楚、风险可控的功能跑通流程。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deccd77e6746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6bed661da2477f" /><Relationship Type="http://schemas.openxmlformats.org/officeDocument/2006/relationships/slideLayout" Target="/ppt/slideLayouts/slideLayout1.xml" Id="R0dd21fda583240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d21fda583240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2d14c658745ff" /><Relationship Type="http://schemas.openxmlformats.org/officeDocument/2006/relationships/notesSlide" Target="/ppt/notesSlides/notesSlide1.xml" Id="R3fdbaf61141045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cfac321a94026" /><Relationship Type="http://schemas.openxmlformats.org/officeDocument/2006/relationships/notesSlide" Target="/ppt/notesSlides/notesSlide2.xml" Id="Ra6b1dd44321e42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ac944ff8a4315" /><Relationship Type="http://schemas.openxmlformats.org/officeDocument/2006/relationships/notesSlide" Target="/ppt/notesSlides/notesSlide3.xml" Id="Rdaf9d932221848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0075590a04410" /><Relationship Type="http://schemas.openxmlformats.org/officeDocument/2006/relationships/notesSlide" Target="/ppt/notesSlides/notesSlide4.xml" Id="R13f46d6d1cb74e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cb63723cc483f" /><Relationship Type="http://schemas.openxmlformats.org/officeDocument/2006/relationships/notesSlide" Target="/ppt/notesSlides/notesSlide5.xml" Id="R1b02df47599d4d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d0f2b27b849d0" /><Relationship Type="http://schemas.openxmlformats.org/officeDocument/2006/relationships/notesSlide" Target="/ppt/notesSlides/notesSlide6.xml" Id="R62bc240d820f40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d6302ed5b43c0" /><Relationship Type="http://schemas.openxmlformats.org/officeDocument/2006/relationships/notesSlide" Target="/ppt/notesSlides/notesSlide7.xml" Id="Rc0e3ce66531841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fd66c9faa4460" /><Relationship Type="http://schemas.openxmlformats.org/officeDocument/2006/relationships/notesSlide" Target="/ppt/notesSlides/notesSlide8.xml" Id="Rddc11b3eb55847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d1d32deef43cc" /><Relationship Type="http://schemas.openxmlformats.org/officeDocument/2006/relationships/notesSlide" Target="/ppt/notesSlides/notesSlide9.xml" Id="Ra4fa2364e8ba4c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1c3170a044118" /><Relationship Type="http://schemas.openxmlformats.org/officeDocument/2006/relationships/notesSlide" Target="/ppt/notesSlides/notesSlide10.xml" Id="R1f3a65957d1048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cdb92dcf04387" /><Relationship Type="http://schemas.openxmlformats.org/officeDocument/2006/relationships/notesSlide" Target="/ppt/notesSlides/notesSlide11.xml" Id="R32913fbb3cdd4e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f67aef3ea42c9" /><Relationship Type="http://schemas.openxmlformats.org/officeDocument/2006/relationships/notesSlide" Target="/ppt/notesSlides/notesSlide12.xml" Id="Ra0e5e91253044e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1370074384239" /><Relationship Type="http://schemas.openxmlformats.org/officeDocument/2006/relationships/notesSlide" Target="/ppt/notesSlides/notesSlide13.xml" Id="R90fb7c3eb4f346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54298abbc4457" /><Relationship Type="http://schemas.openxmlformats.org/officeDocument/2006/relationships/notesSlide" Target="/ppt/notesSlides/notesSlide14.xml" Id="Rbed8454cc0f0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B5191B7B-A519-4FBA-B61D-7F14A4D5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7145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4563699-E652-4AC6-948E-957B5EC3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05A28"/>
                </a:solidFill>
              </a:rPr>
              <a:t>工程流程汇报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508758C-7C7D-4C48-85F3-36CC3BE8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62050"/>
            <a:ext cx="514350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11111"/>
                </a:solidFill>
              </a:rPr>
              <a:t>让每一次变更
都沿证据链闭环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C6E4FDA-3C67-45D8-804B-B822E866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</a:rPr>
              <a:t>需求驱动的一致性与验证工作流</a:t>
            </a:r>
          </a:p>
        </p:txBody>
      </p:sp>
      <p:sp>
        <p:nvSpPr>
          <p:cNvPr id="5" name="cover-copy">
            <a:extLst xmlns:a="http://schemas.openxmlformats.org/drawingml/2006/main">
              <a:ext uri="{FF2B5EF4-FFF2-40B4-BE49-F238E27FC236}">
                <a16:creationId xmlns:a16="http://schemas.microsoft.com/office/drawing/2014/main" id="{D471FDBD-0461-49C0-855F-967229EB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762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A5A"/>
                </a:solidFill>
              </a:rPr>
              <a:t>从需求合理性出发，贯通设计、代码、测试、人工决策与受控回归。</a:t>
            </a:r>
          </a:p>
        </p:txBody>
      </p:sp>
      <p:sp>
        <p:nvSpPr>
          <p:cNvPr id="6" name="cover-flow-1-line">
            <a:extLst xmlns:a="http://schemas.openxmlformats.org/drawingml/2006/main">
              <a:ext uri="{FF2B5EF4-FFF2-40B4-BE49-F238E27FC236}">
                <a16:creationId xmlns:a16="http://schemas.microsoft.com/office/drawing/2014/main" id="{A6BA6DF2-C8D5-48EA-B582-FF73BABB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430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7" name="cover-flow-1-head">
            <a:extLst xmlns:a="http://schemas.openxmlformats.org/drawingml/2006/main">
              <a:ext uri="{FF2B5EF4-FFF2-40B4-BE49-F238E27FC236}">
                <a16:creationId xmlns:a16="http://schemas.microsoft.com/office/drawing/2014/main" id="{EFAB62D0-C410-481D-9BF2-1EE9D395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76375"/>
            <a:ext cx="15240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8" name="cover-flow-2-line">
            <a:extLst xmlns:a="http://schemas.openxmlformats.org/drawingml/2006/main">
              <a:ext uri="{FF2B5EF4-FFF2-40B4-BE49-F238E27FC236}">
                <a16:creationId xmlns:a16="http://schemas.microsoft.com/office/drawing/2014/main" id="{78D4249C-9D82-41CA-A91B-17B437DF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9" name="cover-flow-2-head">
            <a:extLst xmlns:a="http://schemas.openxmlformats.org/drawingml/2006/main">
              <a:ext uri="{FF2B5EF4-FFF2-40B4-BE49-F238E27FC236}">
                <a16:creationId xmlns:a16="http://schemas.microsoft.com/office/drawing/2014/main" id="{992BCC9F-2DBD-4372-9106-34EC718F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43200"/>
            <a:ext cx="15240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0" name="cover-req-box">
            <a:extLst xmlns:a="http://schemas.openxmlformats.org/drawingml/2006/main">
              <a:ext uri="{FF2B5EF4-FFF2-40B4-BE49-F238E27FC236}">
                <a16:creationId xmlns:a16="http://schemas.microsoft.com/office/drawing/2014/main" id="{A66D6212-861B-4B6E-A793-8E1B7526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066800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8E0"/>
          </a:solidFill>
          <a:ln xmlns:a="http://schemas.openxmlformats.org/drawingml/2006/main" w="19050">
            <a:solidFill>
              <a:srgbClr val="F05A28"/>
            </a:solidFill>
            <a:prstDash val="solid"/>
          </a:ln>
        </p:spPr>
      </p:sp>
      <p:sp>
        <p:nvSpPr>
          <p:cNvPr id="11" name="cover-req-num">
            <a:extLst xmlns:a="http://schemas.openxmlformats.org/drawingml/2006/main">
              <a:ext uri="{FF2B5EF4-FFF2-40B4-BE49-F238E27FC236}">
                <a16:creationId xmlns:a16="http://schemas.microsoft.com/office/drawing/2014/main" id="{CBE81636-5009-4010-8822-7D2C9C39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181100"/>
            <a:ext cx="36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5A28"/>
                </a:solidFill>
              </a:rPr>
              <a:t>01</a:t>
            </a:r>
          </a:p>
        </p:txBody>
      </p:sp>
      <p:sp>
        <p:nvSpPr>
          <p:cNvPr id="12" name="cover-req-label">
            <a:extLst xmlns:a="http://schemas.openxmlformats.org/drawingml/2006/main">
              <a:ext uri="{FF2B5EF4-FFF2-40B4-BE49-F238E27FC236}">
                <a16:creationId xmlns:a16="http://schemas.microsoft.com/office/drawing/2014/main" id="{279DBA60-AB10-4E95-A6F8-1BA39E1B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66850"/>
            <a:ext cx="1543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需求</a:t>
            </a:r>
          </a:p>
        </p:txBody>
      </p:sp>
      <p:sp>
        <p:nvSpPr>
          <p:cNvPr id="13" name="cover-design-box">
            <a:extLst xmlns:a="http://schemas.openxmlformats.org/drawingml/2006/main">
              <a:ext uri="{FF2B5EF4-FFF2-40B4-BE49-F238E27FC236}">
                <a16:creationId xmlns:a16="http://schemas.microsoft.com/office/drawing/2014/main" id="{402CFD65-C2A5-4AC3-B26D-D818A619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66800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cover-design-num">
            <a:extLst xmlns:a="http://schemas.openxmlformats.org/drawingml/2006/main">
              <a:ext uri="{FF2B5EF4-FFF2-40B4-BE49-F238E27FC236}">
                <a16:creationId xmlns:a16="http://schemas.microsoft.com/office/drawing/2014/main" id="{73D09AA2-DFA3-48F4-BFF2-61A337BA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181100"/>
            <a:ext cx="36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5A5A"/>
                </a:solidFill>
              </a:rPr>
              <a:t>02</a:t>
            </a:r>
          </a:p>
        </p:txBody>
      </p:sp>
      <p:sp>
        <p:nvSpPr>
          <p:cNvPr id="15" name="cover-design-label">
            <a:extLst xmlns:a="http://schemas.openxmlformats.org/drawingml/2006/main">
              <a:ext uri="{FF2B5EF4-FFF2-40B4-BE49-F238E27FC236}">
                <a16:creationId xmlns:a16="http://schemas.microsoft.com/office/drawing/2014/main" id="{89171B49-98DE-466D-81C9-895F68C3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66850"/>
            <a:ext cx="1543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设计</a:t>
            </a:r>
          </a:p>
        </p:txBody>
      </p:sp>
      <p:sp>
        <p:nvSpPr>
          <p:cNvPr id="16" name="cover-code-box">
            <a:extLst xmlns:a="http://schemas.openxmlformats.org/drawingml/2006/main">
              <a:ext uri="{FF2B5EF4-FFF2-40B4-BE49-F238E27FC236}">
                <a16:creationId xmlns:a16="http://schemas.microsoft.com/office/drawing/2014/main" id="{612E650F-AA2D-400B-BA9E-71E6CFC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cover-code-num">
            <a:extLst xmlns:a="http://schemas.openxmlformats.org/drawingml/2006/main">
              <a:ext uri="{FF2B5EF4-FFF2-40B4-BE49-F238E27FC236}">
                <a16:creationId xmlns:a16="http://schemas.microsoft.com/office/drawing/2014/main" id="{42A63B64-105B-4498-9710-4D5E8A50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47925"/>
            <a:ext cx="36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5A5A"/>
                </a:solidFill>
              </a:rPr>
              <a:t>03</a:t>
            </a:r>
          </a:p>
        </p:txBody>
      </p:sp>
      <p:sp>
        <p:nvSpPr>
          <p:cNvPr id="18" name="cover-code-label">
            <a:extLst xmlns:a="http://schemas.openxmlformats.org/drawingml/2006/main">
              <a:ext uri="{FF2B5EF4-FFF2-40B4-BE49-F238E27FC236}">
                <a16:creationId xmlns:a16="http://schemas.microsoft.com/office/drawing/2014/main" id="{48206B61-31E0-4986-B41E-3AF03373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33675"/>
            <a:ext cx="1543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代码</a:t>
            </a:r>
          </a:p>
        </p:txBody>
      </p:sp>
      <p:sp>
        <p:nvSpPr>
          <p:cNvPr id="19" name="cover-evidence-box">
            <a:extLst xmlns:a="http://schemas.openxmlformats.org/drawingml/2006/main">
              <a:ext uri="{FF2B5EF4-FFF2-40B4-BE49-F238E27FC236}">
                <a16:creationId xmlns:a16="http://schemas.microsoft.com/office/drawing/2014/main" id="{1A0E7EDA-672D-4CAD-949C-AA298822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cover-evidence-num">
            <a:extLst xmlns:a="http://schemas.openxmlformats.org/drawingml/2006/main">
              <a:ext uri="{FF2B5EF4-FFF2-40B4-BE49-F238E27FC236}">
                <a16:creationId xmlns:a16="http://schemas.microsoft.com/office/drawing/2014/main" id="{D20B9AA7-3A4D-4A60-8771-BE8A2667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47925"/>
            <a:ext cx="36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5A5A"/>
                </a:solidFill>
              </a:rPr>
              <a:t>04</a:t>
            </a:r>
          </a:p>
        </p:txBody>
      </p:sp>
      <p:sp>
        <p:nvSpPr>
          <p:cNvPr id="21" name="cover-evidence-label">
            <a:extLst xmlns:a="http://schemas.openxmlformats.org/drawingml/2006/main">
              <a:ext uri="{FF2B5EF4-FFF2-40B4-BE49-F238E27FC236}">
                <a16:creationId xmlns:a16="http://schemas.microsoft.com/office/drawing/2014/main" id="{532BB842-FC18-48E3-B672-A3FB8564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33675"/>
            <a:ext cx="1543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验证证据</a:t>
            </a:r>
          </a:p>
        </p:txBody>
      </p:sp>
      <p:sp>
        <p:nvSpPr>
          <p:cNvPr id="22" name="cover-decision">
            <a:extLst xmlns:a="http://schemas.openxmlformats.org/drawingml/2006/main">
              <a:ext uri="{FF2B5EF4-FFF2-40B4-BE49-F238E27FC236}">
                <a16:creationId xmlns:a16="http://schemas.microsoft.com/office/drawing/2014/main" id="{1A41070E-AD0C-44D3-95FB-F4D4C044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4191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32323"/>
          </a:solidFill>
        </p:spPr>
      </p:sp>
      <p:sp>
        <p:nvSpPr>
          <p:cNvPr id="23" name="cover-decision-label">
            <a:extLst xmlns:a="http://schemas.openxmlformats.org/drawingml/2006/main">
              <a:ext uri="{FF2B5EF4-FFF2-40B4-BE49-F238E27FC236}">
                <a16:creationId xmlns:a16="http://schemas.microsoft.com/office/drawing/2014/main" id="{FC112137-A102-4DF4-BDC7-EA90F1B6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3619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</a:rPr>
              <a:t>问题分类 + 人工决定</a:t>
            </a:r>
          </a:p>
        </p:txBody>
      </p:sp>
      <p:sp>
        <p:nvSpPr>
          <p:cNvPr id="24" name="cover-decision-copy">
            <a:extLst xmlns:a="http://schemas.openxmlformats.org/drawingml/2006/main">
              <a:ext uri="{FF2B5EF4-FFF2-40B4-BE49-F238E27FC236}">
                <a16:creationId xmlns:a16="http://schemas.microsoft.com/office/drawing/2014/main" id="{DA6F4355-5C5F-4545-A0F9-66EF9B95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3619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</a:rPr>
              <a:t>修订正确的工件，再回到最早受影响阶段</a:t>
            </a:r>
          </a:p>
        </p:txBody>
      </p:sp>
      <p:sp>
        <p:nvSpPr>
          <p:cNvPr id="25" name="cover-date">
            <a:extLst xmlns:a="http://schemas.openxmlformats.org/drawingml/2006/main">
              <a:ext uri="{FF2B5EF4-FFF2-40B4-BE49-F238E27FC236}">
                <a16:creationId xmlns:a16="http://schemas.microsoft.com/office/drawing/2014/main" id="{F09EA6D0-640B-41A2-A102-9A8DD57F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77000"/>
            <a:ext cx="72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991331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3712B22F-A1FA-444B-9DF7-34027A02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5A28"/>
                </a:solidFill>
              </a:rPr>
              <a:t>需求驱动闭环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93EC13B-9376-40EF-AE41-DBA703D5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</a:rPr>
              <a:t>闭环的目标不是“跑绿”，而是让意图、实现与证据保持一致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6D3F6CB1-6D1E-4324-BEC1-3C3174A5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why-1">
            <a:extLst xmlns:a="http://schemas.openxmlformats.org/drawingml/2006/main">
              <a:ext uri="{FF2B5EF4-FFF2-40B4-BE49-F238E27FC236}">
                <a16:creationId xmlns:a16="http://schemas.microsoft.com/office/drawing/2014/main" id="{A7329F79-1335-4B7A-B901-DACD6C96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34671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5" name="why-2">
            <a:extLst xmlns:a="http://schemas.openxmlformats.org/drawingml/2006/main">
              <a:ext uri="{FF2B5EF4-FFF2-40B4-BE49-F238E27FC236}">
                <a16:creationId xmlns:a16="http://schemas.microsoft.com/office/drawing/2014/main" id="{02331D7F-B4B9-4C3E-BABB-71B9E70F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62125"/>
            <a:ext cx="34671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6" name="why-3">
            <a:extLst xmlns:a="http://schemas.openxmlformats.org/drawingml/2006/main">
              <a:ext uri="{FF2B5EF4-FFF2-40B4-BE49-F238E27FC236}">
                <a16:creationId xmlns:a16="http://schemas.microsoft.com/office/drawing/2014/main" id="{1BE02FFD-E314-4D97-83E9-3A36A13C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62125"/>
            <a:ext cx="34671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7" name="why-n1">
            <a:extLst xmlns:a="http://schemas.openxmlformats.org/drawingml/2006/main">
              <a:ext uri="{FF2B5EF4-FFF2-40B4-BE49-F238E27FC236}">
                <a16:creationId xmlns:a16="http://schemas.microsoft.com/office/drawing/2014/main" id="{2D342590-BA54-4E89-9AD6-9A2429D0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0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5A28"/>
                </a:solidFill>
              </a:rPr>
              <a:t>01</a:t>
            </a:r>
          </a:p>
        </p:txBody>
      </p:sp>
      <p:sp>
        <p:nvSpPr>
          <p:cNvPr id="8" name="why-h1">
            <a:extLst xmlns:a="http://schemas.openxmlformats.org/drawingml/2006/main">
              <a:ext uri="{FF2B5EF4-FFF2-40B4-BE49-F238E27FC236}">
                <a16:creationId xmlns:a16="http://schemas.microsoft.com/office/drawing/2014/main" id="{358C0A05-EAB7-4F8D-B602-E42594B4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29337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</a:rPr>
              <a:t>需求写得完整
不等于需求合理</a:t>
            </a:r>
          </a:p>
        </p:txBody>
      </p:sp>
      <p:sp>
        <p:nvSpPr>
          <p:cNvPr id="9" name="why-b1">
            <a:extLst xmlns:a="http://schemas.openxmlformats.org/drawingml/2006/main">
              <a:ext uri="{FF2B5EF4-FFF2-40B4-BE49-F238E27FC236}">
                <a16:creationId xmlns:a16="http://schemas.microsoft.com/office/drawing/2014/main" id="{5564B8BA-C373-4E5D-BA0A-A65BE942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29337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5A5A"/>
                </a:solidFill>
              </a:rPr>
              <a:t>无来源阈值、错误任务假设或不可接受的风险，不能靠排版和模板解决。</a:t>
            </a:r>
          </a:p>
        </p:txBody>
      </p:sp>
      <p:sp>
        <p:nvSpPr>
          <p:cNvPr id="10" name="why-n2">
            <a:extLst xmlns:a="http://schemas.openxmlformats.org/drawingml/2006/main">
              <a:ext uri="{FF2B5EF4-FFF2-40B4-BE49-F238E27FC236}">
                <a16:creationId xmlns:a16="http://schemas.microsoft.com/office/drawing/2014/main" id="{DD2AB9E4-618A-4C9F-AF43-7FE8300A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0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5A28"/>
                </a:solidFill>
              </a:rPr>
              <a:t>02</a:t>
            </a:r>
          </a:p>
        </p:txBody>
      </p:sp>
      <p:sp>
        <p:nvSpPr>
          <p:cNvPr id="11" name="why-h2">
            <a:extLst xmlns:a="http://schemas.openxmlformats.org/drawingml/2006/main">
              <a:ext uri="{FF2B5EF4-FFF2-40B4-BE49-F238E27FC236}">
                <a16:creationId xmlns:a16="http://schemas.microsoft.com/office/drawing/2014/main" id="{2A3D612B-122C-4B57-8327-8B778E51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62250"/>
            <a:ext cx="29337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</a:rPr>
              <a:t>测试全部通过
不等于实现正确</a:t>
            </a:r>
          </a:p>
        </p:txBody>
      </p:sp>
      <p:sp>
        <p:nvSpPr>
          <p:cNvPr id="12" name="why-b2">
            <a:extLst xmlns:a="http://schemas.openxmlformats.org/drawingml/2006/main">
              <a:ext uri="{FF2B5EF4-FFF2-40B4-BE49-F238E27FC236}">
                <a16:creationId xmlns:a16="http://schemas.microsoft.com/office/drawing/2014/main" id="{83A37D92-4AE0-4AEB-8F6A-9B5D0933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57625"/>
            <a:ext cx="29337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5A5A"/>
                </a:solidFill>
              </a:rPr>
              <a:t>如果测试预期复制了代码行为，绿色汇总只会固化同一种错误。</a:t>
            </a:r>
          </a:p>
        </p:txBody>
      </p:sp>
      <p:sp>
        <p:nvSpPr>
          <p:cNvPr id="13" name="why-n3">
            <a:extLst xmlns:a="http://schemas.openxmlformats.org/drawingml/2006/main">
              <a:ext uri="{FF2B5EF4-FFF2-40B4-BE49-F238E27FC236}">
                <a16:creationId xmlns:a16="http://schemas.microsoft.com/office/drawing/2014/main" id="{CDB663D1-044D-4866-8873-BE5C5901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0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5A28"/>
                </a:solidFill>
              </a:rPr>
              <a:t>03</a:t>
            </a:r>
          </a:p>
        </p:txBody>
      </p:sp>
      <p:sp>
        <p:nvSpPr>
          <p:cNvPr id="14" name="why-h3">
            <a:extLst xmlns:a="http://schemas.openxmlformats.org/drawingml/2006/main">
              <a:ext uri="{FF2B5EF4-FFF2-40B4-BE49-F238E27FC236}">
                <a16:creationId xmlns:a16="http://schemas.microsoft.com/office/drawing/2014/main" id="{32442A4D-3A97-44F9-B984-7C0BA62A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62250"/>
            <a:ext cx="29337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</a:rPr>
              <a:t>代码修复完成
不等于问题关闭</a:t>
            </a:r>
          </a:p>
        </p:txBody>
      </p:sp>
      <p:sp>
        <p:nvSpPr>
          <p:cNvPr id="15" name="why-b3">
            <a:extLst xmlns:a="http://schemas.openxmlformats.org/drawingml/2006/main">
              <a:ext uri="{FF2B5EF4-FFF2-40B4-BE49-F238E27FC236}">
                <a16:creationId xmlns:a16="http://schemas.microsoft.com/office/drawing/2014/main" id="{94365EEE-FE0D-4DF0-8E11-C508FA70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29337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5A5A"/>
                </a:solidFill>
              </a:rPr>
              <a:t>还需要批准记录、影响分析、一致性复查、原反例和相关回归证据。</a:t>
            </a:r>
          </a:p>
        </p:txBody>
      </p:sp>
      <p:sp>
        <p:nvSpPr>
          <p:cNvPr id="16" name="why-takeaway">
            <a:extLst xmlns:a="http://schemas.openxmlformats.org/drawingml/2006/main">
              <a:ext uri="{FF2B5EF4-FFF2-40B4-BE49-F238E27FC236}">
                <a16:creationId xmlns:a16="http://schemas.microsoft.com/office/drawing/2014/main" id="{CCD1C9B5-EE0E-42A9-BC27-40771159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323"/>
          </a:solidFill>
        </p:spPr>
      </p:sp>
      <p:sp>
        <p:nvSpPr>
          <p:cNvPr id="17" name="why-takeaway-text">
            <a:extLst xmlns:a="http://schemas.openxmlformats.org/drawingml/2006/main">
              <a:ext uri="{FF2B5EF4-FFF2-40B4-BE49-F238E27FC236}">
                <a16:creationId xmlns:a16="http://schemas.microsoft.com/office/drawing/2014/main" id="{612253BA-7899-43E8-8C6E-4E92B8C5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0896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</a:rPr>
              <a:t>真正的闭环 = 正确工件被修订 + 证据链被重新建立 + 决定可追溯</a:t>
            </a:r>
          </a:p>
        </p:txBody>
      </p:sp>
      <p:sp>
        <p:nvSpPr>
          <p:cNvPr id="18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5E404C66-656D-462D-9DE4-F1B1EB5D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需求驱动的一致性与验证工作流</a:t>
            </a:r>
          </a:p>
        </p:txBody>
      </p:sp>
      <p:sp>
        <p:nvSpPr>
          <p:cNvPr id="1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61F837FE-78FE-4E32-9B2E-EBE35CA1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50174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85222CC3-65CD-4938-B8C8-EF050442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5A28"/>
                </a:solidFill>
              </a:rPr>
              <a:t>需求驱动闭环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4467B3E-817C-40F4-8A4C-322040C9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</a:rPr>
              <a:t>九个阶段把需求、实现、证据和变更串成一条可回溯链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EE95B616-968E-4E02-8B78-56E86FBB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f01-line">
            <a:extLst xmlns:a="http://schemas.openxmlformats.org/drawingml/2006/main">
              <a:ext uri="{FF2B5EF4-FFF2-40B4-BE49-F238E27FC236}">
                <a16:creationId xmlns:a16="http://schemas.microsoft.com/office/drawing/2014/main" id="{CF47A4CD-97EB-4835-99DD-948F2DA3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8600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f01-head">
            <a:extLst xmlns:a="http://schemas.openxmlformats.org/drawingml/2006/main">
              <a:ext uri="{FF2B5EF4-FFF2-40B4-BE49-F238E27FC236}">
                <a16:creationId xmlns:a16="http://schemas.microsoft.com/office/drawing/2014/main" id="{710BA794-B1E9-4180-B9E7-062AE514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219325"/>
            <a:ext cx="15240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6" name="f12-line">
            <a:extLst xmlns:a="http://schemas.openxmlformats.org/drawingml/2006/main">
              <a:ext uri="{FF2B5EF4-FFF2-40B4-BE49-F238E27FC236}">
                <a16:creationId xmlns:a16="http://schemas.microsoft.com/office/drawing/2014/main" id="{AE1E15BA-63E1-4C5A-9D47-35B4BBE6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8600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7" name="f12-head">
            <a:extLst xmlns:a="http://schemas.openxmlformats.org/drawingml/2006/main">
              <a:ext uri="{FF2B5EF4-FFF2-40B4-BE49-F238E27FC236}">
                <a16:creationId xmlns:a16="http://schemas.microsoft.com/office/drawing/2014/main" id="{5BA6872D-D736-46A7-A242-70E5B473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19325"/>
            <a:ext cx="15240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8" name="f23-line">
            <a:extLst xmlns:a="http://schemas.openxmlformats.org/drawingml/2006/main">
              <a:ext uri="{FF2B5EF4-FFF2-40B4-BE49-F238E27FC236}">
                <a16:creationId xmlns:a16="http://schemas.microsoft.com/office/drawing/2014/main" id="{B4A6EE6A-91F3-4EA7-9A5A-EDEEDA18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9" name="f23-head">
            <a:extLst xmlns:a="http://schemas.openxmlformats.org/drawingml/2006/main">
              <a:ext uri="{FF2B5EF4-FFF2-40B4-BE49-F238E27FC236}">
                <a16:creationId xmlns:a16="http://schemas.microsoft.com/office/drawing/2014/main" id="{C25D7294-CD3D-49CE-AA40-EC9CFC15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219325"/>
            <a:ext cx="15240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0" name="f34-line">
            <a:extLst xmlns:a="http://schemas.openxmlformats.org/drawingml/2006/main">
              <a:ext uri="{FF2B5EF4-FFF2-40B4-BE49-F238E27FC236}">
                <a16:creationId xmlns:a16="http://schemas.microsoft.com/office/drawing/2014/main" id="{A7DA9242-960E-4371-AA8D-7AC6C4CA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8600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1" name="f34-head">
            <a:extLst xmlns:a="http://schemas.openxmlformats.org/drawingml/2006/main">
              <a:ext uri="{FF2B5EF4-FFF2-40B4-BE49-F238E27FC236}">
                <a16:creationId xmlns:a16="http://schemas.microsoft.com/office/drawing/2014/main" id="{DD9B473A-9651-48F4-B8DC-D03E2B4D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19325"/>
            <a:ext cx="15240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2" name="f45-down-right">
            <a:extLst xmlns:a="http://schemas.openxmlformats.org/drawingml/2006/main">
              <a:ext uri="{FF2B5EF4-FFF2-40B4-BE49-F238E27FC236}">
                <a16:creationId xmlns:a16="http://schemas.microsoft.com/office/drawing/2014/main" id="{B3A57B8C-947A-4175-9513-01ACCDBE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857500"/>
            <a:ext cx="28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3" name="f45-across">
            <a:extLst xmlns:a="http://schemas.openxmlformats.org/drawingml/2006/main">
              <a:ext uri="{FF2B5EF4-FFF2-40B4-BE49-F238E27FC236}">
                <a16:creationId xmlns:a16="http://schemas.microsoft.com/office/drawing/2014/main" id="{9EA73F75-711C-4D23-9384-E0FC5905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14700"/>
            <a:ext cx="236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4" name="f45-down-left">
            <a:extLst xmlns:a="http://schemas.openxmlformats.org/drawingml/2006/main">
              <a:ext uri="{FF2B5EF4-FFF2-40B4-BE49-F238E27FC236}">
                <a16:creationId xmlns:a16="http://schemas.microsoft.com/office/drawing/2014/main" id="{34BE6F3E-856D-4D90-B439-E9EACA5A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14700"/>
            <a:ext cx="28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5" name="f45-head">
            <a:extLst xmlns:a="http://schemas.openxmlformats.org/drawingml/2006/main">
              <a:ext uri="{FF2B5EF4-FFF2-40B4-BE49-F238E27FC236}">
                <a16:creationId xmlns:a16="http://schemas.microsoft.com/office/drawing/2014/main" id="{FF59D59D-4693-4D4C-8624-CD854105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86150"/>
            <a:ext cx="161925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6" name="f56-line">
            <a:extLst xmlns:a="http://schemas.openxmlformats.org/drawingml/2006/main">
              <a:ext uri="{FF2B5EF4-FFF2-40B4-BE49-F238E27FC236}">
                <a16:creationId xmlns:a16="http://schemas.microsoft.com/office/drawing/2014/main" id="{BC74B298-2774-49CC-B5DA-985C8CC6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9575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7" name="f56-head">
            <a:extLst xmlns:a="http://schemas.openxmlformats.org/drawingml/2006/main">
              <a:ext uri="{FF2B5EF4-FFF2-40B4-BE49-F238E27FC236}">
                <a16:creationId xmlns:a16="http://schemas.microsoft.com/office/drawing/2014/main" id="{61AD9FFA-FF25-4781-957A-B2A6D495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29075"/>
            <a:ext cx="15240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8" name="f67-line">
            <a:extLst xmlns:a="http://schemas.openxmlformats.org/drawingml/2006/main">
              <a:ext uri="{FF2B5EF4-FFF2-40B4-BE49-F238E27FC236}">
                <a16:creationId xmlns:a16="http://schemas.microsoft.com/office/drawing/2014/main" id="{90EC6B1A-51C3-4648-A3CB-A9CF4712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9" name="f67-head">
            <a:extLst xmlns:a="http://schemas.openxmlformats.org/drawingml/2006/main">
              <a:ext uri="{FF2B5EF4-FFF2-40B4-BE49-F238E27FC236}">
                <a16:creationId xmlns:a16="http://schemas.microsoft.com/office/drawing/2014/main" id="{69D646CE-C1BE-4DF0-AD66-0D09369B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29075"/>
            <a:ext cx="15240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0" name="f78-line">
            <a:extLst xmlns:a="http://schemas.openxmlformats.org/drawingml/2006/main">
              <a:ext uri="{FF2B5EF4-FFF2-40B4-BE49-F238E27FC236}">
                <a16:creationId xmlns:a16="http://schemas.microsoft.com/office/drawing/2014/main" id="{B00875C6-6A66-4C11-B33A-5769649C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9575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1" name="f78-head">
            <a:extLst xmlns:a="http://schemas.openxmlformats.org/drawingml/2006/main">
              <a:ext uri="{FF2B5EF4-FFF2-40B4-BE49-F238E27FC236}">
                <a16:creationId xmlns:a16="http://schemas.microsoft.com/office/drawing/2014/main" id="{BF48EEF6-F9C1-452E-A502-7E7AD070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29075"/>
            <a:ext cx="15240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2" name="flow-0-box">
            <a:extLst xmlns:a="http://schemas.openxmlformats.org/drawingml/2006/main">
              <a:ext uri="{FF2B5EF4-FFF2-40B4-BE49-F238E27FC236}">
                <a16:creationId xmlns:a16="http://schemas.microsoft.com/office/drawing/2014/main" id="{1D34105D-F2F6-4079-B375-7FE7D27D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flow-0-num">
            <a:extLst xmlns:a="http://schemas.openxmlformats.org/drawingml/2006/main">
              <a:ext uri="{FF2B5EF4-FFF2-40B4-BE49-F238E27FC236}">
                <a16:creationId xmlns:a16="http://schemas.microsoft.com/office/drawing/2014/main" id="{E7E3BE2F-4D38-4DB3-80B9-0D156FD1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36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5A5A"/>
                </a:solidFill>
              </a:rPr>
              <a:t>0</a:t>
            </a:r>
          </a:p>
        </p:txBody>
      </p:sp>
      <p:sp>
        <p:nvSpPr>
          <p:cNvPr id="24" name="flow-0-label">
            <a:extLst xmlns:a="http://schemas.openxmlformats.org/drawingml/2006/main">
              <a:ext uri="{FF2B5EF4-FFF2-40B4-BE49-F238E27FC236}">
                <a16:creationId xmlns:a16="http://schemas.microsoft.com/office/drawing/2014/main" id="{C878E225-9394-49DB-8B08-25D2F740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范围与基线</a:t>
            </a:r>
          </a:p>
        </p:txBody>
      </p:sp>
      <p:sp>
        <p:nvSpPr>
          <p:cNvPr id="25" name="flow-1-box">
            <a:extLst xmlns:a="http://schemas.openxmlformats.org/drawingml/2006/main">
              <a:ext uri="{FF2B5EF4-FFF2-40B4-BE49-F238E27FC236}">
                <a16:creationId xmlns:a16="http://schemas.microsoft.com/office/drawing/2014/main" id="{AA75D50B-4F0B-4525-990C-3DD99541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80975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CE8E0"/>
          </a:solidFill>
          <a:ln xmlns:a="http://schemas.openxmlformats.org/drawingml/2006/main" w="19050">
            <a:solidFill>
              <a:srgbClr val="F05A28"/>
            </a:solidFill>
            <a:prstDash val="solid"/>
          </a:ln>
        </p:spPr>
      </p:sp>
      <p:sp>
        <p:nvSpPr>
          <p:cNvPr id="26" name="flow-1-num">
            <a:extLst xmlns:a="http://schemas.openxmlformats.org/drawingml/2006/main">
              <a:ext uri="{FF2B5EF4-FFF2-40B4-BE49-F238E27FC236}">
                <a16:creationId xmlns:a16="http://schemas.microsoft.com/office/drawing/2014/main" id="{B4493C15-5C7A-4B1B-9D1C-C282AD3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24050"/>
            <a:ext cx="36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5A28"/>
                </a:solidFill>
              </a:rPr>
              <a:t>1</a:t>
            </a:r>
          </a:p>
        </p:txBody>
      </p:sp>
      <p:sp>
        <p:nvSpPr>
          <p:cNvPr id="27" name="flow-1-label">
            <a:extLst xmlns:a="http://schemas.openxmlformats.org/drawingml/2006/main">
              <a:ext uri="{FF2B5EF4-FFF2-40B4-BE49-F238E27FC236}">
                <a16:creationId xmlns:a16="http://schemas.microsoft.com/office/drawing/2014/main" id="{05333181-D8CF-4202-AC1A-C6CD938D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0980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需求合理性</a:t>
            </a:r>
          </a:p>
        </p:txBody>
      </p:sp>
      <p:sp>
        <p:nvSpPr>
          <p:cNvPr id="28" name="flow-2-box">
            <a:extLst xmlns:a="http://schemas.openxmlformats.org/drawingml/2006/main">
              <a:ext uri="{FF2B5EF4-FFF2-40B4-BE49-F238E27FC236}">
                <a16:creationId xmlns:a16="http://schemas.microsoft.com/office/drawing/2014/main" id="{7356695E-3605-4521-B560-138CD45D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0975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flow-2-num">
            <a:extLst xmlns:a="http://schemas.openxmlformats.org/drawingml/2006/main">
              <a:ext uri="{FF2B5EF4-FFF2-40B4-BE49-F238E27FC236}">
                <a16:creationId xmlns:a16="http://schemas.microsoft.com/office/drawing/2014/main" id="{9E106936-2ADB-42F5-A8A1-5ECAD39A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24050"/>
            <a:ext cx="36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5A5A"/>
                </a:solidFill>
              </a:rPr>
              <a:t>2</a:t>
            </a:r>
          </a:p>
        </p:txBody>
      </p:sp>
      <p:sp>
        <p:nvSpPr>
          <p:cNvPr id="30" name="flow-2-label">
            <a:extLst xmlns:a="http://schemas.openxmlformats.org/drawingml/2006/main">
              <a:ext uri="{FF2B5EF4-FFF2-40B4-BE49-F238E27FC236}">
                <a16:creationId xmlns:a16="http://schemas.microsoft.com/office/drawing/2014/main" id="{6E79FCA7-7822-4D7A-A964-C2EA5F18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0980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设计形成</a:t>
            </a:r>
          </a:p>
        </p:txBody>
      </p:sp>
      <p:sp>
        <p:nvSpPr>
          <p:cNvPr id="31" name="flow-3-box">
            <a:extLst xmlns:a="http://schemas.openxmlformats.org/drawingml/2006/main">
              <a:ext uri="{FF2B5EF4-FFF2-40B4-BE49-F238E27FC236}">
                <a16:creationId xmlns:a16="http://schemas.microsoft.com/office/drawing/2014/main" id="{906F8B65-90AF-48F4-BCF8-CCB064C3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80975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flow-3-num">
            <a:extLst xmlns:a="http://schemas.openxmlformats.org/drawingml/2006/main">
              <a:ext uri="{FF2B5EF4-FFF2-40B4-BE49-F238E27FC236}">
                <a16:creationId xmlns:a16="http://schemas.microsoft.com/office/drawing/2014/main" id="{13476562-D15D-45D2-8055-70968221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924050"/>
            <a:ext cx="36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5A5A"/>
                </a:solidFill>
              </a:rPr>
              <a:t>3</a:t>
            </a:r>
          </a:p>
        </p:txBody>
      </p:sp>
      <p:sp>
        <p:nvSpPr>
          <p:cNvPr id="33" name="flow-3-label">
            <a:extLst xmlns:a="http://schemas.openxmlformats.org/drawingml/2006/main">
              <a:ext uri="{FF2B5EF4-FFF2-40B4-BE49-F238E27FC236}">
                <a16:creationId xmlns:a16="http://schemas.microsoft.com/office/drawing/2014/main" id="{16266919-25A1-4748-A882-3A2CB269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20980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需求—设计</a:t>
            </a:r>
          </a:p>
        </p:txBody>
      </p:sp>
      <p:sp>
        <p:nvSpPr>
          <p:cNvPr id="34" name="flow-4-box">
            <a:extLst xmlns:a="http://schemas.openxmlformats.org/drawingml/2006/main">
              <a:ext uri="{FF2B5EF4-FFF2-40B4-BE49-F238E27FC236}">
                <a16:creationId xmlns:a16="http://schemas.microsoft.com/office/drawing/2014/main" id="{BA366FAC-4C87-4A75-9628-5C2E171C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0975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flow-4-num">
            <a:extLst xmlns:a="http://schemas.openxmlformats.org/drawingml/2006/main">
              <a:ext uri="{FF2B5EF4-FFF2-40B4-BE49-F238E27FC236}">
                <a16:creationId xmlns:a16="http://schemas.microsoft.com/office/drawing/2014/main" id="{5E3AA110-D744-4B39-9A72-6C34ADEE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24050"/>
            <a:ext cx="36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5A5A"/>
                </a:solidFill>
              </a:rPr>
              <a:t>4</a:t>
            </a:r>
          </a:p>
        </p:txBody>
      </p:sp>
      <p:sp>
        <p:nvSpPr>
          <p:cNvPr id="36" name="flow-4-label">
            <a:extLst xmlns:a="http://schemas.openxmlformats.org/drawingml/2006/main">
              <a:ext uri="{FF2B5EF4-FFF2-40B4-BE49-F238E27FC236}">
                <a16:creationId xmlns:a16="http://schemas.microsoft.com/office/drawing/2014/main" id="{83737906-59B9-408D-98C3-5437D120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0980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设计—代码</a:t>
            </a:r>
          </a:p>
        </p:txBody>
      </p:sp>
      <p:sp>
        <p:nvSpPr>
          <p:cNvPr id="37" name="flow-5-box">
            <a:extLst xmlns:a="http://schemas.openxmlformats.org/drawingml/2006/main">
              <a:ext uri="{FF2B5EF4-FFF2-40B4-BE49-F238E27FC236}">
                <a16:creationId xmlns:a16="http://schemas.microsoft.com/office/drawing/2014/main" id="{FFA6C8A3-53D9-4B72-8BBA-835CE9D4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619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flow-5-num">
            <a:extLst xmlns:a="http://schemas.openxmlformats.org/drawingml/2006/main">
              <a:ext uri="{FF2B5EF4-FFF2-40B4-BE49-F238E27FC236}">
                <a16:creationId xmlns:a16="http://schemas.microsoft.com/office/drawing/2014/main" id="{12B0DD21-E660-4B78-B6CB-1986A437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33800"/>
            <a:ext cx="36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5A5A"/>
                </a:solidFill>
              </a:rPr>
              <a:t>5</a:t>
            </a:r>
          </a:p>
        </p:txBody>
      </p:sp>
      <p:sp>
        <p:nvSpPr>
          <p:cNvPr id="39" name="flow-5-label">
            <a:extLst xmlns:a="http://schemas.openxmlformats.org/drawingml/2006/main">
              <a:ext uri="{FF2B5EF4-FFF2-40B4-BE49-F238E27FC236}">
                <a16:creationId xmlns:a16="http://schemas.microsoft.com/office/drawing/2014/main" id="{DFBC72AF-3558-4CF3-9865-FEF84671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01955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验证设计</a:t>
            </a:r>
          </a:p>
        </p:txBody>
      </p:sp>
      <p:sp>
        <p:nvSpPr>
          <p:cNvPr id="40" name="flow-6-box">
            <a:extLst xmlns:a="http://schemas.openxmlformats.org/drawingml/2006/main">
              <a:ext uri="{FF2B5EF4-FFF2-40B4-BE49-F238E27FC236}">
                <a16:creationId xmlns:a16="http://schemas.microsoft.com/office/drawing/2014/main" id="{BA74DB45-669D-4A1C-9C7F-0B77E514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19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flow-6-num">
            <a:extLst xmlns:a="http://schemas.openxmlformats.org/drawingml/2006/main">
              <a:ext uri="{FF2B5EF4-FFF2-40B4-BE49-F238E27FC236}">
                <a16:creationId xmlns:a16="http://schemas.microsoft.com/office/drawing/2014/main" id="{31BDF1FD-D3CE-47B8-AE1F-7243DD68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33800"/>
            <a:ext cx="36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5A5A"/>
                </a:solidFill>
              </a:rPr>
              <a:t>6</a:t>
            </a:r>
          </a:p>
        </p:txBody>
      </p:sp>
      <p:sp>
        <p:nvSpPr>
          <p:cNvPr id="42" name="flow-6-label">
            <a:extLst xmlns:a="http://schemas.openxmlformats.org/drawingml/2006/main">
              <a:ext uri="{FF2B5EF4-FFF2-40B4-BE49-F238E27FC236}">
                <a16:creationId xmlns:a16="http://schemas.microsoft.com/office/drawing/2014/main" id="{2C74C99D-3127-4C6A-A0C4-F44902DA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1955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证据评估</a:t>
            </a:r>
          </a:p>
        </p:txBody>
      </p:sp>
      <p:sp>
        <p:nvSpPr>
          <p:cNvPr id="43" name="flow-7-box">
            <a:extLst xmlns:a="http://schemas.openxmlformats.org/drawingml/2006/main">
              <a:ext uri="{FF2B5EF4-FFF2-40B4-BE49-F238E27FC236}">
                <a16:creationId xmlns:a16="http://schemas.microsoft.com/office/drawing/2014/main" id="{EEE025C2-1BD3-4BDB-B886-694F5BC2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19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CE8E0"/>
          </a:solidFill>
          <a:ln xmlns:a="http://schemas.openxmlformats.org/drawingml/2006/main" w="19050">
            <a:solidFill>
              <a:srgbClr val="F05A28"/>
            </a:solidFill>
            <a:prstDash val="solid"/>
          </a:ln>
        </p:spPr>
      </p:sp>
      <p:sp>
        <p:nvSpPr>
          <p:cNvPr id="44" name="flow-7-num">
            <a:extLst xmlns:a="http://schemas.openxmlformats.org/drawingml/2006/main">
              <a:ext uri="{FF2B5EF4-FFF2-40B4-BE49-F238E27FC236}">
                <a16:creationId xmlns:a16="http://schemas.microsoft.com/office/drawing/2014/main" id="{F0373524-B038-46A2-A0A1-E95EC945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733800"/>
            <a:ext cx="36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5A28"/>
                </a:solidFill>
              </a:rPr>
              <a:t>7</a:t>
            </a:r>
          </a:p>
        </p:txBody>
      </p:sp>
      <p:sp>
        <p:nvSpPr>
          <p:cNvPr id="45" name="flow-7-label">
            <a:extLst xmlns:a="http://schemas.openxmlformats.org/drawingml/2006/main">
              <a:ext uri="{FF2B5EF4-FFF2-40B4-BE49-F238E27FC236}">
                <a16:creationId xmlns:a16="http://schemas.microsoft.com/office/drawing/2014/main" id="{F908A0D2-4F93-4983-97CF-6ECE536A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01955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问题与决定</a:t>
            </a:r>
          </a:p>
        </p:txBody>
      </p:sp>
      <p:sp>
        <p:nvSpPr>
          <p:cNvPr id="46" name="flow-8-box">
            <a:extLst xmlns:a="http://schemas.openxmlformats.org/drawingml/2006/main">
              <a:ext uri="{FF2B5EF4-FFF2-40B4-BE49-F238E27FC236}">
                <a16:creationId xmlns:a16="http://schemas.microsoft.com/office/drawing/2014/main" id="{37090C99-43D0-4E9D-9681-E7ECC9B4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flow-8-num">
            <a:extLst xmlns:a="http://schemas.openxmlformats.org/drawingml/2006/main">
              <a:ext uri="{FF2B5EF4-FFF2-40B4-BE49-F238E27FC236}">
                <a16:creationId xmlns:a16="http://schemas.microsoft.com/office/drawing/2014/main" id="{AA889FCD-2165-4B64-B4EA-9B6645F9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36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5A5A"/>
                </a:solidFill>
              </a:rPr>
              <a:t>8</a:t>
            </a:r>
          </a:p>
        </p:txBody>
      </p:sp>
      <p:sp>
        <p:nvSpPr>
          <p:cNvPr id="48" name="flow-8-label">
            <a:extLst xmlns:a="http://schemas.openxmlformats.org/drawingml/2006/main">
              <a:ext uri="{FF2B5EF4-FFF2-40B4-BE49-F238E27FC236}">
                <a16:creationId xmlns:a16="http://schemas.microsoft.com/office/drawing/2014/main" id="{DF40C482-AEEE-45E9-B9DC-37344312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变更与回归</a:t>
            </a:r>
          </a:p>
        </p:txBody>
      </p:sp>
      <p:sp>
        <p:nvSpPr>
          <p:cNvPr id="49" name="flow-outcome">
            <a:extLst xmlns:a="http://schemas.openxmlformats.org/drawingml/2006/main">
              <a:ext uri="{FF2B5EF4-FFF2-40B4-BE49-F238E27FC236}">
                <a16:creationId xmlns:a16="http://schemas.microsoft.com/office/drawing/2014/main" id="{534E1271-7654-49CA-B665-4602973D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953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323"/>
          </a:solidFill>
        </p:spPr>
      </p:sp>
      <p:sp>
        <p:nvSpPr>
          <p:cNvPr id="50" name="flow-outcome-text">
            <a:extLst xmlns:a="http://schemas.openxmlformats.org/drawingml/2006/main">
              <a:ext uri="{FF2B5EF4-FFF2-40B4-BE49-F238E27FC236}">
                <a16:creationId xmlns:a16="http://schemas.microsoft.com/office/drawing/2014/main" id="{940B2FAD-AA49-4911-BAA4-CA1F66EA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57825"/>
            <a:ext cx="10458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</a:rPr>
              <a:t>阶段结论：READY / READY_WITH_LIMITS / HOLD / INDETERMINATE</a:t>
            </a:r>
          </a:p>
        </p:txBody>
      </p:sp>
      <p:sp>
        <p:nvSpPr>
          <p:cNvPr id="51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E82D29C1-46DD-46C1-B3D0-6C9DE148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需求驱动的一致性与验证工作流</a:t>
            </a:r>
          </a:p>
        </p:txBody>
      </p:sp>
      <p:sp>
        <p:nvSpPr>
          <p:cNvPr id="52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46DB1EA9-F07F-434A-B562-59310BBF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29566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920F8251-6095-4C10-A0E0-D8482D24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5A28"/>
                </a:solidFill>
              </a:rPr>
              <a:t>需求驱动闭环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EA1491A3-3B9F-461C-9ED3-E663808F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</a:rPr>
              <a:t>六条原则保证闭环不会被“方便的答案”带偏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D54ABF29-77CD-402C-AC78-1A010D5B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principle-box-0">
            <a:extLst xmlns:a="http://schemas.openxmlformats.org/drawingml/2006/main">
              <a:ext uri="{FF2B5EF4-FFF2-40B4-BE49-F238E27FC236}">
                <a16:creationId xmlns:a16="http://schemas.microsoft.com/office/drawing/2014/main" id="{49946820-CD78-447E-BF7B-DE8C2140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476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5" name="principle-num-0">
            <a:extLst xmlns:a="http://schemas.openxmlformats.org/drawingml/2006/main">
              <a:ext uri="{FF2B5EF4-FFF2-40B4-BE49-F238E27FC236}">
                <a16:creationId xmlns:a16="http://schemas.microsoft.com/office/drawing/2014/main" id="{08AF47B6-6A24-4612-9DE6-4C3FE10C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5A28"/>
                </a:solidFill>
              </a:rPr>
              <a:t>01</a:t>
            </a:r>
          </a:p>
        </p:txBody>
      </p:sp>
      <p:sp>
        <p:nvSpPr>
          <p:cNvPr id="6" name="principle-title-0">
            <a:extLst xmlns:a="http://schemas.openxmlformats.org/drawingml/2006/main">
              <a:ext uri="{FF2B5EF4-FFF2-40B4-BE49-F238E27FC236}">
                <a16:creationId xmlns:a16="http://schemas.microsoft.com/office/drawing/2014/main" id="{94492A41-63AB-4359-AAFC-F5BBA7C4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304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</a:rPr>
              <a:t>先固定基线</a:t>
            </a:r>
          </a:p>
        </p:txBody>
      </p:sp>
      <p:sp>
        <p:nvSpPr>
          <p:cNvPr id="7" name="principle-body-0">
            <a:extLst xmlns:a="http://schemas.openxmlformats.org/drawingml/2006/main">
              <a:ext uri="{FF2B5EF4-FFF2-40B4-BE49-F238E27FC236}">
                <a16:creationId xmlns:a16="http://schemas.microsoft.com/office/drawing/2014/main" id="{88925CD1-F6A4-4765-81D7-34B5397F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304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5A5A"/>
                </a:solidFill>
              </a:rPr>
              <a:t>问题、版本和配置先留证，再改变工件。</a:t>
            </a:r>
          </a:p>
        </p:txBody>
      </p:sp>
      <p:sp>
        <p:nvSpPr>
          <p:cNvPr id="8" name="principle-box-1">
            <a:extLst xmlns:a="http://schemas.openxmlformats.org/drawingml/2006/main">
              <a:ext uri="{FF2B5EF4-FFF2-40B4-BE49-F238E27FC236}">
                <a16:creationId xmlns:a16="http://schemas.microsoft.com/office/drawing/2014/main" id="{86F214EB-F9E3-401D-9645-53548BDD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714500"/>
            <a:ext cx="3476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0"/>
          </a:solidFill>
        </p:spPr>
      </p:sp>
      <p:sp>
        <p:nvSpPr>
          <p:cNvPr id="9" name="principle-num-1">
            <a:extLst xmlns:a="http://schemas.openxmlformats.org/drawingml/2006/main">
              <a:ext uri="{FF2B5EF4-FFF2-40B4-BE49-F238E27FC236}">
                <a16:creationId xmlns:a16="http://schemas.microsoft.com/office/drawing/2014/main" id="{14AFCECE-FACA-4C1D-B2E6-83638538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8595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5A28"/>
                </a:solidFill>
              </a:rPr>
              <a:t>02</a:t>
            </a:r>
          </a:p>
        </p:txBody>
      </p:sp>
      <p:sp>
        <p:nvSpPr>
          <p:cNvPr id="10" name="principle-title-1">
            <a:extLst xmlns:a="http://schemas.openxmlformats.org/drawingml/2006/main">
              <a:ext uri="{FF2B5EF4-FFF2-40B4-BE49-F238E27FC236}">
                <a16:creationId xmlns:a16="http://schemas.microsoft.com/office/drawing/2014/main" id="{D48CD3C3-7D33-4FF9-B775-675C79C9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24100"/>
            <a:ext cx="304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</a:rPr>
              <a:t>上游不被下游改写</a:t>
            </a:r>
          </a:p>
        </p:txBody>
      </p:sp>
      <p:sp>
        <p:nvSpPr>
          <p:cNvPr id="11" name="principle-body-1">
            <a:extLst xmlns:a="http://schemas.openxmlformats.org/drawingml/2006/main">
              <a:ext uri="{FF2B5EF4-FFF2-40B4-BE49-F238E27FC236}">
                <a16:creationId xmlns:a16="http://schemas.microsoft.com/office/drawing/2014/main" id="{78BE4D11-80F3-4537-9227-471BECD3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781300"/>
            <a:ext cx="304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5A5A"/>
                </a:solidFill>
              </a:rPr>
              <a:t>代码现状和测试便利性不能成为需求依据。</a:t>
            </a:r>
          </a:p>
        </p:txBody>
      </p:sp>
      <p:sp>
        <p:nvSpPr>
          <p:cNvPr id="12" name="principle-box-2">
            <a:extLst xmlns:a="http://schemas.openxmlformats.org/drawingml/2006/main">
              <a:ext uri="{FF2B5EF4-FFF2-40B4-BE49-F238E27FC236}">
                <a16:creationId xmlns:a16="http://schemas.microsoft.com/office/drawing/2014/main" id="{10D6AC11-A577-42C7-BB4E-42CE4A2F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476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13" name="principle-num-2">
            <a:extLst xmlns:a="http://schemas.openxmlformats.org/drawingml/2006/main">
              <a:ext uri="{FF2B5EF4-FFF2-40B4-BE49-F238E27FC236}">
                <a16:creationId xmlns:a16="http://schemas.microsoft.com/office/drawing/2014/main" id="{C1AE132E-2644-49A4-9791-8FA5EDF0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8595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5A28"/>
                </a:solidFill>
              </a:rPr>
              <a:t>03</a:t>
            </a:r>
          </a:p>
        </p:txBody>
      </p:sp>
      <p:sp>
        <p:nvSpPr>
          <p:cNvPr id="14" name="principle-title-2">
            <a:extLst xmlns:a="http://schemas.openxmlformats.org/drawingml/2006/main">
              <a:ext uri="{FF2B5EF4-FFF2-40B4-BE49-F238E27FC236}">
                <a16:creationId xmlns:a16="http://schemas.microsoft.com/office/drawing/2014/main" id="{32D1EE6D-8E72-4F72-8752-FE3B7886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304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</a:rPr>
              <a:t>双向追溯</a:t>
            </a:r>
          </a:p>
        </p:txBody>
      </p:sp>
      <p:sp>
        <p:nvSpPr>
          <p:cNvPr id="15" name="principle-body-2">
            <a:extLst xmlns:a="http://schemas.openxmlformats.org/drawingml/2006/main">
              <a:ext uri="{FF2B5EF4-FFF2-40B4-BE49-F238E27FC236}">
                <a16:creationId xmlns:a16="http://schemas.microsoft.com/office/drawing/2014/main" id="{5612FE1E-EADC-46A7-94A3-9F98E02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304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5A5A"/>
                </a:solidFill>
              </a:rPr>
              <a:t>既检查义务是否落实，也检查行为是否有依据。</a:t>
            </a:r>
          </a:p>
        </p:txBody>
      </p:sp>
      <p:sp>
        <p:nvSpPr>
          <p:cNvPr id="16" name="principle-box-3">
            <a:extLst xmlns:a="http://schemas.openxmlformats.org/drawingml/2006/main">
              <a:ext uri="{FF2B5EF4-FFF2-40B4-BE49-F238E27FC236}">
                <a16:creationId xmlns:a16="http://schemas.microsoft.com/office/drawing/2014/main" id="{E7938ABD-2F48-462E-B55E-A6DD854C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3476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0"/>
          </a:solidFill>
        </p:spPr>
      </p:sp>
      <p:sp>
        <p:nvSpPr>
          <p:cNvPr id="17" name="principle-num-3">
            <a:extLst xmlns:a="http://schemas.openxmlformats.org/drawingml/2006/main">
              <a:ext uri="{FF2B5EF4-FFF2-40B4-BE49-F238E27FC236}">
                <a16:creationId xmlns:a16="http://schemas.microsoft.com/office/drawing/2014/main" id="{D3E85D84-8D7D-4EB3-BB0E-402E4258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145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5A28"/>
                </a:solidFill>
              </a:rPr>
              <a:t>04</a:t>
            </a:r>
          </a:p>
        </p:txBody>
      </p:sp>
      <p:sp>
        <p:nvSpPr>
          <p:cNvPr id="18" name="principle-title-3">
            <a:extLst xmlns:a="http://schemas.openxmlformats.org/drawingml/2006/main">
              <a:ext uri="{FF2B5EF4-FFF2-40B4-BE49-F238E27FC236}">
                <a16:creationId xmlns:a16="http://schemas.microsoft.com/office/drawing/2014/main" id="{63D77CA7-0469-45B5-B90E-A878A999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304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</a:rPr>
              <a:t>审查与批准分开</a:t>
            </a:r>
          </a:p>
        </p:txBody>
      </p:sp>
      <p:sp>
        <p:nvSpPr>
          <p:cNvPr id="19" name="principle-body-3">
            <a:extLst xmlns:a="http://schemas.openxmlformats.org/drawingml/2006/main">
              <a:ext uri="{FF2B5EF4-FFF2-40B4-BE49-F238E27FC236}">
                <a16:creationId xmlns:a16="http://schemas.microsoft.com/office/drawing/2014/main" id="{ACF7AA28-8AB2-486C-8FD3-7FFCB13B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76800"/>
            <a:ext cx="304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5A5A"/>
                </a:solidFill>
              </a:rPr>
              <a:t>智能体整理证据，授权人承担取舍和决定。</a:t>
            </a:r>
          </a:p>
        </p:txBody>
      </p:sp>
      <p:sp>
        <p:nvSpPr>
          <p:cNvPr id="20" name="principle-box-4">
            <a:extLst xmlns:a="http://schemas.openxmlformats.org/drawingml/2006/main">
              <a:ext uri="{FF2B5EF4-FFF2-40B4-BE49-F238E27FC236}">
                <a16:creationId xmlns:a16="http://schemas.microsoft.com/office/drawing/2014/main" id="{4FB5775C-8DCB-4C3D-A1DD-A288CA3D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10000"/>
            <a:ext cx="3476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21" name="principle-num-4">
            <a:extLst xmlns:a="http://schemas.openxmlformats.org/drawingml/2006/main">
              <a:ext uri="{FF2B5EF4-FFF2-40B4-BE49-F238E27FC236}">
                <a16:creationId xmlns:a16="http://schemas.microsoft.com/office/drawing/2014/main" id="{F96D138A-4690-4BD7-963E-D32A6BA8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8145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5A28"/>
                </a:solidFill>
              </a:rPr>
              <a:t>05</a:t>
            </a:r>
          </a:p>
        </p:txBody>
      </p:sp>
      <p:sp>
        <p:nvSpPr>
          <p:cNvPr id="22" name="principle-title-4">
            <a:extLst xmlns:a="http://schemas.openxmlformats.org/drawingml/2006/main">
              <a:ext uri="{FF2B5EF4-FFF2-40B4-BE49-F238E27FC236}">
                <a16:creationId xmlns:a16="http://schemas.microsoft.com/office/drawing/2014/main" id="{A8BBD7AB-49BB-4566-A865-E7AD9F24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19600"/>
            <a:ext cx="304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</a:rPr>
              <a:t>问题回到正确工件</a:t>
            </a:r>
          </a:p>
        </p:txBody>
      </p:sp>
      <p:sp>
        <p:nvSpPr>
          <p:cNvPr id="23" name="principle-body-4">
            <a:extLst xmlns:a="http://schemas.openxmlformats.org/drawingml/2006/main">
              <a:ext uri="{FF2B5EF4-FFF2-40B4-BE49-F238E27FC236}">
                <a16:creationId xmlns:a16="http://schemas.microsoft.com/office/drawing/2014/main" id="{322B80E6-CDA0-4346-BE9B-949CCE9F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876800"/>
            <a:ext cx="304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5A5A"/>
                </a:solidFill>
              </a:rPr>
              <a:t>需求、设计、代码、测试和环境分别归责。</a:t>
            </a:r>
          </a:p>
        </p:txBody>
      </p:sp>
      <p:sp>
        <p:nvSpPr>
          <p:cNvPr id="24" name="principle-box-5">
            <a:extLst xmlns:a="http://schemas.openxmlformats.org/drawingml/2006/main">
              <a:ext uri="{FF2B5EF4-FFF2-40B4-BE49-F238E27FC236}">
                <a16:creationId xmlns:a16="http://schemas.microsoft.com/office/drawing/2014/main" id="{55D54F46-AEDA-4480-B85C-53B9DC77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0000"/>
            <a:ext cx="3476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25" name="principle-num-5">
            <a:extLst xmlns:a="http://schemas.openxmlformats.org/drawingml/2006/main">
              <a:ext uri="{FF2B5EF4-FFF2-40B4-BE49-F238E27FC236}">
                <a16:creationId xmlns:a16="http://schemas.microsoft.com/office/drawing/2014/main" id="{3DEED4A1-F869-485D-BB71-8F977B6C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8145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5A28"/>
                </a:solidFill>
              </a:rPr>
              <a:t>06</a:t>
            </a:r>
          </a:p>
        </p:txBody>
      </p:sp>
      <p:sp>
        <p:nvSpPr>
          <p:cNvPr id="26" name="principle-title-5">
            <a:extLst xmlns:a="http://schemas.openxmlformats.org/drawingml/2006/main">
              <a:ext uri="{FF2B5EF4-FFF2-40B4-BE49-F238E27FC236}">
                <a16:creationId xmlns:a16="http://schemas.microsoft.com/office/drawing/2014/main" id="{D4C02CC3-86B8-4222-81E9-EEF3DD73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19600"/>
            <a:ext cx="304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</a:rPr>
              <a:t>修复不等于关闭</a:t>
            </a:r>
          </a:p>
        </p:txBody>
      </p:sp>
      <p:sp>
        <p:nvSpPr>
          <p:cNvPr id="27" name="principle-body-5">
            <a:extLst xmlns:a="http://schemas.openxmlformats.org/drawingml/2006/main">
              <a:ext uri="{FF2B5EF4-FFF2-40B4-BE49-F238E27FC236}">
                <a16:creationId xmlns:a16="http://schemas.microsoft.com/office/drawing/2014/main" id="{1D003CA0-C441-4997-9D0A-C6815AF8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76800"/>
            <a:ext cx="304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5A5A"/>
                </a:solidFill>
              </a:rPr>
              <a:t>还需影响分析、复验、回归和有效证据。</a:t>
            </a:r>
          </a:p>
        </p:txBody>
      </p:sp>
      <p:sp>
        <p:nvSpPr>
          <p:cNvPr id="28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41EC6BDF-AC69-46B5-926B-EB320F95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需求驱动的一致性与验证工作流</a:t>
            </a:r>
          </a:p>
        </p:txBody>
      </p:sp>
      <p:sp>
        <p:nvSpPr>
          <p:cNvPr id="29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67E96166-2526-4B3A-8B04-7A1E79A2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691142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CB897AB2-81F0-4268-998D-7623715D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5A28"/>
                </a:solidFill>
              </a:rPr>
              <a:t>需求驱动闭环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72077D7D-3449-4FF5-A8FB-40C5EBA0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5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</a:rPr>
              <a:t>需求进入设计前，要同时通过“写得清楚”和“值得这样做”两道检查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A6B960AD-ACE5-4038-A72E-143AF258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req-quality">
            <a:extLst xmlns:a="http://schemas.openxmlformats.org/drawingml/2006/main">
              <a:ext uri="{FF2B5EF4-FFF2-40B4-BE49-F238E27FC236}">
                <a16:creationId xmlns:a16="http://schemas.microsoft.com/office/drawing/2014/main" id="{592F0892-BC96-4D1B-9AC3-6A8D8F9F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33337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5" name="req-reason">
            <a:extLst xmlns:a="http://schemas.openxmlformats.org/drawingml/2006/main">
              <a:ext uri="{FF2B5EF4-FFF2-40B4-BE49-F238E27FC236}">
                <a16:creationId xmlns:a16="http://schemas.microsoft.com/office/drawing/2014/main" id="{568788AA-9979-4D85-8C91-13600641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33550"/>
            <a:ext cx="33337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6" name="req-human">
            <a:extLst xmlns:a="http://schemas.openxmlformats.org/drawingml/2006/main">
              <a:ext uri="{FF2B5EF4-FFF2-40B4-BE49-F238E27FC236}">
                <a16:creationId xmlns:a16="http://schemas.microsoft.com/office/drawing/2014/main" id="{6FCCA4FD-D623-4225-B565-6DA9F726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33550"/>
            <a:ext cx="33337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323"/>
          </a:solidFill>
        </p:spPr>
      </p:sp>
      <p:sp>
        <p:nvSpPr>
          <p:cNvPr id="7" name="req-quality-k">
            <a:extLst xmlns:a="http://schemas.openxmlformats.org/drawingml/2006/main">
              <a:ext uri="{FF2B5EF4-FFF2-40B4-BE49-F238E27FC236}">
                <a16:creationId xmlns:a16="http://schemas.microsoft.com/office/drawing/2014/main" id="{E37FCBB2-B03D-4F2D-AD39-6DE58C65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05A28"/>
                </a:solidFill>
              </a:rPr>
              <a:t>质量结论</a:t>
            </a:r>
          </a:p>
        </p:txBody>
      </p:sp>
      <p:sp>
        <p:nvSpPr>
          <p:cNvPr id="8" name="req-quality-h">
            <a:extLst xmlns:a="http://schemas.openxmlformats.org/drawingml/2006/main">
              <a:ext uri="{FF2B5EF4-FFF2-40B4-BE49-F238E27FC236}">
                <a16:creationId xmlns:a16="http://schemas.microsoft.com/office/drawing/2014/main" id="{B7673451-C201-4906-B9CE-C5D57203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2667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</a:rPr>
              <a:t>能否被一致理解
并明确验证</a:t>
            </a:r>
          </a:p>
        </p:txBody>
      </p:sp>
      <p:sp>
        <p:nvSpPr>
          <p:cNvPr id="9" name="req-quality-b">
            <a:extLst xmlns:a="http://schemas.openxmlformats.org/drawingml/2006/main">
              <a:ext uri="{FF2B5EF4-FFF2-40B4-BE49-F238E27FC236}">
                <a16:creationId xmlns:a16="http://schemas.microsoft.com/office/drawing/2014/main" id="{50870997-6EB1-4A0F-8A49-089C7796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完备性与适用范围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实质歧义与冲突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可观察判据与引用</a:t>
            </a:r>
          </a:p>
        </p:txBody>
      </p:sp>
      <p:sp>
        <p:nvSpPr>
          <p:cNvPr id="10" name="req-reason-k">
            <a:extLst xmlns:a="http://schemas.openxmlformats.org/drawingml/2006/main">
              <a:ext uri="{FF2B5EF4-FFF2-40B4-BE49-F238E27FC236}">
                <a16:creationId xmlns:a16="http://schemas.microsoft.com/office/drawing/2014/main" id="{ECA50FFB-3139-4287-B2C3-ED8A033B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02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05A28"/>
                </a:solidFill>
              </a:rPr>
              <a:t>合理性建议</a:t>
            </a:r>
          </a:p>
        </p:txBody>
      </p:sp>
      <p:sp>
        <p:nvSpPr>
          <p:cNvPr id="11" name="req-reason-h">
            <a:extLst xmlns:a="http://schemas.openxmlformats.org/drawingml/2006/main">
              <a:ext uri="{FF2B5EF4-FFF2-40B4-BE49-F238E27FC236}">
                <a16:creationId xmlns:a16="http://schemas.microsoft.com/office/drawing/2014/main" id="{6F1FEC4E-EADD-404E-BE85-24B72D97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76500"/>
            <a:ext cx="2667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3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</a:rPr>
              <a:t>目标、必要性和可行性
是否有证据</a:t>
            </a:r>
          </a:p>
        </p:txBody>
      </p:sp>
      <p:sp>
        <p:nvSpPr>
          <p:cNvPr id="12" name="req-reason-b">
            <a:extLst xmlns:a="http://schemas.openxmlformats.org/drawingml/2006/main">
              <a:ext uri="{FF2B5EF4-FFF2-40B4-BE49-F238E27FC236}">
                <a16:creationId xmlns:a16="http://schemas.microsoft.com/office/drawing/2014/main" id="{AE65416B-1DC4-47C7-8B46-871E53F0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385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来源与任务目标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收益、代价与替代方案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风险、资源与技术可行性</a:t>
            </a:r>
          </a:p>
        </p:txBody>
      </p:sp>
      <p:sp>
        <p:nvSpPr>
          <p:cNvPr id="13" name="req-human-k">
            <a:extLst xmlns:a="http://schemas.openxmlformats.org/drawingml/2006/main">
              <a:ext uri="{FF2B5EF4-FFF2-40B4-BE49-F238E27FC236}">
                <a16:creationId xmlns:a16="http://schemas.microsoft.com/office/drawing/2014/main" id="{8F02CA16-23A4-4CE6-932B-C2A9EE1A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002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FF9A7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9A74"/>
                </a:solidFill>
              </a:rPr>
              <a:t>人工决定</a:t>
            </a:r>
          </a:p>
        </p:txBody>
      </p:sp>
      <p:sp>
        <p:nvSpPr>
          <p:cNvPr id="14" name="req-human-h">
            <a:extLst xmlns:a="http://schemas.openxmlformats.org/drawingml/2006/main">
              <a:ext uri="{FF2B5EF4-FFF2-40B4-BE49-F238E27FC236}">
                <a16:creationId xmlns:a16="http://schemas.microsoft.com/office/drawing/2014/main" id="{B5EFB3A4-678D-4AE8-8344-A9FFBC6E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76500"/>
            <a:ext cx="2667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</a:rPr>
              <a:t>授权人承担
最终取舍</a:t>
            </a:r>
          </a:p>
        </p:txBody>
      </p:sp>
      <p:sp>
        <p:nvSpPr>
          <p:cNvPr id="15" name="req-human-b">
            <a:extLst xmlns:a="http://schemas.openxmlformats.org/drawingml/2006/main">
              <a:ext uri="{FF2B5EF4-FFF2-40B4-BE49-F238E27FC236}">
                <a16:creationId xmlns:a16="http://schemas.microsoft.com/office/drawing/2014/main" id="{7FD0EA32-C1F4-4781-B24C-52D5E53D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385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</a:rPr>
              <a:t>APPROVE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</a:rPr>
              <a:t>REVISE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</a:rPr>
              <a:t>REJECT / DEFER</a:t>
            </a:r>
          </a:p>
        </p:txBody>
      </p:sp>
      <p:sp>
        <p:nvSpPr>
          <p:cNvPr id="16" name="req-note">
            <a:extLst xmlns:a="http://schemas.openxmlformats.org/drawingml/2006/main">
              <a:ext uri="{FF2B5EF4-FFF2-40B4-BE49-F238E27FC236}">
                <a16:creationId xmlns:a16="http://schemas.microsoft.com/office/drawing/2014/main" id="{304D1110-B0A2-4393-B1F2-3CA74263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81675"/>
            <a:ext cx="11391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5A28"/>
                </a:solidFill>
              </a:rPr>
              <a:t>关键阈值无来源、故障策略未决或可行性未知时，受影响范围必须 HOLD。</a:t>
            </a:r>
          </a:p>
        </p:txBody>
      </p:sp>
      <p:sp>
        <p:nvSpPr>
          <p:cNvPr id="17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0EA90CCE-4F72-4ACE-B195-3C71F51E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需求驱动的一致性与验证工作流</a:t>
            </a:r>
          </a:p>
        </p:txBody>
      </p:sp>
      <p:sp>
        <p:nvSpPr>
          <p:cNvPr id="18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8D44B9A8-7F03-4C85-8F74-F5B5CAD0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65965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6">
            <a:extLst xmlns:a="http://schemas.openxmlformats.org/drawingml/2006/main">
              <a:ext uri="{FF2B5EF4-FFF2-40B4-BE49-F238E27FC236}">
                <a16:creationId xmlns:a16="http://schemas.microsoft.com/office/drawing/2014/main" id="{F0DC3DD9-633B-4CD2-806E-0840B3CE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5A28"/>
                </a:solidFill>
              </a:rPr>
              <a:t>需求驱动闭环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70B6D78-BB95-427C-AF99-B6DF0CC1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</a:rPr>
              <a:t>两级一致性验证把需求义务落实到设计，再落实到真实构建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8AD9A611-EAAE-4BF0-9EA6-E426288A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c-forward-1">
            <a:extLst xmlns:a="http://schemas.openxmlformats.org/drawingml/2006/main">
              <a:ext uri="{FF2B5EF4-FFF2-40B4-BE49-F238E27FC236}">
                <a16:creationId xmlns:a16="http://schemas.microsoft.com/office/drawing/2014/main" id="{801E6862-9EA9-4415-A711-742420EE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955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</p:spPr>
      </p:sp>
      <p:sp>
        <p:nvSpPr>
          <p:cNvPr id="5" name="c-forward-2">
            <a:extLst xmlns:a="http://schemas.openxmlformats.org/drawingml/2006/main">
              <a:ext uri="{FF2B5EF4-FFF2-40B4-BE49-F238E27FC236}">
                <a16:creationId xmlns:a16="http://schemas.microsoft.com/office/drawing/2014/main" id="{843BEC38-6626-465A-BF35-C54D0228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955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</p:spPr>
      </p:sp>
      <p:sp>
        <p:nvSpPr>
          <p:cNvPr id="6" name="c-reverse-1">
            <a:extLst xmlns:a="http://schemas.openxmlformats.org/drawingml/2006/main">
              <a:ext uri="{FF2B5EF4-FFF2-40B4-BE49-F238E27FC236}">
                <a16:creationId xmlns:a16="http://schemas.microsoft.com/office/drawing/2014/main" id="{780EB0E3-09A1-4745-ADD1-490E66B7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95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7" name="c-reverse-2">
            <a:extLst xmlns:a="http://schemas.openxmlformats.org/drawingml/2006/main">
              <a:ext uri="{FF2B5EF4-FFF2-40B4-BE49-F238E27FC236}">
                <a16:creationId xmlns:a16="http://schemas.microsoft.com/office/drawing/2014/main" id="{53410B1F-7185-4D23-931A-C6553442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8" name="c-req">
            <a:extLst xmlns:a="http://schemas.openxmlformats.org/drawingml/2006/main">
              <a:ext uri="{FF2B5EF4-FFF2-40B4-BE49-F238E27FC236}">
                <a16:creationId xmlns:a16="http://schemas.microsoft.com/office/drawing/2014/main" id="{322559CE-A27A-471F-9DB5-98D37DDB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809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9" name="c-design">
            <a:extLst xmlns:a="http://schemas.openxmlformats.org/drawingml/2006/main">
              <a:ext uri="{FF2B5EF4-FFF2-40B4-BE49-F238E27FC236}">
                <a16:creationId xmlns:a16="http://schemas.microsoft.com/office/drawing/2014/main" id="{02A167FF-9D07-464F-94A3-1416D7CD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1809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10" name="c-code">
            <a:extLst xmlns:a="http://schemas.openxmlformats.org/drawingml/2006/main">
              <a:ext uri="{FF2B5EF4-FFF2-40B4-BE49-F238E27FC236}">
                <a16:creationId xmlns:a16="http://schemas.microsoft.com/office/drawing/2014/main" id="{552C7615-E4F0-4EA0-B51B-2AEA59D4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1809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11" name="c-build">
            <a:extLst xmlns:a="http://schemas.openxmlformats.org/drawingml/2006/main">
              <a:ext uri="{FF2B5EF4-FFF2-40B4-BE49-F238E27FC236}">
                <a16:creationId xmlns:a16="http://schemas.microsoft.com/office/drawing/2014/main" id="{045EC83A-5AB5-492E-B2ED-3E07E026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809750"/>
            <a:ext cx="13144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323"/>
          </a:solidFill>
        </p:spPr>
      </p:sp>
      <p:sp>
        <p:nvSpPr>
          <p:cNvPr id="12" name="c-req-h">
            <a:extLst xmlns:a="http://schemas.openxmlformats.org/drawingml/2006/main">
              <a:ext uri="{FF2B5EF4-FFF2-40B4-BE49-F238E27FC236}">
                <a16:creationId xmlns:a16="http://schemas.microsoft.com/office/drawing/2014/main" id="{D64B6186-453F-4F59-849D-00F5EEE9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1333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</a:rPr>
              <a:t>需求</a:t>
            </a:r>
          </a:p>
        </p:txBody>
      </p:sp>
      <p:sp>
        <p:nvSpPr>
          <p:cNvPr id="13" name="c-req-b">
            <a:extLst xmlns:a="http://schemas.openxmlformats.org/drawingml/2006/main">
              <a:ext uri="{FF2B5EF4-FFF2-40B4-BE49-F238E27FC236}">
                <a16:creationId xmlns:a16="http://schemas.microsoft.com/office/drawing/2014/main" id="{33ED452B-3E64-41DE-914B-1FAB4220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1333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A5A"/>
                </a:solidFill>
              </a:rPr>
              <a:t>条件
行为
约束
判据</a:t>
            </a:r>
          </a:p>
        </p:txBody>
      </p:sp>
      <p:sp>
        <p:nvSpPr>
          <p:cNvPr id="14" name="c-design-h">
            <a:extLst xmlns:a="http://schemas.openxmlformats.org/drawingml/2006/main">
              <a:ext uri="{FF2B5EF4-FFF2-40B4-BE49-F238E27FC236}">
                <a16:creationId xmlns:a16="http://schemas.microsoft.com/office/drawing/2014/main" id="{D5194CF3-828E-4AD5-A889-AD1CF3B4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95500"/>
            <a:ext cx="1333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</a:rPr>
              <a:t>设计</a:t>
            </a:r>
          </a:p>
        </p:txBody>
      </p:sp>
      <p:sp>
        <p:nvSpPr>
          <p:cNvPr id="15" name="c-design-b">
            <a:extLst xmlns:a="http://schemas.openxmlformats.org/drawingml/2006/main">
              <a:ext uri="{FF2B5EF4-FFF2-40B4-BE49-F238E27FC236}">
                <a16:creationId xmlns:a16="http://schemas.microsoft.com/office/drawing/2014/main" id="{7099F767-52F2-437B-90FB-6D5DB0A8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62250"/>
            <a:ext cx="1333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A5A"/>
                </a:solidFill>
              </a:rPr>
              <a:t>组件
接口
状态
异常</a:t>
            </a:r>
          </a:p>
        </p:txBody>
      </p:sp>
      <p:sp>
        <p:nvSpPr>
          <p:cNvPr id="16" name="c-code-h">
            <a:extLst xmlns:a="http://schemas.openxmlformats.org/drawingml/2006/main">
              <a:ext uri="{FF2B5EF4-FFF2-40B4-BE49-F238E27FC236}">
                <a16:creationId xmlns:a16="http://schemas.microsoft.com/office/drawing/2014/main" id="{AD0327AF-5211-42F9-8C29-5161E374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1333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</a:rPr>
              <a:t>代码</a:t>
            </a:r>
          </a:p>
        </p:txBody>
      </p:sp>
      <p:sp>
        <p:nvSpPr>
          <p:cNvPr id="17" name="c-code-b">
            <a:extLst xmlns:a="http://schemas.openxmlformats.org/drawingml/2006/main">
              <a:ext uri="{FF2B5EF4-FFF2-40B4-BE49-F238E27FC236}">
                <a16:creationId xmlns:a16="http://schemas.microsoft.com/office/drawing/2014/main" id="{40C5093A-9EF2-4558-804F-7BC86282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62250"/>
            <a:ext cx="1333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5A5A"/>
                </a:solidFill>
              </a:rPr>
              <a:t>入口
路径
副作用
可达性</a:t>
            </a:r>
          </a:p>
        </p:txBody>
      </p:sp>
      <p:sp>
        <p:nvSpPr>
          <p:cNvPr id="18" name="c-build-h">
            <a:extLst xmlns:a="http://schemas.openxmlformats.org/drawingml/2006/main">
              <a:ext uri="{FF2B5EF4-FFF2-40B4-BE49-F238E27FC236}">
                <a16:creationId xmlns:a16="http://schemas.microsoft.com/office/drawing/2014/main" id="{0CBE32FB-759B-4BA4-9AAA-05DB525E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095500"/>
            <a:ext cx="990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</a:rPr>
              <a:t>真实
构建</a:t>
            </a:r>
          </a:p>
        </p:txBody>
      </p:sp>
      <p:sp>
        <p:nvSpPr>
          <p:cNvPr id="19" name="c-build-b">
            <a:extLst xmlns:a="http://schemas.openxmlformats.org/drawingml/2006/main">
              <a:ext uri="{FF2B5EF4-FFF2-40B4-BE49-F238E27FC236}">
                <a16:creationId xmlns:a16="http://schemas.microsoft.com/office/drawing/2014/main" id="{339FF5F4-1A74-41C4-807B-44BAD4FD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000375"/>
            <a:ext cx="9906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</a:rPr>
              <a:t>参数
依赖
开关
平台</a:t>
            </a:r>
          </a:p>
        </p:txBody>
      </p:sp>
      <p:sp>
        <p:nvSpPr>
          <p:cNvPr id="20" name="c-rd">
            <a:extLst xmlns:a="http://schemas.openxmlformats.org/drawingml/2006/main">
              <a:ext uri="{FF2B5EF4-FFF2-40B4-BE49-F238E27FC236}">
                <a16:creationId xmlns:a16="http://schemas.microsoft.com/office/drawing/2014/main" id="{68631B60-6D88-428C-A9E2-6867DFFC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00250"/>
            <a:ext cx="1943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0"/>
          </a:solidFill>
        </p:spPr>
      </p:sp>
      <p:sp>
        <p:nvSpPr>
          <p:cNvPr id="21" name="c-rd-t">
            <a:extLst xmlns:a="http://schemas.openxmlformats.org/drawingml/2006/main">
              <a:ext uri="{FF2B5EF4-FFF2-40B4-BE49-F238E27FC236}">
                <a16:creationId xmlns:a16="http://schemas.microsoft.com/office/drawing/2014/main" id="{3656201C-8EBE-4780-9F7F-5F88532A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38375"/>
            <a:ext cx="1562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</a:rPr>
              <a:t>需求 → 设计
义务是否落实</a:t>
            </a:r>
          </a:p>
        </p:txBody>
      </p:sp>
      <p:sp>
        <p:nvSpPr>
          <p:cNvPr id="22" name="c-dc">
            <a:extLst xmlns:a="http://schemas.openxmlformats.org/drawingml/2006/main">
              <a:ext uri="{FF2B5EF4-FFF2-40B4-BE49-F238E27FC236}">
                <a16:creationId xmlns:a16="http://schemas.microsoft.com/office/drawing/2014/main" id="{F04F21B5-52CE-412B-A6FB-60E85F74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0"/>
          </a:solidFill>
        </p:spPr>
      </p:sp>
      <p:sp>
        <p:nvSpPr>
          <p:cNvPr id="23" name="c-dc-t">
            <a:extLst xmlns:a="http://schemas.openxmlformats.org/drawingml/2006/main">
              <a:ext uri="{FF2B5EF4-FFF2-40B4-BE49-F238E27FC236}">
                <a16:creationId xmlns:a16="http://schemas.microsoft.com/office/drawing/2014/main" id="{2689FF6D-7C87-4862-9B5D-C3EA13BB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38375"/>
            <a:ext cx="1333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</a:rPr>
              <a:t>设计 → 代码
承诺是否实现</a:t>
            </a:r>
          </a:p>
        </p:txBody>
      </p:sp>
      <p:sp>
        <p:nvSpPr>
          <p:cNvPr id="24" name="c-reverse-label">
            <a:extLst xmlns:a="http://schemas.openxmlformats.org/drawingml/2006/main">
              <a:ext uri="{FF2B5EF4-FFF2-40B4-BE49-F238E27FC236}">
                <a16:creationId xmlns:a16="http://schemas.microsoft.com/office/drawing/2014/main" id="{F2C0F4F8-BB3B-4604-94C5-D4D6899A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29100"/>
            <a:ext cx="571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5A5A"/>
                </a:solidFill>
              </a:rPr>
              <a:t>反向追溯：设计约束、代码行为是否有上游依据</a:t>
            </a:r>
          </a:p>
        </p:txBody>
      </p:sp>
      <p:sp>
        <p:nvSpPr>
          <p:cNvPr id="25" name="c-warning">
            <a:extLst xmlns:a="http://schemas.openxmlformats.org/drawingml/2006/main">
              <a:ext uri="{FF2B5EF4-FFF2-40B4-BE49-F238E27FC236}">
                <a16:creationId xmlns:a16="http://schemas.microsoft.com/office/drawing/2014/main" id="{049C3286-4003-4CBB-BB22-48460321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391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323"/>
          </a:solidFill>
        </p:spPr>
      </p:sp>
      <p:sp>
        <p:nvSpPr>
          <p:cNvPr id="26" name="c-warning-text">
            <a:extLst xmlns:a="http://schemas.openxmlformats.org/drawingml/2006/main">
              <a:ext uri="{FF2B5EF4-FFF2-40B4-BE49-F238E27FC236}">
                <a16:creationId xmlns:a16="http://schemas.microsoft.com/office/drawing/2014/main" id="{6FB8C605-8C73-4854-B059-E5E1F61D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4975"/>
            <a:ext cx="10896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</a:rPr>
              <a:t>编号相同、名称相似、注释存在或测试通过，都不能替代语义一致性证据。</a:t>
            </a:r>
          </a:p>
        </p:txBody>
      </p:sp>
      <p:sp>
        <p:nvSpPr>
          <p:cNvPr id="27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40579EF6-0C6C-43C9-99BF-0D114B1A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需求驱动的一致性与验证工作流</a:t>
            </a:r>
          </a:p>
        </p:txBody>
      </p:sp>
      <p:sp>
        <p:nvSpPr>
          <p:cNvPr id="28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90C19BA3-004B-4920-8D38-39A8E648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21707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7">
            <a:extLst xmlns:a="http://schemas.openxmlformats.org/drawingml/2006/main">
              <a:ext uri="{FF2B5EF4-FFF2-40B4-BE49-F238E27FC236}">
                <a16:creationId xmlns:a16="http://schemas.microsoft.com/office/drawing/2014/main" id="{2F6E281C-55D6-40EF-95AB-7AF0C2D7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5A28"/>
                </a:solidFill>
              </a:rPr>
              <a:t>需求驱动闭环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21798BD-A61B-4C25-B6BB-E889E374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</a:rPr>
              <a:t>验证必须先建立独立预期，再判断执行证据是否有效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2504E1BF-0CB8-4BD0-B712-F8A39641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v12-line">
            <a:extLst xmlns:a="http://schemas.openxmlformats.org/drawingml/2006/main">
              <a:ext uri="{FF2B5EF4-FFF2-40B4-BE49-F238E27FC236}">
                <a16:creationId xmlns:a16="http://schemas.microsoft.com/office/drawing/2014/main" id="{B2F261EE-E68A-4C26-BCA3-7373FEC2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923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v12-head">
            <a:extLst xmlns:a="http://schemas.openxmlformats.org/drawingml/2006/main">
              <a:ext uri="{FF2B5EF4-FFF2-40B4-BE49-F238E27FC236}">
                <a16:creationId xmlns:a16="http://schemas.microsoft.com/office/drawing/2014/main" id="{ABE63F34-FAE0-4D3A-9EDF-6A7C7858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67075"/>
            <a:ext cx="15240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6" name="v23-line">
            <a:extLst xmlns:a="http://schemas.openxmlformats.org/drawingml/2006/main">
              <a:ext uri="{FF2B5EF4-FFF2-40B4-BE49-F238E27FC236}">
                <a16:creationId xmlns:a16="http://schemas.microsoft.com/office/drawing/2014/main" id="{25594BFC-04DE-491F-B014-B11EBBF5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33750"/>
            <a:ext cx="923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7" name="v23-head">
            <a:extLst xmlns:a="http://schemas.openxmlformats.org/drawingml/2006/main">
              <a:ext uri="{FF2B5EF4-FFF2-40B4-BE49-F238E27FC236}">
                <a16:creationId xmlns:a16="http://schemas.microsoft.com/office/drawing/2014/main" id="{F91EBE69-63AE-437A-AB9D-DB43DD0E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267075"/>
            <a:ext cx="15240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8" name="v-plan">
            <a:extLst xmlns:a="http://schemas.openxmlformats.org/drawingml/2006/main">
              <a:ext uri="{FF2B5EF4-FFF2-40B4-BE49-F238E27FC236}">
                <a16:creationId xmlns:a16="http://schemas.microsoft.com/office/drawing/2014/main" id="{A84D43BF-5D45-4C78-A034-4F955DB7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30003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9" name="v-run">
            <a:extLst xmlns:a="http://schemas.openxmlformats.org/drawingml/2006/main">
              <a:ext uri="{FF2B5EF4-FFF2-40B4-BE49-F238E27FC236}">
                <a16:creationId xmlns:a16="http://schemas.microsoft.com/office/drawing/2014/main" id="{1F6A618A-15B6-4B08-ABEA-C24FE815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62125"/>
            <a:ext cx="30003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10" name="v-eval">
            <a:extLst xmlns:a="http://schemas.openxmlformats.org/drawingml/2006/main">
              <a:ext uri="{FF2B5EF4-FFF2-40B4-BE49-F238E27FC236}">
                <a16:creationId xmlns:a16="http://schemas.microsoft.com/office/drawing/2014/main" id="{6ADF6159-384E-499D-83C2-33FF246C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62125"/>
            <a:ext cx="33718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11" name="v-plan-n">
            <a:extLst xmlns:a="http://schemas.openxmlformats.org/drawingml/2006/main">
              <a:ext uri="{FF2B5EF4-FFF2-40B4-BE49-F238E27FC236}">
                <a16:creationId xmlns:a16="http://schemas.microsoft.com/office/drawing/2014/main" id="{66F4A161-321B-453B-B02C-0A18E94C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5A28"/>
                </a:solidFill>
              </a:rPr>
              <a:t>01</a:t>
            </a:r>
          </a:p>
        </p:txBody>
      </p:sp>
      <p:sp>
        <p:nvSpPr>
          <p:cNvPr id="12" name="v-plan-h">
            <a:extLst xmlns:a="http://schemas.openxmlformats.org/drawingml/2006/main">
              <a:ext uri="{FF2B5EF4-FFF2-40B4-BE49-F238E27FC236}">
                <a16:creationId xmlns:a16="http://schemas.microsoft.com/office/drawing/2014/main" id="{D0DE0BBE-EF1D-419D-9660-A3AC4419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</a:rPr>
              <a:t>独立设计验证</a:t>
            </a:r>
          </a:p>
        </p:txBody>
      </p:sp>
      <p:sp>
        <p:nvSpPr>
          <p:cNvPr id="13" name="v-plan-b">
            <a:extLst xmlns:a="http://schemas.openxmlformats.org/drawingml/2006/main">
              <a:ext uri="{FF2B5EF4-FFF2-40B4-BE49-F238E27FC236}">
                <a16:creationId xmlns:a16="http://schemas.microsoft.com/office/drawing/2014/main" id="{CC657DC2-9C72-4786-9541-1B09C741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238125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</a:rPr>
              <a:t>单元测试从设计义务出发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</a:rPr>
              <a:t>系统测试从需求出发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</a:rPr>
              <a:t>判据不复制产品代码</a:t>
            </a:r>
          </a:p>
        </p:txBody>
      </p:sp>
      <p:sp>
        <p:nvSpPr>
          <p:cNvPr id="14" name="v-run-n">
            <a:extLst xmlns:a="http://schemas.openxmlformats.org/drawingml/2006/main">
              <a:ext uri="{FF2B5EF4-FFF2-40B4-BE49-F238E27FC236}">
                <a16:creationId xmlns:a16="http://schemas.microsoft.com/office/drawing/2014/main" id="{F3019350-7B04-459D-81F6-339EF23A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1930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5A28"/>
                </a:solidFill>
              </a:rPr>
              <a:t>02</a:t>
            </a:r>
          </a:p>
        </p:txBody>
      </p:sp>
      <p:sp>
        <p:nvSpPr>
          <p:cNvPr id="15" name="v-run-h">
            <a:extLst xmlns:a="http://schemas.openxmlformats.org/drawingml/2006/main">
              <a:ext uri="{FF2B5EF4-FFF2-40B4-BE49-F238E27FC236}">
                <a16:creationId xmlns:a16="http://schemas.microsoft.com/office/drawing/2014/main" id="{9592206E-A90D-44F9-99B9-672E1609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0985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</a:rPr>
              <a:t>固定 RUN 清单</a:t>
            </a:r>
          </a:p>
        </p:txBody>
      </p:sp>
      <p:sp>
        <p:nvSpPr>
          <p:cNvPr id="16" name="v-run-b">
            <a:extLst xmlns:a="http://schemas.openxmlformats.org/drawingml/2006/main">
              <a:ext uri="{FF2B5EF4-FFF2-40B4-BE49-F238E27FC236}">
                <a16:creationId xmlns:a16="http://schemas.microsoft.com/office/drawing/2014/main" id="{2C374579-2574-4AE3-9D7B-AA7971B0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333750"/>
            <a:ext cx="238125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</a:rPr>
              <a:t>二进制、配置与环境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</a:rPr>
              <a:t>用例、判定与采集版本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</a:rPr>
              <a:t>操作权限与中止条件</a:t>
            </a:r>
          </a:p>
        </p:txBody>
      </p:sp>
      <p:sp>
        <p:nvSpPr>
          <p:cNvPr id="17" name="v-eval-n">
            <a:extLst xmlns:a="http://schemas.openxmlformats.org/drawingml/2006/main">
              <a:ext uri="{FF2B5EF4-FFF2-40B4-BE49-F238E27FC236}">
                <a16:creationId xmlns:a16="http://schemas.microsoft.com/office/drawing/2014/main" id="{7EA68C8A-8436-4E05-8C07-E03EAC8D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1930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5A28"/>
                </a:solidFill>
              </a:rPr>
              <a:t>03</a:t>
            </a:r>
          </a:p>
        </p:txBody>
      </p:sp>
      <p:sp>
        <p:nvSpPr>
          <p:cNvPr id="18" name="v-eval-h">
            <a:extLst xmlns:a="http://schemas.openxmlformats.org/drawingml/2006/main">
              <a:ext uri="{FF2B5EF4-FFF2-40B4-BE49-F238E27FC236}">
                <a16:creationId xmlns:a16="http://schemas.microsoft.com/office/drawing/2014/main" id="{F2AF445A-AD2A-4DFC-BF02-9F780325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</a:rPr>
              <a:t>评估证据资格</a:t>
            </a:r>
          </a:p>
        </p:txBody>
      </p:sp>
      <p:sp>
        <p:nvSpPr>
          <p:cNvPr id="19" name="v-eval-b">
            <a:extLst xmlns:a="http://schemas.openxmlformats.org/drawingml/2006/main">
              <a:ext uri="{FF2B5EF4-FFF2-40B4-BE49-F238E27FC236}">
                <a16:creationId xmlns:a16="http://schemas.microsoft.com/office/drawing/2014/main" id="{AC4FB02D-1744-4C1D-9A07-F1A8FCE6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276225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</a:rPr>
              <a:t>执行是否有效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</a:rPr>
              <a:t>判据是否适用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</a:rPr>
              <a:t>范围能否支持结论</a:t>
            </a:r>
          </a:p>
        </p:txBody>
      </p:sp>
      <p:sp>
        <p:nvSpPr>
          <p:cNvPr id="20" name="v-note">
            <a:extLst xmlns:a="http://schemas.openxmlformats.org/drawingml/2006/main">
              <a:ext uri="{FF2B5EF4-FFF2-40B4-BE49-F238E27FC236}">
                <a16:creationId xmlns:a16="http://schemas.microsoft.com/office/drawing/2014/main" id="{DC72C2BC-236F-4236-B4A0-57FC02D1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5A28"/>
                </a:solidFill>
              </a:rPr>
              <a:t>一次通过只支持已执行场景；主机、仿真或台架结果不能自动推广到目标机与全运行范围。</a:t>
            </a:r>
          </a:p>
        </p:txBody>
      </p:sp>
      <p:sp>
        <p:nvSpPr>
          <p:cNvPr id="21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6E3954DD-33FE-454A-A006-A7556E9E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需求驱动的一致性与验证工作流</a:t>
            </a:r>
          </a:p>
        </p:txBody>
      </p:sp>
      <p:sp>
        <p:nvSpPr>
          <p:cNvPr id="22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778C88D1-9FE1-4FDE-9C20-44BD4C14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130256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8">
            <a:extLst xmlns:a="http://schemas.openxmlformats.org/drawingml/2006/main">
              <a:ext uri="{FF2B5EF4-FFF2-40B4-BE49-F238E27FC236}">
                <a16:creationId xmlns:a16="http://schemas.microsoft.com/office/drawing/2014/main" id="{A6C70A3D-28AC-4903-8617-A8C1B7DE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5A28"/>
                </a:solidFill>
              </a:rPr>
              <a:t>需求驱动闭环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03C5AB84-4D6A-41BC-B965-D653951A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</a:rPr>
              <a:t>问题先回到正确责任域，再决定修改哪个工件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B5E5F59F-6FA0-480C-B74C-35148360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route-head">
            <a:extLst xmlns:a="http://schemas.openxmlformats.org/drawingml/2006/main">
              <a:ext uri="{FF2B5EF4-FFF2-40B4-BE49-F238E27FC236}">
                <a16:creationId xmlns:a16="http://schemas.microsoft.com/office/drawing/2014/main" id="{324460D8-EB9B-41A3-96A3-518FB064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323"/>
          </a:solidFill>
        </p:spPr>
      </p:sp>
      <p:sp>
        <p:nvSpPr>
          <p:cNvPr id="5" name="route-h1">
            <a:extLst xmlns:a="http://schemas.openxmlformats.org/drawingml/2006/main">
              <a:ext uri="{FF2B5EF4-FFF2-40B4-BE49-F238E27FC236}">
                <a16:creationId xmlns:a16="http://schemas.microsoft.com/office/drawing/2014/main" id="{F600B4A2-A08B-4286-A8E9-900EDF75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</a:rPr>
              <a:t>问题类别</a:t>
            </a:r>
          </a:p>
        </p:txBody>
      </p:sp>
      <p:sp>
        <p:nvSpPr>
          <p:cNvPr id="6" name="route-h2">
            <a:extLst xmlns:a="http://schemas.openxmlformats.org/drawingml/2006/main">
              <a:ext uri="{FF2B5EF4-FFF2-40B4-BE49-F238E27FC236}">
                <a16:creationId xmlns:a16="http://schemas.microsoft.com/office/drawing/2014/main" id="{3B11F2FA-6035-4439-861B-38392553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716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</a:rPr>
              <a:t>默认反馈对象</a:t>
            </a:r>
          </a:p>
        </p:txBody>
      </p:sp>
      <p:sp>
        <p:nvSpPr>
          <p:cNvPr id="7" name="route-h3">
            <a:extLst xmlns:a="http://schemas.openxmlformats.org/drawingml/2006/main">
              <a:ext uri="{FF2B5EF4-FFF2-40B4-BE49-F238E27FC236}">
                <a16:creationId xmlns:a16="http://schemas.microsoft.com/office/drawing/2014/main" id="{154E228B-824A-4FDC-B1BC-7014F5B3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716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</a:rPr>
              <a:t>典型处理</a:t>
            </a:r>
          </a:p>
        </p:txBody>
      </p:sp>
      <p:sp>
        <p:nvSpPr>
          <p:cNvPr id="8" name="route-row-0">
            <a:extLst xmlns:a="http://schemas.openxmlformats.org/drawingml/2006/main">
              <a:ext uri="{FF2B5EF4-FFF2-40B4-BE49-F238E27FC236}">
                <a16:creationId xmlns:a16="http://schemas.microsoft.com/office/drawing/2014/main" id="{8E4E157B-C64F-4616-A094-3D2C3E24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9" name="route-c1-0">
            <a:extLst xmlns:a="http://schemas.openxmlformats.org/drawingml/2006/main">
              <a:ext uri="{FF2B5EF4-FFF2-40B4-BE49-F238E27FC236}">
                <a16:creationId xmlns:a16="http://schemas.microsoft.com/office/drawing/2014/main" id="{997FA3F7-632F-4ED6-A49F-23C259B8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05A28"/>
                </a:solidFill>
              </a:rPr>
              <a:t>目标 / 需求 / 安全策略</a:t>
            </a:r>
          </a:p>
        </p:txBody>
      </p:sp>
      <p:sp>
        <p:nvSpPr>
          <p:cNvPr id="10" name="route-c2-0">
            <a:extLst xmlns:a="http://schemas.openxmlformats.org/drawingml/2006/main">
              <a:ext uri="{FF2B5EF4-FFF2-40B4-BE49-F238E27FC236}">
                <a16:creationId xmlns:a16="http://schemas.microsoft.com/office/drawing/2014/main" id="{60A26B77-C53A-4029-8BBC-77B14FC8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0505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5A"/>
                </a:solidFill>
              </a:rPr>
              <a:t>系统、需求、领域或安全负责人</a:t>
            </a:r>
          </a:p>
        </p:txBody>
      </p:sp>
      <p:sp>
        <p:nvSpPr>
          <p:cNvPr id="11" name="route-c3-0">
            <a:extLst xmlns:a="http://schemas.openxmlformats.org/drawingml/2006/main">
              <a:ext uri="{FF2B5EF4-FFF2-40B4-BE49-F238E27FC236}">
                <a16:creationId xmlns:a16="http://schemas.microsoft.com/office/drawing/2014/main" id="{A2D41436-3E96-4F38-BB7F-B62E42B3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050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5A"/>
                </a:solidFill>
              </a:rPr>
              <a:t>澄清、重分配、修订或风险决定</a:t>
            </a:r>
          </a:p>
        </p:txBody>
      </p:sp>
      <p:sp>
        <p:nvSpPr>
          <p:cNvPr id="12" name="route-row-1">
            <a:extLst xmlns:a="http://schemas.openxmlformats.org/drawingml/2006/main">
              <a:ext uri="{FF2B5EF4-FFF2-40B4-BE49-F238E27FC236}">
                <a16:creationId xmlns:a16="http://schemas.microsoft.com/office/drawing/2014/main" id="{6DBB9020-5572-437D-BA28-B40430F2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3" name="route-c1-1">
            <a:extLst xmlns:a="http://schemas.openxmlformats.org/drawingml/2006/main">
              <a:ext uri="{FF2B5EF4-FFF2-40B4-BE49-F238E27FC236}">
                <a16:creationId xmlns:a16="http://schemas.microsoft.com/office/drawing/2014/main" id="{BAB48086-4A1C-44AB-8E9B-F4CE8E21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</a:rPr>
              <a:t>设计 / 模型 / 参数</a:t>
            </a:r>
          </a:p>
        </p:txBody>
      </p:sp>
      <p:sp>
        <p:nvSpPr>
          <p:cNvPr id="14" name="route-c2-1">
            <a:extLst xmlns:a="http://schemas.openxmlformats.org/drawingml/2006/main">
              <a:ext uri="{FF2B5EF4-FFF2-40B4-BE49-F238E27FC236}">
                <a16:creationId xmlns:a16="http://schemas.microsoft.com/office/drawing/2014/main" id="{C7628FCD-FBB3-42BD-AD0B-BA205A50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1465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5A"/>
                </a:solidFill>
              </a:rPr>
              <a:t>设计、控制或模型负责人</a:t>
            </a:r>
          </a:p>
        </p:txBody>
      </p:sp>
      <p:sp>
        <p:nvSpPr>
          <p:cNvPr id="15" name="route-c3-1">
            <a:extLst xmlns:a="http://schemas.openxmlformats.org/drawingml/2006/main">
              <a:ext uri="{FF2B5EF4-FFF2-40B4-BE49-F238E27FC236}">
                <a16:creationId xmlns:a16="http://schemas.microsoft.com/office/drawing/2014/main" id="{A449F8B6-82B0-48BE-A1D2-7BABD8C6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146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5A"/>
                </a:solidFill>
              </a:rPr>
              <a:t>修订机制、依据、范围或参数基线</a:t>
            </a:r>
          </a:p>
        </p:txBody>
      </p:sp>
      <p:sp>
        <p:nvSpPr>
          <p:cNvPr id="16" name="route-row-2">
            <a:extLst xmlns:a="http://schemas.openxmlformats.org/drawingml/2006/main">
              <a:ext uri="{FF2B5EF4-FFF2-40B4-BE49-F238E27FC236}">
                <a16:creationId xmlns:a16="http://schemas.microsoft.com/office/drawing/2014/main" id="{E06C438F-C19F-40F3-BA30-96878FB5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7" name="route-c1-2">
            <a:extLst xmlns:a="http://schemas.openxmlformats.org/drawingml/2006/main">
              <a:ext uri="{FF2B5EF4-FFF2-40B4-BE49-F238E27FC236}">
                <a16:creationId xmlns:a16="http://schemas.microsoft.com/office/drawing/2014/main" id="{497C1A0C-D74F-4C7D-949D-E4AA9723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</a:rPr>
              <a:t>代码 / 构建 / 平台</a:t>
            </a:r>
          </a:p>
        </p:txBody>
      </p:sp>
      <p:sp>
        <p:nvSpPr>
          <p:cNvPr id="18" name="route-c2-2">
            <a:extLst xmlns:a="http://schemas.openxmlformats.org/drawingml/2006/main">
              <a:ext uri="{FF2B5EF4-FFF2-40B4-BE49-F238E27FC236}">
                <a16:creationId xmlns:a16="http://schemas.microsoft.com/office/drawing/2014/main" id="{37BAB1B7-F534-4A76-B9A7-3754F047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5A"/>
                </a:solidFill>
              </a:rPr>
              <a:t>软件负责人</a:t>
            </a:r>
          </a:p>
        </p:txBody>
      </p:sp>
      <p:sp>
        <p:nvSpPr>
          <p:cNvPr id="19" name="route-c3-2">
            <a:extLst xmlns:a="http://schemas.openxmlformats.org/drawingml/2006/main">
              <a:ext uri="{FF2B5EF4-FFF2-40B4-BE49-F238E27FC236}">
                <a16:creationId xmlns:a16="http://schemas.microsoft.com/office/drawing/2014/main" id="{BD4520D0-6162-4CAD-B0A6-94E5AAD6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242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5A"/>
                </a:solidFill>
              </a:rPr>
              <a:t>修复实现、配置或平台集成</a:t>
            </a:r>
          </a:p>
        </p:txBody>
      </p:sp>
      <p:sp>
        <p:nvSpPr>
          <p:cNvPr id="20" name="route-row-3">
            <a:extLst xmlns:a="http://schemas.openxmlformats.org/drawingml/2006/main">
              <a:ext uri="{FF2B5EF4-FFF2-40B4-BE49-F238E27FC236}">
                <a16:creationId xmlns:a16="http://schemas.microsoft.com/office/drawing/2014/main" id="{EF05A1AB-2790-46ED-90D6-B3DA932E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21" name="route-c1-3">
            <a:extLst xmlns:a="http://schemas.openxmlformats.org/drawingml/2006/main">
              <a:ext uri="{FF2B5EF4-FFF2-40B4-BE49-F238E27FC236}">
                <a16:creationId xmlns:a16="http://schemas.microsoft.com/office/drawing/2014/main" id="{7477F7FA-D5FA-4E22-8748-887438A6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</a:rPr>
              <a:t>测试 / 判据 / 替身</a:t>
            </a:r>
          </a:p>
        </p:txBody>
      </p:sp>
      <p:sp>
        <p:nvSpPr>
          <p:cNvPr id="22" name="route-c2-3">
            <a:extLst xmlns:a="http://schemas.openxmlformats.org/drawingml/2006/main">
              <a:ext uri="{FF2B5EF4-FFF2-40B4-BE49-F238E27FC236}">
                <a16:creationId xmlns:a16="http://schemas.microsoft.com/office/drawing/2014/main" id="{07FEE9EA-9AE1-4202-830B-DE05368C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3385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5A"/>
                </a:solidFill>
              </a:rPr>
              <a:t>验证负责人</a:t>
            </a:r>
          </a:p>
        </p:txBody>
      </p:sp>
      <p:sp>
        <p:nvSpPr>
          <p:cNvPr id="23" name="route-c3-3">
            <a:extLst xmlns:a="http://schemas.openxmlformats.org/drawingml/2006/main">
              <a:ext uri="{FF2B5EF4-FFF2-40B4-BE49-F238E27FC236}">
                <a16:creationId xmlns:a16="http://schemas.microsoft.com/office/drawing/2014/main" id="{6EEF56EA-3764-451D-8394-11C27C51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338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5A"/>
                </a:solidFill>
              </a:rPr>
              <a:t>修订用例、预期或测试实现</a:t>
            </a:r>
          </a:p>
        </p:txBody>
      </p:sp>
      <p:sp>
        <p:nvSpPr>
          <p:cNvPr id="24" name="route-row-4">
            <a:extLst xmlns:a="http://schemas.openxmlformats.org/drawingml/2006/main">
              <a:ext uri="{FF2B5EF4-FFF2-40B4-BE49-F238E27FC236}">
                <a16:creationId xmlns:a16="http://schemas.microsoft.com/office/drawing/2014/main" id="{FEA22665-8F05-43B1-9774-3F5ACF52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25" name="route-c1-4">
            <a:extLst xmlns:a="http://schemas.openxmlformats.org/drawingml/2006/main">
              <a:ext uri="{FF2B5EF4-FFF2-40B4-BE49-F238E27FC236}">
                <a16:creationId xmlns:a16="http://schemas.microsoft.com/office/drawing/2014/main" id="{9E72FEEE-85C1-429F-87FF-9AF21B5D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</a:rPr>
              <a:t>环境 / 台架 / 采集</a:t>
            </a:r>
          </a:p>
        </p:txBody>
      </p:sp>
      <p:sp>
        <p:nvSpPr>
          <p:cNvPr id="26" name="route-c2-4">
            <a:extLst xmlns:a="http://schemas.openxmlformats.org/drawingml/2006/main">
              <a:ext uri="{FF2B5EF4-FFF2-40B4-BE49-F238E27FC236}">
                <a16:creationId xmlns:a16="http://schemas.microsoft.com/office/drawing/2014/main" id="{03F3BFA2-C2A6-4C05-836F-C24BD2D9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4345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5A"/>
                </a:solidFill>
              </a:rPr>
              <a:t>试验与环境负责人</a:t>
            </a:r>
          </a:p>
        </p:txBody>
      </p:sp>
      <p:sp>
        <p:nvSpPr>
          <p:cNvPr id="27" name="route-c3-4">
            <a:extLst xmlns:a="http://schemas.openxmlformats.org/drawingml/2006/main">
              <a:ext uri="{FF2B5EF4-FFF2-40B4-BE49-F238E27FC236}">
                <a16:creationId xmlns:a16="http://schemas.microsoft.com/office/drawing/2014/main" id="{1B045699-DAA8-4EAE-A63E-94A35237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434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5A"/>
                </a:solidFill>
              </a:rPr>
              <a:t>恢复环境、校准或重新采证</a:t>
            </a:r>
          </a:p>
        </p:txBody>
      </p:sp>
      <p:sp>
        <p:nvSpPr>
          <p:cNvPr id="28" name="route-row-5">
            <a:extLst xmlns:a="http://schemas.openxmlformats.org/drawingml/2006/main">
              <a:ext uri="{FF2B5EF4-FFF2-40B4-BE49-F238E27FC236}">
                <a16:creationId xmlns:a16="http://schemas.microsoft.com/office/drawing/2014/main" id="{2E162B39-C021-4C51-B61C-ACFF6BE9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29" name="route-c1-5">
            <a:extLst xmlns:a="http://schemas.openxmlformats.org/drawingml/2006/main">
              <a:ext uri="{FF2B5EF4-FFF2-40B4-BE49-F238E27FC236}">
                <a16:creationId xmlns:a16="http://schemas.microsoft.com/office/drawing/2014/main" id="{A69D9373-2ACE-4AC6-B23C-313952E8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</a:rPr>
              <a:t>证据不足 / 根因未知</a:t>
            </a:r>
          </a:p>
        </p:txBody>
      </p:sp>
      <p:sp>
        <p:nvSpPr>
          <p:cNvPr id="30" name="route-c2-5">
            <a:extLst xmlns:a="http://schemas.openxmlformats.org/drawingml/2006/main">
              <a:ext uri="{FF2B5EF4-FFF2-40B4-BE49-F238E27FC236}">
                <a16:creationId xmlns:a16="http://schemas.microsoft.com/office/drawing/2014/main" id="{277F773D-682E-41FE-A847-AC39B719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35305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5A"/>
                </a:solidFill>
              </a:rPr>
              <a:t>多方联合评审</a:t>
            </a:r>
          </a:p>
        </p:txBody>
      </p:sp>
      <p:sp>
        <p:nvSpPr>
          <p:cNvPr id="31" name="route-c3-5">
            <a:extLst xmlns:a="http://schemas.openxmlformats.org/drawingml/2006/main">
              <a:ext uri="{FF2B5EF4-FFF2-40B4-BE49-F238E27FC236}">
                <a16:creationId xmlns:a16="http://schemas.microsoft.com/office/drawing/2014/main" id="{2D060EB3-3B0B-44AD-931B-0A02FF60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530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5A"/>
                </a:solidFill>
              </a:rPr>
              <a:t>补材料、受控复现或最小区分试验</a:t>
            </a:r>
          </a:p>
        </p:txBody>
      </p:sp>
      <p:sp>
        <p:nvSpPr>
          <p:cNvPr id="32" name="route-note">
            <a:extLst xmlns:a="http://schemas.openxmlformats.org/drawingml/2006/main">
              <a:ext uri="{FF2B5EF4-FFF2-40B4-BE49-F238E27FC236}">
                <a16:creationId xmlns:a16="http://schemas.microsoft.com/office/drawing/2014/main" id="{0FC33CFB-D526-4B64-9699-355DA32A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391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5A28"/>
                </a:solidFill>
              </a:rPr>
              <a:t>根因未确定时保留多个候选，不把不确定性强行归咎于代码或需求。</a:t>
            </a:r>
          </a:p>
        </p:txBody>
      </p:sp>
      <p:sp>
        <p:nvSpPr>
          <p:cNvPr id="33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97685ABA-90CF-4AE1-BE37-2671A326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需求驱动的一致性与验证工作流</a:t>
            </a:r>
          </a:p>
        </p:txBody>
      </p:sp>
      <p:sp>
        <p:nvSpPr>
          <p:cNvPr id="34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87DF96DE-9B03-4376-8A45-8D69E0CB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69975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9">
            <a:extLst xmlns:a="http://schemas.openxmlformats.org/drawingml/2006/main">
              <a:ext uri="{FF2B5EF4-FFF2-40B4-BE49-F238E27FC236}">
                <a16:creationId xmlns:a16="http://schemas.microsoft.com/office/drawing/2014/main" id="{F700FB36-567C-4346-B5CF-5A48A4C3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5A28"/>
                </a:solidFill>
              </a:rPr>
              <a:t>需求驱动闭环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4D2C2080-8507-44D7-BCE2-EEEE2F75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</a:rPr>
              <a:t>智能体负责把证据与选项讲清楚，授权人负责承担决定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050086C3-FEF6-40F1-A55B-69648792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agent-side">
            <a:extLst xmlns:a="http://schemas.openxmlformats.org/drawingml/2006/main">
              <a:ext uri="{FF2B5EF4-FFF2-40B4-BE49-F238E27FC236}">
                <a16:creationId xmlns:a16="http://schemas.microsoft.com/office/drawing/2014/main" id="{CBACDE30-9464-4E20-AD7C-92B620FF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4953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5" name="human-side">
            <a:extLst xmlns:a="http://schemas.openxmlformats.org/drawingml/2006/main">
              <a:ext uri="{FF2B5EF4-FFF2-40B4-BE49-F238E27FC236}">
                <a16:creationId xmlns:a16="http://schemas.microsoft.com/office/drawing/2014/main" id="{8C2525C5-8F92-45AF-8408-13A389B4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14500"/>
            <a:ext cx="4953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323"/>
          </a:solidFill>
        </p:spPr>
      </p:sp>
      <p:sp>
        <p:nvSpPr>
          <p:cNvPr id="6" name="agent-label">
            <a:extLst xmlns:a="http://schemas.openxmlformats.org/drawingml/2006/main">
              <a:ext uri="{FF2B5EF4-FFF2-40B4-BE49-F238E27FC236}">
                <a16:creationId xmlns:a16="http://schemas.microsoft.com/office/drawing/2014/main" id="{F015E5D2-8500-4FB9-9C2A-9C3B3762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05A28"/>
                </a:solidFill>
              </a:rPr>
              <a:t>智能体</a:t>
            </a:r>
          </a:p>
        </p:txBody>
      </p:sp>
      <p:sp>
        <p:nvSpPr>
          <p:cNvPr id="7" name="agent-head">
            <a:extLst xmlns:a="http://schemas.openxmlformats.org/drawingml/2006/main">
              <a:ext uri="{FF2B5EF4-FFF2-40B4-BE49-F238E27FC236}">
                <a16:creationId xmlns:a16="http://schemas.microsoft.com/office/drawing/2014/main" id="{81C7FAD7-85C3-4D4C-81DD-78FC325A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095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</a:rPr>
              <a:t>形成可决策的信息</a:t>
            </a:r>
          </a:p>
        </p:txBody>
      </p:sp>
      <p:sp>
        <p:nvSpPr>
          <p:cNvPr id="8" name="agent-body">
            <a:extLst xmlns:a="http://schemas.openxmlformats.org/drawingml/2006/main">
              <a:ext uri="{FF2B5EF4-FFF2-40B4-BE49-F238E27FC236}">
                <a16:creationId xmlns:a16="http://schemas.microsoft.com/office/drawing/2014/main" id="{76AA23F5-F67C-4ECC-8154-EF26DF01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4095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</a:rPr>
              <a:t>整理事实、偏差与未知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</a:rPr>
              <a:t>提出候选根因和区分试验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</a:rPr>
              <a:t>比较方案、代价、风险与影响范围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</a:rPr>
              <a:t>维护基线、问题和证据状态</a:t>
            </a:r>
          </a:p>
        </p:txBody>
      </p:sp>
      <p:sp>
        <p:nvSpPr>
          <p:cNvPr id="9" name="human-label">
            <a:extLst xmlns:a="http://schemas.openxmlformats.org/drawingml/2006/main">
              <a:ext uri="{FF2B5EF4-FFF2-40B4-BE49-F238E27FC236}">
                <a16:creationId xmlns:a16="http://schemas.microsoft.com/office/drawing/2014/main" id="{87DEB9D0-A10C-4F32-8916-336548F9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FF9A7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9A74"/>
                </a:solidFill>
              </a:rPr>
              <a:t>授权人</a:t>
            </a:r>
          </a:p>
        </p:txBody>
      </p:sp>
      <p:sp>
        <p:nvSpPr>
          <p:cNvPr id="10" name="human-head">
            <a:extLst xmlns:a="http://schemas.openxmlformats.org/drawingml/2006/main">
              <a:ext uri="{FF2B5EF4-FFF2-40B4-BE49-F238E27FC236}">
                <a16:creationId xmlns:a16="http://schemas.microsoft.com/office/drawing/2014/main" id="{29DDCAC6-683A-4DBA-8A18-914759B4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095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</a:rPr>
              <a:t>作出并承担工程决定</a:t>
            </a:r>
          </a:p>
        </p:txBody>
      </p:sp>
      <p:sp>
        <p:nvSpPr>
          <p:cNvPr id="11" name="human-body">
            <a:extLst xmlns:a="http://schemas.openxmlformats.org/drawingml/2006/main">
              <a:ext uri="{FF2B5EF4-FFF2-40B4-BE49-F238E27FC236}">
                <a16:creationId xmlns:a16="http://schemas.microsoft.com/office/drawing/2014/main" id="{8A4A9764-068E-4FBC-9324-0E307B8A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38500"/>
            <a:ext cx="4095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</a:rPr>
              <a:t>确认业务价值与任务意图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</a:rPr>
              <a:t>选择安全策略、阈值与风险取舍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</a:rPr>
              <a:t>批准、拒绝、延期或要求补充分析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</a:rPr>
              <a:t>授权基线变更与残余限制</a:t>
            </a:r>
          </a:p>
        </p:txBody>
      </p:sp>
      <p:sp>
        <p:nvSpPr>
          <p:cNvPr id="12" name="decision-strip">
            <a:extLst xmlns:a="http://schemas.openxmlformats.org/drawingml/2006/main">
              <a:ext uri="{FF2B5EF4-FFF2-40B4-BE49-F238E27FC236}">
                <a16:creationId xmlns:a16="http://schemas.microsoft.com/office/drawing/2014/main" id="{38A11307-925A-4ADD-BBE0-F57B1C50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62625"/>
            <a:ext cx="982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0"/>
          </a:solidFill>
        </p:spPr>
      </p:sp>
      <p:sp>
        <p:nvSpPr>
          <p:cNvPr id="13" name="decision-strip-text">
            <a:extLst xmlns:a="http://schemas.openxmlformats.org/drawingml/2006/main">
              <a:ext uri="{FF2B5EF4-FFF2-40B4-BE49-F238E27FC236}">
                <a16:creationId xmlns:a16="http://schemas.microsoft.com/office/drawing/2014/main" id="{99CB1582-B5CB-4C72-95E3-EE3F6949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95975"/>
            <a:ext cx="9410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5A28"/>
                </a:solidFill>
              </a:rPr>
              <a:t>APPROVE_CHANGE   ·   REJECT_CHANGE   ·   REQUEST_ANALYSIS   ·   DEFER</a:t>
            </a:r>
          </a:p>
        </p:txBody>
      </p:sp>
      <p:sp>
        <p:nvSpPr>
          <p:cNvPr id="14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37F34DDB-7F93-4A3C-82B6-2077836A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需求驱动的一致性与验证工作流</a:t>
            </a:r>
          </a:p>
        </p:txBody>
      </p:sp>
      <p:sp>
        <p:nvSpPr>
          <p:cNvPr id="15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50B78EFD-9E01-444F-A301-69737CE9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464411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0">
            <a:extLst xmlns:a="http://schemas.openxmlformats.org/drawingml/2006/main">
              <a:ext uri="{FF2B5EF4-FFF2-40B4-BE49-F238E27FC236}">
                <a16:creationId xmlns:a16="http://schemas.microsoft.com/office/drawing/2014/main" id="{33EEC58C-2E2B-48E3-A0E1-81567643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5A28"/>
                </a:solidFill>
              </a:rPr>
              <a:t>需求驱动闭环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88A21559-A44A-4A7A-931C-DC6A6E4C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</a:rPr>
              <a:t>变更要回到最早受影响阶段，而不是只重跑失败用例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DDDB8EB4-781A-40C5-B530-08EE7596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change-label-0">
            <a:extLst xmlns:a="http://schemas.openxmlformats.org/drawingml/2006/main">
              <a:ext uri="{FF2B5EF4-FFF2-40B4-BE49-F238E27FC236}">
                <a16:creationId xmlns:a16="http://schemas.microsoft.com/office/drawing/2014/main" id="{C61FD5FD-4CE6-49D1-A1ED-91759E83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</p:spPr>
      </p:sp>
      <p:sp>
        <p:nvSpPr>
          <p:cNvPr id="5" name="change-label-text-0">
            <a:extLst xmlns:a="http://schemas.openxmlformats.org/drawingml/2006/main">
              <a:ext uri="{FF2B5EF4-FFF2-40B4-BE49-F238E27FC236}">
                <a16:creationId xmlns:a16="http://schemas.microsoft.com/office/drawing/2014/main" id="{2DA4C787-764E-4787-A341-CBDCBBE1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1657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</a:rPr>
              <a:t>需求改变</a:t>
            </a:r>
          </a:p>
        </p:txBody>
      </p:sp>
      <p:sp>
        <p:nvSpPr>
          <p:cNvPr id="6" name="change-line-0">
            <a:extLst xmlns:a="http://schemas.openxmlformats.org/drawingml/2006/main">
              <a:ext uri="{FF2B5EF4-FFF2-40B4-BE49-F238E27FC236}">
                <a16:creationId xmlns:a16="http://schemas.microsoft.com/office/drawing/2014/main" id="{B58811AE-7490-4A69-BE8A-73E73195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764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7" name="change-return-0">
            <a:extLst xmlns:a="http://schemas.openxmlformats.org/drawingml/2006/main">
              <a:ext uri="{FF2B5EF4-FFF2-40B4-BE49-F238E27FC236}">
                <a16:creationId xmlns:a16="http://schemas.microsoft.com/office/drawing/2014/main" id="{91B168F5-3576-4081-83A8-9B9933BF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954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8" name="change-return-text-0">
            <a:extLst xmlns:a="http://schemas.openxmlformats.org/drawingml/2006/main">
              <a:ext uri="{FF2B5EF4-FFF2-40B4-BE49-F238E27FC236}">
                <a16:creationId xmlns:a16="http://schemas.microsoft.com/office/drawing/2014/main" id="{E9C9D56D-01A8-4750-852B-0C95222F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95475"/>
            <a:ext cx="3009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</a:rPr>
              <a:t>返回需求合理性或设计阶段</a:t>
            </a:r>
          </a:p>
        </p:txBody>
      </p:sp>
      <p:sp>
        <p:nvSpPr>
          <p:cNvPr id="9" name="change-line2-0">
            <a:extLst xmlns:a="http://schemas.openxmlformats.org/drawingml/2006/main">
              <a:ext uri="{FF2B5EF4-FFF2-40B4-BE49-F238E27FC236}">
                <a16:creationId xmlns:a16="http://schemas.microsoft.com/office/drawing/2014/main" id="{A54783B6-1438-4FAC-9E44-7999B5E7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0" name="change-impact-0">
            <a:extLst xmlns:a="http://schemas.openxmlformats.org/drawingml/2006/main">
              <a:ext uri="{FF2B5EF4-FFF2-40B4-BE49-F238E27FC236}">
                <a16:creationId xmlns:a16="http://schemas.microsoft.com/office/drawing/2014/main" id="{442EEB0A-4D60-4612-A2DD-BD18F0E7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95450"/>
            <a:ext cx="459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11" name="change-impact-text-0">
            <a:extLst xmlns:a="http://schemas.openxmlformats.org/drawingml/2006/main">
              <a:ext uri="{FF2B5EF4-FFF2-40B4-BE49-F238E27FC236}">
                <a16:creationId xmlns:a16="http://schemas.microsoft.com/office/drawing/2014/main" id="{7C18832F-817B-4B15-8762-E6D70004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95475"/>
            <a:ext cx="4171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5A5A"/>
                </a:solidFill>
              </a:rPr>
              <a:t>重审设计、代码、预期和既有通过证据</a:t>
            </a:r>
          </a:p>
        </p:txBody>
      </p:sp>
      <p:sp>
        <p:nvSpPr>
          <p:cNvPr id="12" name="change-label-1">
            <a:extLst xmlns:a="http://schemas.openxmlformats.org/drawingml/2006/main">
              <a:ext uri="{FF2B5EF4-FFF2-40B4-BE49-F238E27FC236}">
                <a16:creationId xmlns:a16="http://schemas.microsoft.com/office/drawing/2014/main" id="{8B756991-90EB-428B-824E-6DD45095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323"/>
          </a:solidFill>
        </p:spPr>
      </p:sp>
      <p:sp>
        <p:nvSpPr>
          <p:cNvPr id="13" name="change-label-text-1">
            <a:extLst xmlns:a="http://schemas.openxmlformats.org/drawingml/2006/main">
              <a:ext uri="{FF2B5EF4-FFF2-40B4-BE49-F238E27FC236}">
                <a16:creationId xmlns:a16="http://schemas.microsoft.com/office/drawing/2014/main" id="{A7ECC6D0-592B-4145-A5B4-63B4944C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81325"/>
            <a:ext cx="1657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</a:rPr>
              <a:t>设计改变</a:t>
            </a:r>
          </a:p>
        </p:txBody>
      </p:sp>
      <p:sp>
        <p:nvSpPr>
          <p:cNvPr id="14" name="change-line-1">
            <a:extLst xmlns:a="http://schemas.openxmlformats.org/drawingml/2006/main">
              <a:ext uri="{FF2B5EF4-FFF2-40B4-BE49-F238E27FC236}">
                <a16:creationId xmlns:a16="http://schemas.microsoft.com/office/drawing/2014/main" id="{D1FFCC92-B0A2-4480-BD2B-1031EFAE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242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5" name="change-return-1">
            <a:extLst xmlns:a="http://schemas.openxmlformats.org/drawingml/2006/main">
              <a:ext uri="{FF2B5EF4-FFF2-40B4-BE49-F238E27FC236}">
                <a16:creationId xmlns:a16="http://schemas.microsoft.com/office/drawing/2014/main" id="{CCB4EB4C-774F-4F14-A45E-54FFCC4F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432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16" name="change-return-text-1">
            <a:extLst xmlns:a="http://schemas.openxmlformats.org/drawingml/2006/main">
              <a:ext uri="{FF2B5EF4-FFF2-40B4-BE49-F238E27FC236}">
                <a16:creationId xmlns:a16="http://schemas.microsoft.com/office/drawing/2014/main" id="{2D3A7D07-9447-46A7-A139-94B97069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43225"/>
            <a:ext cx="3009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</a:rPr>
              <a:t>重做两级一致性</a:t>
            </a:r>
          </a:p>
        </p:txBody>
      </p:sp>
      <p:sp>
        <p:nvSpPr>
          <p:cNvPr id="17" name="change-line2-1">
            <a:extLst xmlns:a="http://schemas.openxmlformats.org/drawingml/2006/main">
              <a:ext uri="{FF2B5EF4-FFF2-40B4-BE49-F238E27FC236}">
                <a16:creationId xmlns:a16="http://schemas.microsoft.com/office/drawing/2014/main" id="{7DA47FE5-5555-42BE-8CBF-14B2DD58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242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8" name="change-impact-1">
            <a:extLst xmlns:a="http://schemas.openxmlformats.org/drawingml/2006/main">
              <a:ext uri="{FF2B5EF4-FFF2-40B4-BE49-F238E27FC236}">
                <a16:creationId xmlns:a16="http://schemas.microsoft.com/office/drawing/2014/main" id="{7A9EC86A-94D1-4E7E-A5DC-36C6E822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43200"/>
            <a:ext cx="459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19" name="change-impact-text-1">
            <a:extLst xmlns:a="http://schemas.openxmlformats.org/drawingml/2006/main">
              <a:ext uri="{FF2B5EF4-FFF2-40B4-BE49-F238E27FC236}">
                <a16:creationId xmlns:a16="http://schemas.microsoft.com/office/drawing/2014/main" id="{28E7397B-82E8-424E-9246-102BD7F0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43225"/>
            <a:ext cx="4171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5A5A"/>
                </a:solidFill>
              </a:rPr>
              <a:t>更新代码与相关测试规格</a:t>
            </a:r>
          </a:p>
        </p:txBody>
      </p:sp>
      <p:sp>
        <p:nvSpPr>
          <p:cNvPr id="20" name="change-label-2">
            <a:extLst xmlns:a="http://schemas.openxmlformats.org/drawingml/2006/main">
              <a:ext uri="{FF2B5EF4-FFF2-40B4-BE49-F238E27FC236}">
                <a16:creationId xmlns:a16="http://schemas.microsoft.com/office/drawing/2014/main" id="{F5FD95AC-4689-4E4A-95B3-EF7C94B9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323"/>
          </a:solidFill>
        </p:spPr>
      </p:sp>
      <p:sp>
        <p:nvSpPr>
          <p:cNvPr id="21" name="change-label-text-2">
            <a:extLst xmlns:a="http://schemas.openxmlformats.org/drawingml/2006/main">
              <a:ext uri="{FF2B5EF4-FFF2-40B4-BE49-F238E27FC236}">
                <a16:creationId xmlns:a16="http://schemas.microsoft.com/office/drawing/2014/main" id="{101FDC73-26B9-4A1C-9681-1C8EC6F9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29075"/>
            <a:ext cx="1657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</a:rPr>
              <a:t>代码 / 构建改变</a:t>
            </a:r>
          </a:p>
        </p:txBody>
      </p:sp>
      <p:sp>
        <p:nvSpPr>
          <p:cNvPr id="22" name="change-line-2">
            <a:extLst xmlns:a="http://schemas.openxmlformats.org/drawingml/2006/main">
              <a:ext uri="{FF2B5EF4-FFF2-40B4-BE49-F238E27FC236}">
                <a16:creationId xmlns:a16="http://schemas.microsoft.com/office/drawing/2014/main" id="{EDE70FB4-A9E2-479A-8F3E-DFA1ECBD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719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3" name="change-return-2">
            <a:extLst xmlns:a="http://schemas.openxmlformats.org/drawingml/2006/main">
              <a:ext uri="{FF2B5EF4-FFF2-40B4-BE49-F238E27FC236}">
                <a16:creationId xmlns:a16="http://schemas.microsoft.com/office/drawing/2014/main" id="{6A1095F9-C0CD-49B2-98FA-20C2B75A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909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24" name="change-return-text-2">
            <a:extLst xmlns:a="http://schemas.openxmlformats.org/drawingml/2006/main">
              <a:ext uri="{FF2B5EF4-FFF2-40B4-BE49-F238E27FC236}">
                <a16:creationId xmlns:a16="http://schemas.microsoft.com/office/drawing/2014/main" id="{D9CAD3ED-6F9D-4D28-B1A5-01A6F114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90975"/>
            <a:ext cx="3009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</a:rPr>
              <a:t>重做设计—代码一致性</a:t>
            </a:r>
          </a:p>
        </p:txBody>
      </p:sp>
      <p:sp>
        <p:nvSpPr>
          <p:cNvPr id="25" name="change-line2-2">
            <a:extLst xmlns:a="http://schemas.openxmlformats.org/drawingml/2006/main">
              <a:ext uri="{FF2B5EF4-FFF2-40B4-BE49-F238E27FC236}">
                <a16:creationId xmlns:a16="http://schemas.microsoft.com/office/drawing/2014/main" id="{CA1E5860-97A2-4328-87B5-D89BDAF6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6" name="change-impact-2">
            <a:extLst xmlns:a="http://schemas.openxmlformats.org/drawingml/2006/main">
              <a:ext uri="{FF2B5EF4-FFF2-40B4-BE49-F238E27FC236}">
                <a16:creationId xmlns:a16="http://schemas.microsoft.com/office/drawing/2014/main" id="{0D9B80FB-EA2F-4489-BC8F-88A0057B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90950"/>
            <a:ext cx="459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27" name="change-impact-text-2">
            <a:extLst xmlns:a="http://schemas.openxmlformats.org/drawingml/2006/main">
              <a:ext uri="{FF2B5EF4-FFF2-40B4-BE49-F238E27FC236}">
                <a16:creationId xmlns:a16="http://schemas.microsoft.com/office/drawing/2014/main" id="{1B0BBEFF-CCC7-4121-9C89-A68157AB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90975"/>
            <a:ext cx="4171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5A5A"/>
                </a:solidFill>
              </a:rPr>
              <a:t>运行原反例与影响范围回归</a:t>
            </a:r>
          </a:p>
        </p:txBody>
      </p:sp>
      <p:sp>
        <p:nvSpPr>
          <p:cNvPr id="28" name="change-label-3">
            <a:extLst xmlns:a="http://schemas.openxmlformats.org/drawingml/2006/main">
              <a:ext uri="{FF2B5EF4-FFF2-40B4-BE49-F238E27FC236}">
                <a16:creationId xmlns:a16="http://schemas.microsoft.com/office/drawing/2014/main" id="{D4E0C63C-80EE-46DE-9A88-48B89870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323"/>
          </a:solidFill>
        </p:spPr>
      </p:sp>
      <p:sp>
        <p:nvSpPr>
          <p:cNvPr id="29" name="change-label-text-3">
            <a:extLst xmlns:a="http://schemas.openxmlformats.org/drawingml/2006/main">
              <a:ext uri="{FF2B5EF4-FFF2-40B4-BE49-F238E27FC236}">
                <a16:creationId xmlns:a16="http://schemas.microsoft.com/office/drawing/2014/main" id="{A6C33AA3-A4C0-49C1-8042-72CC2F9C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76825"/>
            <a:ext cx="1657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</a:rPr>
              <a:t>测试 / 环境改变</a:t>
            </a:r>
          </a:p>
        </p:txBody>
      </p:sp>
      <p:sp>
        <p:nvSpPr>
          <p:cNvPr id="30" name="change-line-3">
            <a:extLst xmlns:a="http://schemas.openxmlformats.org/drawingml/2006/main">
              <a:ext uri="{FF2B5EF4-FFF2-40B4-BE49-F238E27FC236}">
                <a16:creationId xmlns:a16="http://schemas.microsoft.com/office/drawing/2014/main" id="{03B528D2-9CA8-4730-A5D9-2AA6129F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197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31" name="change-return-3">
            <a:extLst xmlns:a="http://schemas.openxmlformats.org/drawingml/2006/main">
              <a:ext uri="{FF2B5EF4-FFF2-40B4-BE49-F238E27FC236}">
                <a16:creationId xmlns:a16="http://schemas.microsoft.com/office/drawing/2014/main" id="{244F3039-535D-47F5-A690-63EF2256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387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32" name="change-return-text-3">
            <a:extLst xmlns:a="http://schemas.openxmlformats.org/drawingml/2006/main">
              <a:ext uri="{FF2B5EF4-FFF2-40B4-BE49-F238E27FC236}">
                <a16:creationId xmlns:a16="http://schemas.microsoft.com/office/drawing/2014/main" id="{3F3C0076-4F18-4715-A5E6-6A3CC9B9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38725"/>
            <a:ext cx="3009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</a:rPr>
              <a:t>先恢复判据与环境有效性</a:t>
            </a:r>
          </a:p>
        </p:txBody>
      </p:sp>
      <p:sp>
        <p:nvSpPr>
          <p:cNvPr id="33" name="change-line2-3">
            <a:extLst xmlns:a="http://schemas.openxmlformats.org/drawingml/2006/main">
              <a:ext uri="{FF2B5EF4-FFF2-40B4-BE49-F238E27FC236}">
                <a16:creationId xmlns:a16="http://schemas.microsoft.com/office/drawing/2014/main" id="{347888F3-9F7F-4716-A0BA-1638AC2D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197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34" name="change-impact-3">
            <a:extLst xmlns:a="http://schemas.openxmlformats.org/drawingml/2006/main">
              <a:ext uri="{FF2B5EF4-FFF2-40B4-BE49-F238E27FC236}">
                <a16:creationId xmlns:a16="http://schemas.microsoft.com/office/drawing/2014/main" id="{241E4120-928F-4C2F-82BA-7C600F80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38700"/>
            <a:ext cx="459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35" name="change-impact-text-3">
            <a:extLst xmlns:a="http://schemas.openxmlformats.org/drawingml/2006/main">
              <a:ext uri="{FF2B5EF4-FFF2-40B4-BE49-F238E27FC236}">
                <a16:creationId xmlns:a16="http://schemas.microsoft.com/office/drawing/2014/main" id="{4FBBB335-2D24-4B97-AFB6-E0D04D52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38725"/>
            <a:ext cx="4171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5A5A"/>
                </a:solidFill>
              </a:rPr>
              <a:t>保留原结果，再执行受影响用例</a:t>
            </a:r>
          </a:p>
        </p:txBody>
      </p:sp>
      <p:sp>
        <p:nvSpPr>
          <p:cNvPr id="36" name="change-note">
            <a:extLst xmlns:a="http://schemas.openxmlformats.org/drawingml/2006/main">
              <a:ext uri="{FF2B5EF4-FFF2-40B4-BE49-F238E27FC236}">
                <a16:creationId xmlns:a16="http://schemas.microsoft.com/office/drawing/2014/main" id="{D5A97DC1-C430-448B-9E9E-5B0D679F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0"/>
          </a:solidFill>
        </p:spPr>
      </p:sp>
      <p:sp>
        <p:nvSpPr>
          <p:cNvPr id="37" name="change-note-text">
            <a:extLst xmlns:a="http://schemas.openxmlformats.org/drawingml/2006/main">
              <a:ext uri="{FF2B5EF4-FFF2-40B4-BE49-F238E27FC236}">
                <a16:creationId xmlns:a16="http://schemas.microsoft.com/office/drawing/2014/main" id="{F8E8D529-F500-48E4-B2CE-6BAA2D0C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29325"/>
            <a:ext cx="11010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2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05A28"/>
                </a:solidFill>
              </a:rPr>
              <a:t>旧失败、旧基线与被替代证据必须保留，不能被新结果覆盖。</a:t>
            </a:r>
          </a:p>
        </p:txBody>
      </p:sp>
      <p:sp>
        <p:nvSpPr>
          <p:cNvPr id="38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888A58F1-6005-4408-95F7-66ADDFD2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需求驱动的一致性与验证工作流</a:t>
            </a:r>
          </a:p>
        </p:txBody>
      </p:sp>
      <p:sp>
        <p:nvSpPr>
          <p:cNvPr id="39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553673F0-D951-48DF-8042-6FBEC1D0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333922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1">
            <a:extLst xmlns:a="http://schemas.openxmlformats.org/drawingml/2006/main">
              <a:ext uri="{FF2B5EF4-FFF2-40B4-BE49-F238E27FC236}">
                <a16:creationId xmlns:a16="http://schemas.microsoft.com/office/drawing/2014/main" id="{C34FE285-A12E-464A-A150-223E526A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5A28"/>
                </a:solidFill>
              </a:rPr>
              <a:t>需求驱动闭环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CCE35DE3-1FBE-428E-A56B-2337A5B8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</a:rPr>
              <a:t>五项条件同时满足，问题才真正关闭</a:t>
            </a:r>
          </a:p>
        </p:txBody>
      </p:sp>
      <p:sp>
        <p:nvSpPr>
          <p:cNvPr id="3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55F3D9C7-AB5D-4099-967C-EFBFBFC8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close-box-0">
            <a:extLst xmlns:a="http://schemas.openxmlformats.org/drawingml/2006/main">
              <a:ext uri="{FF2B5EF4-FFF2-40B4-BE49-F238E27FC236}">
                <a16:creationId xmlns:a16="http://schemas.microsoft.com/office/drawing/2014/main" id="{6531E34B-EB4D-45C6-8A34-D5070388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2038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5" name="close-n-0">
            <a:extLst xmlns:a="http://schemas.openxmlformats.org/drawingml/2006/main">
              <a:ext uri="{FF2B5EF4-FFF2-40B4-BE49-F238E27FC236}">
                <a16:creationId xmlns:a16="http://schemas.microsoft.com/office/drawing/2014/main" id="{57E426B0-F138-4D9B-9900-1049578D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666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5A28"/>
                </a:solidFill>
              </a:rPr>
              <a:t>01</a:t>
            </a:r>
          </a:p>
        </p:txBody>
      </p:sp>
      <p:sp>
        <p:nvSpPr>
          <p:cNvPr id="6" name="close-h-0">
            <a:extLst xmlns:a="http://schemas.openxmlformats.org/drawingml/2006/main">
              <a:ext uri="{FF2B5EF4-FFF2-40B4-BE49-F238E27FC236}">
                <a16:creationId xmlns:a16="http://schemas.microsoft.com/office/drawing/2014/main" id="{E8D1564F-A85F-4DFA-AAE9-26DCA209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1695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</a:rPr>
              <a:t>决定已批准</a:t>
            </a:r>
          </a:p>
        </p:txBody>
      </p:sp>
      <p:sp>
        <p:nvSpPr>
          <p:cNvPr id="7" name="close-b-0">
            <a:extLst xmlns:a="http://schemas.openxmlformats.org/drawingml/2006/main">
              <a:ext uri="{FF2B5EF4-FFF2-40B4-BE49-F238E27FC236}">
                <a16:creationId xmlns:a16="http://schemas.microsoft.com/office/drawing/2014/main" id="{DA845F49-3F4B-420E-BF62-8A814C8B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1695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5A5A"/>
                </a:solidFill>
              </a:rPr>
              <a:t>有权限、依据和范围</a:t>
            </a:r>
          </a:p>
        </p:txBody>
      </p:sp>
      <p:sp>
        <p:nvSpPr>
          <p:cNvPr id="8" name="close-box-1">
            <a:extLst xmlns:a="http://schemas.openxmlformats.org/drawingml/2006/main">
              <a:ext uri="{FF2B5EF4-FFF2-40B4-BE49-F238E27FC236}">
                <a16:creationId xmlns:a16="http://schemas.microsoft.com/office/drawing/2014/main" id="{8CC1223B-3C82-4B2A-8D26-01A0BB39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857375"/>
            <a:ext cx="2038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9" name="close-n-1">
            <a:extLst xmlns:a="http://schemas.openxmlformats.org/drawingml/2006/main">
              <a:ext uri="{FF2B5EF4-FFF2-40B4-BE49-F238E27FC236}">
                <a16:creationId xmlns:a16="http://schemas.microsoft.com/office/drawing/2014/main" id="{90F8518C-2D04-475A-A016-18577A43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57400"/>
            <a:ext cx="666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5A28"/>
                </a:solidFill>
              </a:rPr>
              <a:t>02</a:t>
            </a:r>
          </a:p>
        </p:txBody>
      </p:sp>
      <p:sp>
        <p:nvSpPr>
          <p:cNvPr id="10" name="close-h-1">
            <a:extLst xmlns:a="http://schemas.openxmlformats.org/drawingml/2006/main">
              <a:ext uri="{FF2B5EF4-FFF2-40B4-BE49-F238E27FC236}">
                <a16:creationId xmlns:a16="http://schemas.microsoft.com/office/drawing/2014/main" id="{A327B962-56E0-4714-9068-120E17A0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819400"/>
            <a:ext cx="1695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</a:rPr>
              <a:t>工件已写回</a:t>
            </a:r>
          </a:p>
        </p:txBody>
      </p:sp>
      <p:sp>
        <p:nvSpPr>
          <p:cNvPr id="11" name="close-b-1">
            <a:extLst xmlns:a="http://schemas.openxmlformats.org/drawingml/2006/main">
              <a:ext uri="{FF2B5EF4-FFF2-40B4-BE49-F238E27FC236}">
                <a16:creationId xmlns:a16="http://schemas.microsoft.com/office/drawing/2014/main" id="{685CAC79-4E9C-4A3F-BAEF-A634F2C4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762375"/>
            <a:ext cx="1695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5A5A"/>
                </a:solidFill>
              </a:rPr>
              <a:t>形成新受控版本</a:t>
            </a:r>
          </a:p>
        </p:txBody>
      </p:sp>
      <p:sp>
        <p:nvSpPr>
          <p:cNvPr id="12" name="close-box-2">
            <a:extLst xmlns:a="http://schemas.openxmlformats.org/drawingml/2006/main">
              <a:ext uri="{FF2B5EF4-FFF2-40B4-BE49-F238E27FC236}">
                <a16:creationId xmlns:a16="http://schemas.microsoft.com/office/drawing/2014/main" id="{A940BD54-7F59-46B0-9651-F0AE6746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57375"/>
            <a:ext cx="2038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13" name="close-n-2">
            <a:extLst xmlns:a="http://schemas.openxmlformats.org/drawingml/2006/main">
              <a:ext uri="{FF2B5EF4-FFF2-40B4-BE49-F238E27FC236}">
                <a16:creationId xmlns:a16="http://schemas.microsoft.com/office/drawing/2014/main" id="{0D167FAD-76A5-40C1-B90A-6ECE314A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57400"/>
            <a:ext cx="666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5A28"/>
                </a:solidFill>
              </a:rPr>
              <a:t>03</a:t>
            </a:r>
          </a:p>
        </p:txBody>
      </p:sp>
      <p:sp>
        <p:nvSpPr>
          <p:cNvPr id="14" name="close-h-2">
            <a:extLst xmlns:a="http://schemas.openxmlformats.org/drawingml/2006/main">
              <a:ext uri="{FF2B5EF4-FFF2-40B4-BE49-F238E27FC236}">
                <a16:creationId xmlns:a16="http://schemas.microsoft.com/office/drawing/2014/main" id="{2BAEED70-E15F-47BB-9C59-9243D180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19400"/>
            <a:ext cx="1695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</a:rPr>
              <a:t>一致性已复查</a:t>
            </a:r>
          </a:p>
        </p:txBody>
      </p:sp>
      <p:sp>
        <p:nvSpPr>
          <p:cNvPr id="15" name="close-b-2">
            <a:extLst xmlns:a="http://schemas.openxmlformats.org/drawingml/2006/main">
              <a:ext uri="{FF2B5EF4-FFF2-40B4-BE49-F238E27FC236}">
                <a16:creationId xmlns:a16="http://schemas.microsoft.com/office/drawing/2014/main" id="{E28B338C-76B4-43D3-A8ED-EA0281D9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62375"/>
            <a:ext cx="1695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5A5A"/>
                </a:solidFill>
              </a:rPr>
              <a:t>上下游基线重新对齐</a:t>
            </a:r>
          </a:p>
        </p:txBody>
      </p:sp>
      <p:sp>
        <p:nvSpPr>
          <p:cNvPr id="16" name="close-box-3">
            <a:extLst xmlns:a="http://schemas.openxmlformats.org/drawingml/2006/main">
              <a:ext uri="{FF2B5EF4-FFF2-40B4-BE49-F238E27FC236}">
                <a16:creationId xmlns:a16="http://schemas.microsoft.com/office/drawing/2014/main" id="{C392F36C-A521-4C22-962B-3AC899B3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857375"/>
            <a:ext cx="2038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17" name="close-n-3">
            <a:extLst xmlns:a="http://schemas.openxmlformats.org/drawingml/2006/main">
              <a:ext uri="{FF2B5EF4-FFF2-40B4-BE49-F238E27FC236}">
                <a16:creationId xmlns:a16="http://schemas.microsoft.com/office/drawing/2014/main" id="{C2853847-A625-42AF-94AF-23F42BBA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57400"/>
            <a:ext cx="666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5A28"/>
                </a:solidFill>
              </a:rPr>
              <a:t>04</a:t>
            </a:r>
          </a:p>
        </p:txBody>
      </p:sp>
      <p:sp>
        <p:nvSpPr>
          <p:cNvPr id="18" name="close-h-3">
            <a:extLst xmlns:a="http://schemas.openxmlformats.org/drawingml/2006/main">
              <a:ext uri="{FF2B5EF4-FFF2-40B4-BE49-F238E27FC236}">
                <a16:creationId xmlns:a16="http://schemas.microsoft.com/office/drawing/2014/main" id="{5644ABB1-7D87-4D63-BDC1-E8A68431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819400"/>
            <a:ext cx="1695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</a:rPr>
              <a:t>原反例已复验</a:t>
            </a:r>
          </a:p>
        </p:txBody>
      </p:sp>
      <p:sp>
        <p:nvSpPr>
          <p:cNvPr id="19" name="close-b-3">
            <a:extLst xmlns:a="http://schemas.openxmlformats.org/drawingml/2006/main">
              <a:ext uri="{FF2B5EF4-FFF2-40B4-BE49-F238E27FC236}">
                <a16:creationId xmlns:a16="http://schemas.microsoft.com/office/drawing/2014/main" id="{CB842785-EFA2-4176-AC01-C72AB3D3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762375"/>
            <a:ext cx="1695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5A5A"/>
                </a:solidFill>
              </a:rPr>
              <a:t>问题不再出现或目标已获准改变</a:t>
            </a:r>
          </a:p>
        </p:txBody>
      </p:sp>
      <p:sp>
        <p:nvSpPr>
          <p:cNvPr id="20" name="close-box-4">
            <a:extLst xmlns:a="http://schemas.openxmlformats.org/drawingml/2006/main">
              <a:ext uri="{FF2B5EF4-FFF2-40B4-BE49-F238E27FC236}">
                <a16:creationId xmlns:a16="http://schemas.microsoft.com/office/drawing/2014/main" id="{0E96EB1A-5F29-4E00-9555-49E2D24F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57375"/>
            <a:ext cx="20383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0"/>
          </a:solidFill>
        </p:spPr>
      </p:sp>
      <p:sp>
        <p:nvSpPr>
          <p:cNvPr id="21" name="close-n-4">
            <a:extLst xmlns:a="http://schemas.openxmlformats.org/drawingml/2006/main">
              <a:ext uri="{FF2B5EF4-FFF2-40B4-BE49-F238E27FC236}">
                <a16:creationId xmlns:a16="http://schemas.microsoft.com/office/drawing/2014/main" id="{29B57062-9528-4123-BEFB-F2262216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57400"/>
            <a:ext cx="666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5A28"/>
                </a:solidFill>
              </a:rPr>
              <a:t>05</a:t>
            </a:r>
          </a:p>
        </p:txBody>
      </p:sp>
      <p:sp>
        <p:nvSpPr>
          <p:cNvPr id="22" name="close-h-4">
            <a:extLst xmlns:a="http://schemas.openxmlformats.org/drawingml/2006/main">
              <a:ext uri="{FF2B5EF4-FFF2-40B4-BE49-F238E27FC236}">
                <a16:creationId xmlns:a16="http://schemas.microsoft.com/office/drawing/2014/main" id="{A5CE8B73-E3C4-42F0-9ED9-27E15D81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19400"/>
            <a:ext cx="1695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</a:rPr>
              <a:t>回归证据有效</a:t>
            </a:r>
          </a:p>
        </p:txBody>
      </p:sp>
      <p:sp>
        <p:nvSpPr>
          <p:cNvPr id="23" name="close-b-4">
            <a:extLst xmlns:a="http://schemas.openxmlformats.org/drawingml/2006/main">
              <a:ext uri="{FF2B5EF4-FFF2-40B4-BE49-F238E27FC236}">
                <a16:creationId xmlns:a16="http://schemas.microsoft.com/office/drawing/2014/main" id="{2193BB31-E17D-40DF-8891-136497FC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62375"/>
            <a:ext cx="1695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5A5A"/>
                </a:solidFill>
              </a:rPr>
              <a:t>残余限制与未覆盖范围已记录</a:t>
            </a:r>
          </a:p>
        </p:txBody>
      </p:sp>
      <p:sp>
        <p:nvSpPr>
          <p:cNvPr id="24" name="close-status-title">
            <a:extLst xmlns:a="http://schemas.openxmlformats.org/drawingml/2006/main">
              <a:ext uri="{FF2B5EF4-FFF2-40B4-BE49-F238E27FC236}">
                <a16:creationId xmlns:a16="http://schemas.microsoft.com/office/drawing/2014/main" id="{A7ACF4D7-DA51-4239-849D-97F3AA29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</a:rPr>
              <a:t>阶段门只表达工程状态，不等于发布或安全批准</a:t>
            </a:r>
          </a:p>
        </p:txBody>
      </p:sp>
      <p:sp>
        <p:nvSpPr>
          <p:cNvPr id="25" name="status-ready">
            <a:extLst xmlns:a="http://schemas.openxmlformats.org/drawingml/2006/main">
              <a:ext uri="{FF2B5EF4-FFF2-40B4-BE49-F238E27FC236}">
                <a16:creationId xmlns:a16="http://schemas.microsoft.com/office/drawing/2014/main" id="{CABC4422-42CF-4682-A67E-4738A24B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9595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323"/>
          </a:solidFill>
        </p:spPr>
      </p:sp>
      <p:sp>
        <p:nvSpPr>
          <p:cNvPr id="26" name="status-limit">
            <a:extLst xmlns:a="http://schemas.openxmlformats.org/drawingml/2006/main">
              <a:ext uri="{FF2B5EF4-FFF2-40B4-BE49-F238E27FC236}">
                <a16:creationId xmlns:a16="http://schemas.microsoft.com/office/drawing/2014/main" id="{11BFE36D-3408-4AB1-BC4F-A50E59E6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6959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</p:spPr>
      </p:sp>
      <p:sp>
        <p:nvSpPr>
          <p:cNvPr id="27" name="status-hold">
            <a:extLst xmlns:a="http://schemas.openxmlformats.org/drawingml/2006/main">
              <a:ext uri="{FF2B5EF4-FFF2-40B4-BE49-F238E27FC236}">
                <a16:creationId xmlns:a16="http://schemas.microsoft.com/office/drawing/2014/main" id="{358D5036-B921-4F71-B37C-23201AD0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6959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</p:spPr>
      </p:sp>
      <p:sp>
        <p:nvSpPr>
          <p:cNvPr id="28" name="status-unknown">
            <a:extLst xmlns:a="http://schemas.openxmlformats.org/drawingml/2006/main">
              <a:ext uri="{FF2B5EF4-FFF2-40B4-BE49-F238E27FC236}">
                <a16:creationId xmlns:a16="http://schemas.microsoft.com/office/drawing/2014/main" id="{9998B3FB-E299-42CB-B5CC-59FE538C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95950"/>
            <a:ext cx="2057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</p:spPr>
      </p:sp>
      <p:sp>
        <p:nvSpPr>
          <p:cNvPr id="29" name="status-ready-t">
            <a:extLst xmlns:a="http://schemas.openxmlformats.org/drawingml/2006/main">
              <a:ext uri="{FF2B5EF4-FFF2-40B4-BE49-F238E27FC236}">
                <a16:creationId xmlns:a16="http://schemas.microsoft.com/office/drawing/2014/main" id="{5ADE66B3-276E-4475-9D9B-BB57CF88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9775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2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</a:rPr>
              <a:t>READY</a:t>
            </a:r>
          </a:p>
        </p:txBody>
      </p:sp>
      <p:sp>
        <p:nvSpPr>
          <p:cNvPr id="30" name="status-limit-t">
            <a:extLst xmlns:a="http://schemas.openxmlformats.org/drawingml/2006/main">
              <a:ext uri="{FF2B5EF4-FFF2-40B4-BE49-F238E27FC236}">
                <a16:creationId xmlns:a16="http://schemas.microsoft.com/office/drawing/2014/main" id="{29DF621E-22A6-477C-90F4-C577374F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19775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2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</a:rPr>
              <a:t>READY_WITH_LIMITS</a:t>
            </a:r>
          </a:p>
        </p:txBody>
      </p:sp>
      <p:sp>
        <p:nvSpPr>
          <p:cNvPr id="31" name="status-hold-t">
            <a:extLst xmlns:a="http://schemas.openxmlformats.org/drawingml/2006/main">
              <a:ext uri="{FF2B5EF4-FFF2-40B4-BE49-F238E27FC236}">
                <a16:creationId xmlns:a16="http://schemas.microsoft.com/office/drawing/2014/main" id="{9696500E-825B-4143-907E-89C4A0B1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819775"/>
            <a:ext cx="144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2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</a:rPr>
              <a:t>HOLD</a:t>
            </a:r>
          </a:p>
        </p:txBody>
      </p:sp>
      <p:sp>
        <p:nvSpPr>
          <p:cNvPr id="32" name="status-unknown-t">
            <a:extLst xmlns:a="http://schemas.openxmlformats.org/drawingml/2006/main">
              <a:ext uri="{FF2B5EF4-FFF2-40B4-BE49-F238E27FC236}">
                <a16:creationId xmlns:a16="http://schemas.microsoft.com/office/drawing/2014/main" id="{A66FD153-C81C-43FC-8C66-3F9608C6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819775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2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</a:rPr>
              <a:t>INDETERMINATE</a:t>
            </a:r>
          </a:p>
        </p:txBody>
      </p:sp>
      <p:sp>
        <p:nvSpPr>
          <p:cNvPr id="33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26BE2673-65FD-400F-8041-40542C00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需求驱动的一致性与验证工作流</a:t>
            </a:r>
          </a:p>
        </p:txBody>
      </p:sp>
      <p:sp>
        <p:nvSpPr>
          <p:cNvPr id="34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41C397DD-466E-4479-B88B-DCCB27A7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468542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2">
            <a:extLst xmlns:a="http://schemas.openxmlformats.org/drawingml/2006/main">
              <a:ext uri="{FF2B5EF4-FFF2-40B4-BE49-F238E27FC236}">
                <a16:creationId xmlns:a16="http://schemas.microsoft.com/office/drawing/2014/main" id="{1570AC9A-4A59-4272-A03C-91F3E26E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5A28"/>
                </a:solidFill>
              </a:rPr>
              <a:t>需求驱动闭环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72FF0C7D-C830-475E-BA3F-557519FF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</a:rPr>
              <a:t>遗留系统先还原“现状设计”，再决定它是否应当成为目标</a:t>
            </a:r>
          </a:p>
        </p:txBody>
      </p:sp>
      <p:sp>
        <p:nvSpPr>
          <p:cNvPr id="3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5B8D3289-4440-431E-9F9B-A9D75808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legacy-1-line">
            <a:extLst xmlns:a="http://schemas.openxmlformats.org/drawingml/2006/main">
              <a:ext uri="{FF2B5EF4-FFF2-40B4-BE49-F238E27FC236}">
                <a16:creationId xmlns:a16="http://schemas.microsoft.com/office/drawing/2014/main" id="{CB699CAF-44C1-45A8-9400-C5CEE924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legacy-1-head">
            <a:extLst xmlns:a="http://schemas.openxmlformats.org/drawingml/2006/main">
              <a:ext uri="{FF2B5EF4-FFF2-40B4-BE49-F238E27FC236}">
                <a16:creationId xmlns:a16="http://schemas.microsoft.com/office/drawing/2014/main" id="{05D84841-79F4-41C4-A51A-B7ED6153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57525"/>
            <a:ext cx="15240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6" name="legacy-2-line">
            <a:extLst xmlns:a="http://schemas.openxmlformats.org/drawingml/2006/main">
              <a:ext uri="{FF2B5EF4-FFF2-40B4-BE49-F238E27FC236}">
                <a16:creationId xmlns:a16="http://schemas.microsoft.com/office/drawing/2014/main" id="{54FD0EA0-FDB9-4B7F-B23E-E4BDB41D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242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7" name="legacy-2-head">
            <a:extLst xmlns:a="http://schemas.openxmlformats.org/drawingml/2006/main">
              <a:ext uri="{FF2B5EF4-FFF2-40B4-BE49-F238E27FC236}">
                <a16:creationId xmlns:a16="http://schemas.microsoft.com/office/drawing/2014/main" id="{DD3AD368-1DB7-493C-9435-9EA1DDDC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57525"/>
            <a:ext cx="15240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8" name="legacy-3-line">
            <a:extLst xmlns:a="http://schemas.openxmlformats.org/drawingml/2006/main">
              <a:ext uri="{FF2B5EF4-FFF2-40B4-BE49-F238E27FC236}">
                <a16:creationId xmlns:a16="http://schemas.microsoft.com/office/drawing/2014/main" id="{D65F4612-02A2-4ADA-9E27-A56455F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242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9" name="legacy-3-head">
            <a:extLst xmlns:a="http://schemas.openxmlformats.org/drawingml/2006/main">
              <a:ext uri="{FF2B5EF4-FFF2-40B4-BE49-F238E27FC236}">
                <a16:creationId xmlns:a16="http://schemas.microsoft.com/office/drawing/2014/main" id="{9810B92A-4C7C-49F0-B653-E77A0DB6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57525"/>
            <a:ext cx="15240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0" name="legacy-code-box">
            <a:extLst xmlns:a="http://schemas.openxmlformats.org/drawingml/2006/main">
              <a:ext uri="{FF2B5EF4-FFF2-40B4-BE49-F238E27FC236}">
                <a16:creationId xmlns:a16="http://schemas.microsoft.com/office/drawing/2014/main" id="{7A3DFFA8-D41E-4253-BE1B-E0AF1657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legacy-code-num">
            <a:extLst xmlns:a="http://schemas.openxmlformats.org/drawingml/2006/main">
              <a:ext uri="{FF2B5EF4-FFF2-40B4-BE49-F238E27FC236}">
                <a16:creationId xmlns:a16="http://schemas.microsoft.com/office/drawing/2014/main" id="{2A89AFE5-6318-4B4A-AC27-F455B393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36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5A5A"/>
                </a:solidFill>
              </a:rPr>
              <a:t>1</a:t>
            </a:r>
          </a:p>
        </p:txBody>
      </p:sp>
      <p:sp>
        <p:nvSpPr>
          <p:cNvPr id="12" name="legacy-code-label">
            <a:extLst xmlns:a="http://schemas.openxmlformats.org/drawingml/2006/main">
              <a:ext uri="{FF2B5EF4-FFF2-40B4-BE49-F238E27FC236}">
                <a16:creationId xmlns:a16="http://schemas.microsoft.com/office/drawing/2014/main" id="{D45C2FD1-C3A7-4D6A-90D4-7023B40C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18288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审查代码是否可可靠说明</a:t>
            </a:r>
          </a:p>
        </p:txBody>
      </p:sp>
      <p:sp>
        <p:nvSpPr>
          <p:cNvPr id="13" name="legacy-doc-box">
            <a:extLst xmlns:a="http://schemas.openxmlformats.org/drawingml/2006/main">
              <a:ext uri="{FF2B5EF4-FFF2-40B4-BE49-F238E27FC236}">
                <a16:creationId xmlns:a16="http://schemas.microsoft.com/office/drawing/2014/main" id="{F9AEDB05-FDE2-4A16-B043-EA005B4D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legacy-doc-num">
            <a:extLst xmlns:a="http://schemas.openxmlformats.org/drawingml/2006/main">
              <a:ext uri="{FF2B5EF4-FFF2-40B4-BE49-F238E27FC236}">
                <a16:creationId xmlns:a16="http://schemas.microsoft.com/office/drawing/2014/main" id="{62A37E6A-61A7-47B9-AE2B-9278A26A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5A5A"/>
                </a:solidFill>
              </a:rPr>
              <a:t>2</a:t>
            </a:r>
          </a:p>
        </p:txBody>
      </p:sp>
      <p:sp>
        <p:nvSpPr>
          <p:cNvPr id="15" name="legacy-doc-label">
            <a:extLst xmlns:a="http://schemas.openxmlformats.org/drawingml/2006/main">
              <a:ext uri="{FF2B5EF4-FFF2-40B4-BE49-F238E27FC236}">
                <a16:creationId xmlns:a16="http://schemas.microsoft.com/office/drawing/2014/main" id="{32E04298-91D4-45B6-9646-A5F04013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62250"/>
            <a:ext cx="18288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生成带证据标签的现状设计</a:t>
            </a:r>
          </a:p>
        </p:txBody>
      </p:sp>
      <p:sp>
        <p:nvSpPr>
          <p:cNvPr id="16" name="legacy-compare-box">
            <a:extLst xmlns:a="http://schemas.openxmlformats.org/drawingml/2006/main">
              <a:ext uri="{FF2B5EF4-FFF2-40B4-BE49-F238E27FC236}">
                <a16:creationId xmlns:a16="http://schemas.microsoft.com/office/drawing/2014/main" id="{91AB8196-C10F-4C50-83C0-B0F1C4B7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CE8E0"/>
          </a:solidFill>
          <a:ln xmlns:a="http://schemas.openxmlformats.org/drawingml/2006/main" w="19050">
            <a:solidFill>
              <a:srgbClr val="F05A28"/>
            </a:solidFill>
            <a:prstDash val="solid"/>
          </a:ln>
        </p:spPr>
      </p:sp>
      <p:sp>
        <p:nvSpPr>
          <p:cNvPr id="17" name="legacy-compare-num">
            <a:extLst xmlns:a="http://schemas.openxmlformats.org/drawingml/2006/main">
              <a:ext uri="{FF2B5EF4-FFF2-40B4-BE49-F238E27FC236}">
                <a16:creationId xmlns:a16="http://schemas.microsoft.com/office/drawing/2014/main" id="{402D3BFE-BC49-4E08-870C-B9641DAD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36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5A28"/>
                </a:solidFill>
              </a:rPr>
              <a:t>3</a:t>
            </a:r>
          </a:p>
        </p:txBody>
      </p:sp>
      <p:sp>
        <p:nvSpPr>
          <p:cNvPr id="18" name="legacy-compare-label">
            <a:extLst xmlns:a="http://schemas.openxmlformats.org/drawingml/2006/main">
              <a:ext uri="{FF2B5EF4-FFF2-40B4-BE49-F238E27FC236}">
                <a16:creationId xmlns:a16="http://schemas.microsoft.com/office/drawing/2014/main" id="{C4EE98DC-DF0C-48D5-9C83-6140ECC4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18288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与需求做双向一致性比对</a:t>
            </a:r>
          </a:p>
        </p:txBody>
      </p:sp>
      <p:sp>
        <p:nvSpPr>
          <p:cNvPr id="19" name="legacy-decide-box">
            <a:extLst xmlns:a="http://schemas.openxmlformats.org/drawingml/2006/main">
              <a:ext uri="{FF2B5EF4-FFF2-40B4-BE49-F238E27FC236}">
                <a16:creationId xmlns:a16="http://schemas.microsoft.com/office/drawing/2014/main" id="{CB47B743-E3CF-472F-B56E-CA745355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6220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legacy-decide-num">
            <a:extLst xmlns:a="http://schemas.openxmlformats.org/drawingml/2006/main">
              <a:ext uri="{FF2B5EF4-FFF2-40B4-BE49-F238E27FC236}">
                <a16:creationId xmlns:a16="http://schemas.microsoft.com/office/drawing/2014/main" id="{BEF71FE9-4C26-477C-9A67-CC7FEA1F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76500"/>
            <a:ext cx="36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A5A5A"/>
                </a:solidFill>
              </a:rPr>
              <a:t>4</a:t>
            </a:r>
          </a:p>
        </p:txBody>
      </p:sp>
      <p:sp>
        <p:nvSpPr>
          <p:cNvPr id="21" name="legacy-decide-label">
            <a:extLst xmlns:a="http://schemas.openxmlformats.org/drawingml/2006/main">
              <a:ext uri="{FF2B5EF4-FFF2-40B4-BE49-F238E27FC236}">
                <a16:creationId xmlns:a16="http://schemas.microsoft.com/office/drawing/2014/main" id="{E5745BA8-4E50-421B-9014-9C8D7AA5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62250"/>
            <a:ext cx="19240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</a:rPr>
              <a:t>人工决定修代码、修文档或补需求</a:t>
            </a:r>
          </a:p>
        </p:txBody>
      </p:sp>
      <p:sp>
        <p:nvSpPr>
          <p:cNvPr id="22" name="legacy-warning">
            <a:extLst xmlns:a="http://schemas.openxmlformats.org/drawingml/2006/main">
              <a:ext uri="{FF2B5EF4-FFF2-40B4-BE49-F238E27FC236}">
                <a16:creationId xmlns:a16="http://schemas.microsoft.com/office/drawing/2014/main" id="{EE254BC2-A593-43B8-BA74-E68C21D7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04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323"/>
          </a:solidFill>
        </p:spPr>
      </p:sp>
      <p:sp>
        <p:nvSpPr>
          <p:cNvPr id="23" name="legacy-warning-text">
            <a:extLst xmlns:a="http://schemas.openxmlformats.org/drawingml/2006/main">
              <a:ext uri="{FF2B5EF4-FFF2-40B4-BE49-F238E27FC236}">
                <a16:creationId xmlns:a16="http://schemas.microsoft.com/office/drawing/2014/main" id="{2AB9D7B6-B27F-4329-88BE-6ED6CE8B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515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</a:rPr>
              <a:t>关键边界：从代码还原出的说明描述的是“当前怎么做”，不自动证明“本来就应该这样做”。</a:t>
            </a:r>
          </a:p>
        </p:txBody>
      </p:sp>
      <p:sp>
        <p:nvSpPr>
          <p:cNvPr id="24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F37BD938-1992-4456-B917-8EAAD4AC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需求驱动的一致性与验证工作流</a:t>
            </a:r>
          </a:p>
        </p:txBody>
      </p:sp>
      <p:sp>
        <p:nvSpPr>
          <p:cNvPr id="25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7F31F0D2-69CD-45C4-A299-786137DA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772069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3">
            <a:extLst xmlns:a="http://schemas.openxmlformats.org/drawingml/2006/main">
              <a:ext uri="{FF2B5EF4-FFF2-40B4-BE49-F238E27FC236}">
                <a16:creationId xmlns:a16="http://schemas.microsoft.com/office/drawing/2014/main" id="{521623AE-EEE0-401B-81E1-ADBAE7F7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5A28"/>
                </a:solidFill>
              </a:rPr>
              <a:t>需求驱动闭环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266EDE60-EF05-4BA0-93E5-DCB8B92F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</a:rPr>
              <a:t>一份工作流记录让不同智能体和团队成员可以接力</a:t>
            </a:r>
          </a:p>
        </p:txBody>
      </p:sp>
      <p:sp>
        <p:nvSpPr>
          <p:cNvPr id="3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9D2706A8-22A3-4060-B0EA-5E3E7F1E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record-intro">
            <a:extLst xmlns:a="http://schemas.openxmlformats.org/drawingml/2006/main">
              <a:ext uri="{FF2B5EF4-FFF2-40B4-BE49-F238E27FC236}">
                <a16:creationId xmlns:a16="http://schemas.microsoft.com/office/drawing/2014/main" id="{336857CF-E18D-45D4-86DE-72031139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858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A5A5A"/>
                </a:solidFill>
              </a:rPr>
              <a:t>核心不是记录更多文字，而是让任何接手者都能回答：现在在哪、依据是什么、下一步由谁做。</a:t>
            </a:r>
          </a:p>
        </p:txBody>
      </p:sp>
      <p:sp>
        <p:nvSpPr>
          <p:cNvPr id="5" name="record-box-0">
            <a:extLst xmlns:a="http://schemas.openxmlformats.org/drawingml/2006/main">
              <a:ext uri="{FF2B5EF4-FFF2-40B4-BE49-F238E27FC236}">
                <a16:creationId xmlns:a16="http://schemas.microsoft.com/office/drawing/2014/main" id="{F3809918-19C8-4253-89A9-2094EAE9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3476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6" name="record-h-0">
            <a:extLst xmlns:a="http://schemas.openxmlformats.org/drawingml/2006/main">
              <a:ext uri="{FF2B5EF4-FFF2-40B4-BE49-F238E27FC236}">
                <a16:creationId xmlns:a16="http://schemas.microsoft.com/office/drawing/2014/main" id="{6E32F0BB-8FB7-4B4C-BB57-854E7AF4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</a:rPr>
              <a:t>阶段门台账</a:t>
            </a:r>
          </a:p>
        </p:txBody>
      </p:sp>
      <p:sp>
        <p:nvSpPr>
          <p:cNvPr id="7" name="record-b-0">
            <a:extLst xmlns:a="http://schemas.openxmlformats.org/drawingml/2006/main">
              <a:ext uri="{FF2B5EF4-FFF2-40B4-BE49-F238E27FC236}">
                <a16:creationId xmlns:a16="http://schemas.microsoft.com/office/drawing/2014/main" id="{E9D9EBA4-7E08-43B9-ADA9-88242B21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5A"/>
                </a:solidFill>
              </a:rPr>
              <a:t>每个阶段的状态、限制与下一动作</a:t>
            </a:r>
          </a:p>
        </p:txBody>
      </p:sp>
      <p:sp>
        <p:nvSpPr>
          <p:cNvPr id="8" name="record-box-1">
            <a:extLst xmlns:a="http://schemas.openxmlformats.org/drawingml/2006/main">
              <a:ext uri="{FF2B5EF4-FFF2-40B4-BE49-F238E27FC236}">
                <a16:creationId xmlns:a16="http://schemas.microsoft.com/office/drawing/2014/main" id="{4DC212B6-BBA9-42C8-B12D-2B406619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86000"/>
            <a:ext cx="3476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9" name="record-h-1">
            <a:extLst xmlns:a="http://schemas.openxmlformats.org/drawingml/2006/main">
              <a:ext uri="{FF2B5EF4-FFF2-40B4-BE49-F238E27FC236}">
                <a16:creationId xmlns:a16="http://schemas.microsoft.com/office/drawing/2014/main" id="{B04B9480-AAE5-49EF-86DB-C0389A99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9555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</a:rPr>
              <a:t>端到端追溯</a:t>
            </a:r>
          </a:p>
        </p:txBody>
      </p:sp>
      <p:sp>
        <p:nvSpPr>
          <p:cNvPr id="10" name="record-b-1">
            <a:extLst xmlns:a="http://schemas.openxmlformats.org/drawingml/2006/main">
              <a:ext uri="{FF2B5EF4-FFF2-40B4-BE49-F238E27FC236}">
                <a16:creationId xmlns:a16="http://schemas.microsoft.com/office/drawing/2014/main" id="{030E230A-BD55-4F26-BC8C-243C5D60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97180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5A"/>
                </a:solidFill>
              </a:rPr>
              <a:t>目标—需求—设计—代码—证据—决定</a:t>
            </a:r>
          </a:p>
        </p:txBody>
      </p:sp>
      <p:sp>
        <p:nvSpPr>
          <p:cNvPr id="11" name="record-box-2">
            <a:extLst xmlns:a="http://schemas.openxmlformats.org/drawingml/2006/main">
              <a:ext uri="{FF2B5EF4-FFF2-40B4-BE49-F238E27FC236}">
                <a16:creationId xmlns:a16="http://schemas.microsoft.com/office/drawing/2014/main" id="{4EF9FEA9-58C1-4DC2-929D-ED8709E8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86000"/>
            <a:ext cx="3476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12" name="record-h-2">
            <a:extLst xmlns:a="http://schemas.openxmlformats.org/drawingml/2006/main">
              <a:ext uri="{FF2B5EF4-FFF2-40B4-BE49-F238E27FC236}">
                <a16:creationId xmlns:a16="http://schemas.microsoft.com/office/drawing/2014/main" id="{B84E1773-0827-48FD-8A85-3F1AB766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9555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</a:rPr>
              <a:t>问题与根因</a:t>
            </a:r>
          </a:p>
        </p:txBody>
      </p:sp>
      <p:sp>
        <p:nvSpPr>
          <p:cNvPr id="13" name="record-b-2">
            <a:extLst xmlns:a="http://schemas.openxmlformats.org/drawingml/2006/main">
              <a:ext uri="{FF2B5EF4-FFF2-40B4-BE49-F238E27FC236}">
                <a16:creationId xmlns:a16="http://schemas.microsoft.com/office/drawing/2014/main" id="{74CE34C7-5FBC-49B2-AE03-63497028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5A"/>
                </a:solidFill>
              </a:rPr>
              <a:t>支持、反对证据和责任人</a:t>
            </a:r>
          </a:p>
        </p:txBody>
      </p:sp>
      <p:sp>
        <p:nvSpPr>
          <p:cNvPr id="14" name="record-box-3">
            <a:extLst xmlns:a="http://schemas.openxmlformats.org/drawingml/2006/main">
              <a:ext uri="{FF2B5EF4-FFF2-40B4-BE49-F238E27FC236}">
                <a16:creationId xmlns:a16="http://schemas.microsoft.com/office/drawing/2014/main" id="{F231F0CF-B44F-4166-BDA5-523C5B29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3476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0"/>
          </a:solidFill>
        </p:spPr>
      </p:sp>
      <p:sp>
        <p:nvSpPr>
          <p:cNvPr id="15" name="record-h-3">
            <a:extLst xmlns:a="http://schemas.openxmlformats.org/drawingml/2006/main">
              <a:ext uri="{FF2B5EF4-FFF2-40B4-BE49-F238E27FC236}">
                <a16:creationId xmlns:a16="http://schemas.microsoft.com/office/drawing/2014/main" id="{A768342F-1EBE-413B-9E21-5989555E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5A28"/>
                </a:solidFill>
              </a:rPr>
              <a:t>人工决定</a:t>
            </a:r>
          </a:p>
        </p:txBody>
      </p:sp>
      <p:sp>
        <p:nvSpPr>
          <p:cNvPr id="16" name="record-b-3">
            <a:extLst xmlns:a="http://schemas.openxmlformats.org/drawingml/2006/main">
              <a:ext uri="{FF2B5EF4-FFF2-40B4-BE49-F238E27FC236}">
                <a16:creationId xmlns:a16="http://schemas.microsoft.com/office/drawing/2014/main" id="{030B9DA0-ADF6-4F7B-A1FA-080DC896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43425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5A"/>
                </a:solidFill>
              </a:rPr>
              <a:t>权限、依据、日期与待写回工件</a:t>
            </a:r>
          </a:p>
        </p:txBody>
      </p:sp>
      <p:sp>
        <p:nvSpPr>
          <p:cNvPr id="17" name="record-box-4">
            <a:extLst xmlns:a="http://schemas.openxmlformats.org/drawingml/2006/main">
              <a:ext uri="{FF2B5EF4-FFF2-40B4-BE49-F238E27FC236}">
                <a16:creationId xmlns:a16="http://schemas.microsoft.com/office/drawing/2014/main" id="{0431FBBF-7C0D-4A6A-A0F7-BE846ED1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57625"/>
            <a:ext cx="3476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18" name="record-h-4">
            <a:extLst xmlns:a="http://schemas.openxmlformats.org/drawingml/2006/main">
              <a:ext uri="{FF2B5EF4-FFF2-40B4-BE49-F238E27FC236}">
                <a16:creationId xmlns:a16="http://schemas.microsoft.com/office/drawing/2014/main" id="{9DEE3FCA-08EB-4BA3-AE46-6CD1046A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67175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</a:rPr>
              <a:t>变更影响</a:t>
            </a:r>
          </a:p>
        </p:txBody>
      </p:sp>
      <p:sp>
        <p:nvSpPr>
          <p:cNvPr id="19" name="record-b-4">
            <a:extLst xmlns:a="http://schemas.openxmlformats.org/drawingml/2006/main">
              <a:ext uri="{FF2B5EF4-FFF2-40B4-BE49-F238E27FC236}">
                <a16:creationId xmlns:a16="http://schemas.microsoft.com/office/drawing/2014/main" id="{AEE4E55E-E3AF-4B56-948D-9087C7AC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43425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5A"/>
                </a:solidFill>
              </a:rPr>
              <a:t>上下游影响、原反例与回归范围</a:t>
            </a:r>
          </a:p>
        </p:txBody>
      </p:sp>
      <p:sp>
        <p:nvSpPr>
          <p:cNvPr id="20" name="record-box-5">
            <a:extLst xmlns:a="http://schemas.openxmlformats.org/drawingml/2006/main">
              <a:ext uri="{FF2B5EF4-FFF2-40B4-BE49-F238E27FC236}">
                <a16:creationId xmlns:a16="http://schemas.microsoft.com/office/drawing/2014/main" id="{23A40C71-4A7E-422C-BD77-B861C9A4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3476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21" name="record-h-5">
            <a:extLst xmlns:a="http://schemas.openxmlformats.org/drawingml/2006/main">
              <a:ext uri="{FF2B5EF4-FFF2-40B4-BE49-F238E27FC236}">
                <a16:creationId xmlns:a16="http://schemas.microsoft.com/office/drawing/2014/main" id="{63092ED5-A57D-4CF1-8DFF-9E503E07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67175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</a:rPr>
              <a:t>关闭检查</a:t>
            </a:r>
          </a:p>
        </p:txBody>
      </p:sp>
      <p:sp>
        <p:nvSpPr>
          <p:cNvPr id="22" name="record-b-5">
            <a:extLst xmlns:a="http://schemas.openxmlformats.org/drawingml/2006/main">
              <a:ext uri="{FF2B5EF4-FFF2-40B4-BE49-F238E27FC236}">
                <a16:creationId xmlns:a16="http://schemas.microsoft.com/office/drawing/2014/main" id="{5291A238-FF73-4DA9-9484-EAB58D6B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43425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5A"/>
                </a:solidFill>
              </a:rPr>
              <a:t>新基线、复验、回归与残余限制</a:t>
            </a:r>
          </a:p>
        </p:txBody>
      </p:sp>
      <p:sp>
        <p:nvSpPr>
          <p:cNvPr id="23" name="record-handoff">
            <a:extLst xmlns:a="http://schemas.openxmlformats.org/drawingml/2006/main">
              <a:ext uri="{FF2B5EF4-FFF2-40B4-BE49-F238E27FC236}">
                <a16:creationId xmlns:a16="http://schemas.microsoft.com/office/drawing/2014/main" id="{F49AAFCC-8AAF-4A17-B188-5170EE4D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323"/>
          </a:solidFill>
        </p:spPr>
      </p:sp>
      <p:sp>
        <p:nvSpPr>
          <p:cNvPr id="24" name="record-handoff-text">
            <a:extLst xmlns:a="http://schemas.openxmlformats.org/drawingml/2006/main">
              <a:ext uri="{FF2B5EF4-FFF2-40B4-BE49-F238E27FC236}">
                <a16:creationId xmlns:a16="http://schemas.microsoft.com/office/drawing/2014/main" id="{D85EB7EA-E981-4F91-AFB2-1970C08B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10896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</a:rPr>
              <a:t>交接最小集：当前阶段 + 已读基线 + 未完成项 + 阻断原因 + 下一步输入</a:t>
            </a:r>
          </a:p>
        </p:txBody>
      </p:sp>
      <p:sp>
        <p:nvSpPr>
          <p:cNvPr id="25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3AA0D17E-5251-49A3-8D7E-582C1EF7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需求驱动的一致性与验证工作流</a:t>
            </a:r>
          </a:p>
        </p:txBody>
      </p:sp>
      <p:sp>
        <p:nvSpPr>
          <p:cNvPr id="26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63F9ACC8-9566-4413-BF04-B62D4AAF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142754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4">
            <a:extLst xmlns:a="http://schemas.openxmlformats.org/drawingml/2006/main">
              <a:ext uri="{FF2B5EF4-FFF2-40B4-BE49-F238E27FC236}">
                <a16:creationId xmlns:a16="http://schemas.microsoft.com/office/drawing/2014/main" id="{FC301F2E-1B2F-45B7-826A-843E855A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5A28"/>
                </a:solidFill>
              </a:rPr>
              <a:t>需求驱动闭环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A790FEBE-7B15-46BC-9671-E747662B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</a:rPr>
              <a:t>从一个边界清楚的功能试点，跑通完整闭环</a:t>
            </a:r>
          </a:p>
        </p:txBody>
      </p:sp>
      <p:sp>
        <p:nvSpPr>
          <p:cNvPr id="3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4E878849-AD18-499B-950B-CED1D3D5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next-lead">
            <a:extLst xmlns:a="http://schemas.openxmlformats.org/drawingml/2006/main">
              <a:ext uri="{FF2B5EF4-FFF2-40B4-BE49-F238E27FC236}">
                <a16:creationId xmlns:a16="http://schemas.microsoft.com/office/drawing/2014/main" id="{A4CB9A4F-C188-413F-8CD6-E2B46945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857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A5A5A"/>
                </a:solidFill>
              </a:rPr>
              <a:t>建议先验证流程能否发现问题、正确分流，并保留完整证据。</a:t>
            </a:r>
          </a:p>
        </p:txBody>
      </p:sp>
      <p:sp>
        <p:nvSpPr>
          <p:cNvPr id="5" name="next-1">
            <a:extLst xmlns:a="http://schemas.openxmlformats.org/drawingml/2006/main">
              <a:ext uri="{FF2B5EF4-FFF2-40B4-BE49-F238E27FC236}">
                <a16:creationId xmlns:a16="http://schemas.microsoft.com/office/drawing/2014/main" id="{4F65006E-3FDE-4AB1-B865-5586F9F7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6" name="next-2">
            <a:extLst xmlns:a="http://schemas.openxmlformats.org/drawingml/2006/main">
              <a:ext uri="{FF2B5EF4-FFF2-40B4-BE49-F238E27FC236}">
                <a16:creationId xmlns:a16="http://schemas.microsoft.com/office/drawing/2014/main" id="{D1AE69C5-3661-49BC-A4EC-829C0CDC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</p:spPr>
      </p:sp>
      <p:sp>
        <p:nvSpPr>
          <p:cNvPr id="7" name="next-3">
            <a:extLst xmlns:a="http://schemas.openxmlformats.org/drawingml/2006/main">
              <a:ext uri="{FF2B5EF4-FFF2-40B4-BE49-F238E27FC236}">
                <a16:creationId xmlns:a16="http://schemas.microsoft.com/office/drawing/2014/main" id="{C1868ECD-A0B3-4EB0-BB7B-AECB8D0F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3362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0"/>
          </a:solidFill>
        </p:spPr>
      </p:sp>
      <p:sp>
        <p:nvSpPr>
          <p:cNvPr id="8" name="next-n1">
            <a:extLst xmlns:a="http://schemas.openxmlformats.org/drawingml/2006/main">
              <a:ext uri="{FF2B5EF4-FFF2-40B4-BE49-F238E27FC236}">
                <a16:creationId xmlns:a16="http://schemas.microsoft.com/office/drawing/2014/main" id="{26210874-5C36-478C-B980-D27075EB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66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05A28"/>
                </a:solidFill>
              </a:rPr>
              <a:t>01</a:t>
            </a:r>
          </a:p>
        </p:txBody>
      </p:sp>
      <p:sp>
        <p:nvSpPr>
          <p:cNvPr id="9" name="next-h1">
            <a:extLst xmlns:a="http://schemas.openxmlformats.org/drawingml/2006/main">
              <a:ext uri="{FF2B5EF4-FFF2-40B4-BE49-F238E27FC236}">
                <a16:creationId xmlns:a16="http://schemas.microsoft.com/office/drawing/2014/main" id="{836DA928-C8F2-42F8-8E60-0EA72119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2667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</a:rPr>
              <a:t>选定试点</a:t>
            </a:r>
          </a:p>
        </p:txBody>
      </p:sp>
      <p:sp>
        <p:nvSpPr>
          <p:cNvPr id="10" name="next-b1">
            <a:extLst xmlns:a="http://schemas.openxmlformats.org/drawingml/2006/main">
              <a:ext uri="{FF2B5EF4-FFF2-40B4-BE49-F238E27FC236}">
                <a16:creationId xmlns:a16="http://schemas.microsoft.com/office/drawing/2014/main" id="{9600AC24-FE53-42BA-AB51-7630892E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266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5A5A"/>
                </a:solidFill>
              </a:rPr>
              <a:t>选择边界、接口和责任人清楚的功能增量。</a:t>
            </a:r>
          </a:p>
        </p:txBody>
      </p:sp>
      <p:sp>
        <p:nvSpPr>
          <p:cNvPr id="11" name="next-n2">
            <a:extLst xmlns:a="http://schemas.openxmlformats.org/drawingml/2006/main">
              <a:ext uri="{FF2B5EF4-FFF2-40B4-BE49-F238E27FC236}">
                <a16:creationId xmlns:a16="http://schemas.microsoft.com/office/drawing/2014/main" id="{9D237E49-D296-4F53-A9C7-16C75889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71750"/>
            <a:ext cx="66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05A28"/>
                </a:solidFill>
              </a:rPr>
              <a:t>02</a:t>
            </a:r>
          </a:p>
        </p:txBody>
      </p:sp>
      <p:sp>
        <p:nvSpPr>
          <p:cNvPr id="12" name="next-h2">
            <a:extLst xmlns:a="http://schemas.openxmlformats.org/drawingml/2006/main">
              <a:ext uri="{FF2B5EF4-FFF2-40B4-BE49-F238E27FC236}">
                <a16:creationId xmlns:a16="http://schemas.microsoft.com/office/drawing/2014/main" id="{3EF81645-2342-48DE-8B77-FAA79113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76600"/>
            <a:ext cx="2667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</a:rPr>
              <a:t>固定基线</a:t>
            </a:r>
          </a:p>
        </p:txBody>
      </p:sp>
      <p:sp>
        <p:nvSpPr>
          <p:cNvPr id="13" name="next-b2">
            <a:extLst xmlns:a="http://schemas.openxmlformats.org/drawingml/2006/main">
              <a:ext uri="{FF2B5EF4-FFF2-40B4-BE49-F238E27FC236}">
                <a16:creationId xmlns:a16="http://schemas.microsoft.com/office/drawing/2014/main" id="{6C76BD94-8279-4320-BD26-A2074D69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886200"/>
            <a:ext cx="266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5A5A"/>
                </a:solidFill>
              </a:rPr>
              <a:t>登记需求、设计、代码、测试、配置和已有证据。</a:t>
            </a:r>
          </a:p>
        </p:txBody>
      </p:sp>
      <p:sp>
        <p:nvSpPr>
          <p:cNvPr id="14" name="next-n3">
            <a:extLst xmlns:a="http://schemas.openxmlformats.org/drawingml/2006/main">
              <a:ext uri="{FF2B5EF4-FFF2-40B4-BE49-F238E27FC236}">
                <a16:creationId xmlns:a16="http://schemas.microsoft.com/office/drawing/2014/main" id="{73E13A5A-F623-4F1F-A1BA-1168D4A5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66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05A28"/>
                </a:solidFill>
              </a:rPr>
              <a:t>03</a:t>
            </a:r>
          </a:p>
        </p:txBody>
      </p:sp>
      <p:sp>
        <p:nvSpPr>
          <p:cNvPr id="15" name="next-h3">
            <a:extLst xmlns:a="http://schemas.openxmlformats.org/drawingml/2006/main">
              <a:ext uri="{FF2B5EF4-FFF2-40B4-BE49-F238E27FC236}">
                <a16:creationId xmlns:a16="http://schemas.microsoft.com/office/drawing/2014/main" id="{235117DA-D6D9-4082-BF89-8997313C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76600"/>
            <a:ext cx="2667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</a:rPr>
              <a:t>设置人工门</a:t>
            </a:r>
          </a:p>
        </p:txBody>
      </p:sp>
      <p:sp>
        <p:nvSpPr>
          <p:cNvPr id="16" name="next-b3">
            <a:extLst xmlns:a="http://schemas.openxmlformats.org/drawingml/2006/main">
              <a:ext uri="{FF2B5EF4-FFF2-40B4-BE49-F238E27FC236}">
                <a16:creationId xmlns:a16="http://schemas.microsoft.com/office/drawing/2014/main" id="{5DB0DC68-6E41-43B7-901B-1F2E3842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86200"/>
            <a:ext cx="266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5A5A"/>
                </a:solidFill>
              </a:rPr>
              <a:t>先明确谁能批准需求、变更、风险和阶段放行。</a:t>
            </a:r>
          </a:p>
        </p:txBody>
      </p:sp>
      <p:sp>
        <p:nvSpPr>
          <p:cNvPr id="17" name="next-final">
            <a:extLst xmlns:a="http://schemas.openxmlformats.org/drawingml/2006/main">
              <a:ext uri="{FF2B5EF4-FFF2-40B4-BE49-F238E27FC236}">
                <a16:creationId xmlns:a16="http://schemas.microsoft.com/office/drawing/2014/main" id="{149B8525-D20D-4325-AF90-D035B6A7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323"/>
          </a:solidFill>
        </p:spPr>
      </p:sp>
      <p:sp>
        <p:nvSpPr>
          <p:cNvPr id="18" name="next-final-text">
            <a:extLst xmlns:a="http://schemas.openxmlformats.org/drawingml/2006/main">
              <a:ext uri="{FF2B5EF4-FFF2-40B4-BE49-F238E27FC236}">
                <a16:creationId xmlns:a16="http://schemas.microsoft.com/office/drawing/2014/main" id="{F2351CCB-B85A-45C5-A159-B136A218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</a:rPr>
              <a:t>成功标准：每个结论有边界，每个问题有去向，每次变更有决定，每次关闭有证据。</a:t>
            </a:r>
          </a:p>
        </p:txBody>
      </p:sp>
      <p:sp>
        <p:nvSpPr>
          <p:cNvPr id="19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61B4ED3F-83B2-44BA-A033-DF504D56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需求驱动的一致性与验证工作流</a:t>
            </a:r>
          </a:p>
        </p:txBody>
      </p:sp>
      <p:sp>
        <p:nvSpPr>
          <p:cNvPr id="20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A9F94819-3C7E-4776-B9BE-07875A07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A5A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490306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2026-10-24T13:02:18.3740000Z</dcterms:created>
  <dcterms:modified xsi:type="dcterms:W3CDTF">2026-10-24T13:02:18.3740000Z</dcterms:modified>
</coreProperties>
</file>