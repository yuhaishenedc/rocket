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a644325fd34697" /><Relationship Type="http://schemas.openxmlformats.org/officeDocument/2006/relationships/extended-properties" Target="/docProps/app.xml" Id="Raf5a26d74e7f406f" /><Relationship Type="http://schemas.openxmlformats.org/officeDocument/2006/relationships/officeDocument" Target="/ppt/presentation.xml" Id="R761c7a27274649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279bb864a84921"/>
  </p:sldMasterIdLst>
  <p:notesMasterIdLst>
    <p:notesMasterId xmlns:r="http://schemas.openxmlformats.org/officeDocument/2006/relationships" r:id="Rf3264f0297a546fe"/>
  </p:notesMasterIdLst>
  <p:sldIdLst>
    <p:sldId xmlns:r="http://schemas.openxmlformats.org/officeDocument/2006/relationships" id="256" r:id="R699b973c52364b9b"/>
    <p:sldId xmlns:r="http://schemas.openxmlformats.org/officeDocument/2006/relationships" id="257" r:id="R5d336d61e6444713"/>
    <p:sldId xmlns:r="http://schemas.openxmlformats.org/officeDocument/2006/relationships" id="258" r:id="R135154d4b006451c"/>
    <p:sldId xmlns:r="http://schemas.openxmlformats.org/officeDocument/2006/relationships" id="259" r:id="R6d889089f09e47e2"/>
    <p:sldId xmlns:r="http://schemas.openxmlformats.org/officeDocument/2006/relationships" id="260" r:id="R205c4087d7274044"/>
    <p:sldId xmlns:r="http://schemas.openxmlformats.org/officeDocument/2006/relationships" id="261" r:id="R21ee31f0449d4fc0"/>
    <p:sldId xmlns:r="http://schemas.openxmlformats.org/officeDocument/2006/relationships" id="262" r:id="R9a6e82e963f84dfc"/>
    <p:sldId xmlns:r="http://schemas.openxmlformats.org/officeDocument/2006/relationships" id="263" r:id="R0c94df394b544af1"/>
    <p:sldId xmlns:r="http://schemas.openxmlformats.org/officeDocument/2006/relationships" id="264" r:id="R575e0e9a1cb14eeb"/>
    <p:sldId xmlns:r="http://schemas.openxmlformats.org/officeDocument/2006/relationships" id="265" r:id="R20c7aeb118684bdd"/>
    <p:sldId xmlns:r="http://schemas.openxmlformats.org/officeDocument/2006/relationships" id="266" r:id="R3caa6fa74c6e45d1"/>
    <p:sldId xmlns:r="http://schemas.openxmlformats.org/officeDocument/2006/relationships" id="267" r:id="R5132b8891cc24c7f"/>
    <p:sldId xmlns:r="http://schemas.openxmlformats.org/officeDocument/2006/relationships" id="268" r:id="Rae4dd926450e4a64"/>
    <p:sldId xmlns:r="http://schemas.openxmlformats.org/officeDocument/2006/relationships" id="269" r:id="R5fb7613b5df6425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ab800b057d46e6" /><Relationship Type="http://schemas.openxmlformats.org/officeDocument/2006/relationships/slideMaster" Target="/ppt/slideMasters/slideMaster1.xml" Id="R0b279bb864a84921" /><Relationship Type="http://schemas.openxmlformats.org/officeDocument/2006/relationships/notesMaster" Target="/ppt/notesMasters/notesMaster1.xml" Id="Rf3264f0297a546fe" /><Relationship Type="http://schemas.openxmlformats.org/officeDocument/2006/relationships/presProps" Target="/ppt/presProps.xml" Id="R62d2a7a3936748a1" /><Relationship Type="http://schemas.openxmlformats.org/officeDocument/2006/relationships/tableStyles" Target="/ppt/tableStyles.xml" Id="R466d8b0c7d9040a2" /><Relationship Type="http://schemas.openxmlformats.org/officeDocument/2006/relationships/slide" Target="/ppt/slides/slide1.xml" Id="R699b973c52364b9b" /><Relationship Type="http://schemas.openxmlformats.org/officeDocument/2006/relationships/slide" Target="/ppt/slides/slide2.xml" Id="R5d336d61e6444713" /><Relationship Type="http://schemas.openxmlformats.org/officeDocument/2006/relationships/slide" Target="/ppt/slides/slide3.xml" Id="R135154d4b006451c" /><Relationship Type="http://schemas.openxmlformats.org/officeDocument/2006/relationships/slide" Target="/ppt/slides/slide4.xml" Id="R6d889089f09e47e2" /><Relationship Type="http://schemas.openxmlformats.org/officeDocument/2006/relationships/slide" Target="/ppt/slides/slide5.xml" Id="R205c4087d7274044" /><Relationship Type="http://schemas.openxmlformats.org/officeDocument/2006/relationships/slide" Target="/ppt/slides/slide6.xml" Id="R21ee31f0449d4fc0" /><Relationship Type="http://schemas.openxmlformats.org/officeDocument/2006/relationships/slide" Target="/ppt/slides/slide7.xml" Id="R9a6e82e963f84dfc" /><Relationship Type="http://schemas.openxmlformats.org/officeDocument/2006/relationships/slide" Target="/ppt/slides/slide8.xml" Id="R0c94df394b544af1" /><Relationship Type="http://schemas.openxmlformats.org/officeDocument/2006/relationships/slide" Target="/ppt/slides/slide9.xml" Id="R575e0e9a1cb14eeb" /><Relationship Type="http://schemas.openxmlformats.org/officeDocument/2006/relationships/slide" Target="/ppt/slides/slide10.xml" Id="R20c7aeb118684bdd" /><Relationship Type="http://schemas.openxmlformats.org/officeDocument/2006/relationships/slide" Target="/ppt/slides/slide11.xml" Id="R3caa6fa74c6e45d1" /><Relationship Type="http://schemas.openxmlformats.org/officeDocument/2006/relationships/slide" Target="/ppt/slides/slide12.xml" Id="R5132b8891cc24c7f" /><Relationship Type="http://schemas.openxmlformats.org/officeDocument/2006/relationships/slide" Target="/ppt/slides/slide13.xml" Id="Rae4dd926450e4a64" /><Relationship Type="http://schemas.openxmlformats.org/officeDocument/2006/relationships/slide" Target="/ppt/slides/slide14.xml" Id="R5fb7613b5df642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4e5524b2b346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5652229ab54390" /><Relationship Type="http://schemas.openxmlformats.org/officeDocument/2006/relationships/notesMaster" Target="/ppt/notesMasters/notesMaster1.xml" Id="Rd5d9d244fff745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2b3025f24d4e12" /><Relationship Type="http://schemas.openxmlformats.org/officeDocument/2006/relationships/notesMaster" Target="/ppt/notesMasters/notesMaster1.xml" Id="R732c7e996b4e48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8df15ec0464ba3" /><Relationship Type="http://schemas.openxmlformats.org/officeDocument/2006/relationships/notesMaster" Target="/ppt/notesMasters/notesMaster1.xml" Id="R3190a37d4c7b46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0a737cd34d4f60" /><Relationship Type="http://schemas.openxmlformats.org/officeDocument/2006/relationships/notesMaster" Target="/ppt/notesMasters/notesMaster1.xml" Id="R9459734d4aed4f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241273f48d41ed" /><Relationship Type="http://schemas.openxmlformats.org/officeDocument/2006/relationships/notesMaster" Target="/ppt/notesMasters/notesMaster1.xml" Id="R3df43624701d48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c86d546d4f4e72" /><Relationship Type="http://schemas.openxmlformats.org/officeDocument/2006/relationships/notesMaster" Target="/ppt/notesMasters/notesMaster1.xml" Id="R139a6e7aa23e47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4313d444004ab4" /><Relationship Type="http://schemas.openxmlformats.org/officeDocument/2006/relationships/notesMaster" Target="/ppt/notesMasters/notesMaster1.xml" Id="Rd160dd9b338247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b5d17ae51c41b8" /><Relationship Type="http://schemas.openxmlformats.org/officeDocument/2006/relationships/notesMaster" Target="/ppt/notesMasters/notesMaster1.xml" Id="R5d5ab4b3912543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51bd8853a14b05" /><Relationship Type="http://schemas.openxmlformats.org/officeDocument/2006/relationships/notesMaster" Target="/ppt/notesMasters/notesMaster1.xml" Id="Rceab48fa12de40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7f3a7838b6496e" /><Relationship Type="http://schemas.openxmlformats.org/officeDocument/2006/relationships/notesMaster" Target="/ppt/notesMasters/notesMaster1.xml" Id="Rcc29b88cf48f46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13eea61a2f48e7" /><Relationship Type="http://schemas.openxmlformats.org/officeDocument/2006/relationships/notesMaster" Target="/ppt/notesMasters/notesMaster1.xml" Id="R58706ad6501e46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8c5a9a716344d9" /><Relationship Type="http://schemas.openxmlformats.org/officeDocument/2006/relationships/notesMaster" Target="/ppt/notesMasters/notesMaster1.xml" Id="Rfa32bc7c0a3c440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83de76d3e74f11" /><Relationship Type="http://schemas.openxmlformats.org/officeDocument/2006/relationships/notesMaster" Target="/ppt/notesMasters/notesMaster1.xml" Id="R102e5702bdbf4f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8cc76864c474736" /><Relationship Type="http://schemas.openxmlformats.org/officeDocument/2006/relationships/notesMaster" Target="/ppt/notesMasters/notesMaster1.xml" Id="R850db2f0c51346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汇报主题是对初始方案和持续变更保持连续的质量保障。AI 与人协作是实施机制，不是独立于质量链的另一主题。方法不能承诺绝对零缺陷，结论必须限定在证据与适用条件内。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方案合理性、层间一致性和运行满足性是三种不同的判断。测试通过不能证明需求合理，文档一致不能证明运行正确，批准本身不能替代证据。后续展开四个推进环节及回溯机制。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正向链的四个环节依次提供后续输入。返回箭头表示反馈机制，不表示所有变更都回到起点：应依据影响分析返回最早受影响环节。后续第 4 至 7 页解释正向链，第 8 至 10 页解释变更闭环，第 11 至 13 页解释贯穿机制。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提取需求义务、冲突和未知并整理候选方案；人确认目标、领域依据与关键取舍。正式基线包含版本、范围、配置、验收条件及决定记录。关键未知未解决时，仅可推进已证明独立的范围。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两级一致性检查验证需求到设计、设计到实现的语义传递。名称或编号匹配不等于一致，必须比较前提、边界、异常和结果。箭头为双向核验关系；图下的横向核验补充组件之间的组合正确性。AI 维护映射并发现偏差，人处理关键语义与派生约束。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验证规划随基线和设计提前展开，并非全部实现完成后才开始。单元、集成和系统验证覆盖不同义务，必要时需要静态分析、资源分析及领域方法。AI 可以生成和执行获准检查；人审查判据独立性与证据充分性。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受限推进仅限可以证明独立且经授权接受限制的范围。发布批准需由相应责任人按项目规则作出。证据不足不能写成通过，人工确认也不能替代缺失的执行证据。接下来讨论变更如何重新进入同一条质量链。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影响分析是决定修改和回归范围的前提。应追踪需求、设计、代码、参数、依赖、构建及历史证据；追溯缺失不是无影响，应补齐关系或扩大检查。AI 提供差异和影响清单，人确认关键改变与尚未消除的未知。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实现或配置变化也可能暴露上游需求与设计变化，此时应向前扩展回溯。表中的行表示影响已确定后的最早复查点，而不是固定豁免。判据变化也需要受控依据，保留原结果及其不再适用的原因。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修订对象由原因和意图共同决定，不能默认所有失败都由代码修复。AI 整理证据、候选原因、选项及影响，人确认关键取舍。缺少区分证据时继续定位，不应为消除失败擅自放宽需求或测试判据。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最大化协作不意味着每一步都请求确认，也不意味着 AI 自行扩展授权。先明确任务范围、规则与权限，再持续执行。人工决策写入受控基线后才成为后续依据。人机双方均需提供可复核的证据与记录。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独立性应体现在判据来源、方法和证据，而非仅更换角色名称。同一智能体换身份、多个智能体输出一致或人工赞同，不自动构成独立证明。应按风险安排有相应能力与独立性的人员或验证活动复核。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共享记录是逻辑上的统一来源，不要求使用特定平台或全部存放在一个文件。记录须可访问、可定位、可版本化。接手者复核材料与证据，不能只继承上一智能体的完成标签。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将方法固化为每个环节的输入、输出、验证义务、推进条件和责任。持续追踪证据缺口、未闭问题、返工及决策负担，调整自动化与独立审查强度。方法目标是降低遗漏和质量风险，不是仅提高检查数量或通过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f3ee3eebbc47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8b60fa76f947c2" /><Relationship Type="http://schemas.openxmlformats.org/officeDocument/2006/relationships/slideLayout" Target="/ppt/slideLayouts/slideLayout1.xml" Id="Re40cd9980b984f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0cd9980b984f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c166ef5cd4f7a" /><Relationship Type="http://schemas.openxmlformats.org/officeDocument/2006/relationships/notesSlide" Target="/ppt/notesSlides/notesSlide1.xml" Id="R3c8c4d22ffb743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69abfd4c946f8" /><Relationship Type="http://schemas.openxmlformats.org/officeDocument/2006/relationships/notesSlide" Target="/ppt/notesSlides/notesSlide2.xml" Id="R1b3c6495bf6f42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8cadd3b514569" /><Relationship Type="http://schemas.openxmlformats.org/officeDocument/2006/relationships/notesSlide" Target="/ppt/notesSlides/notesSlide3.xml" Id="R514303e7704248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f44dc5c144979" /><Relationship Type="http://schemas.openxmlformats.org/officeDocument/2006/relationships/notesSlide" Target="/ppt/notesSlides/notesSlide4.xml" Id="R5fe6efc8188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399a2793346d5" /><Relationship Type="http://schemas.openxmlformats.org/officeDocument/2006/relationships/notesSlide" Target="/ppt/notesSlides/notesSlide5.xml" Id="Rf7fdead38a1f4c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3835b734d47ad" /><Relationship Type="http://schemas.openxmlformats.org/officeDocument/2006/relationships/notesSlide" Target="/ppt/notesSlides/notesSlide6.xml" Id="Re13ce713e3814f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dfd289ccc4111" /><Relationship Type="http://schemas.openxmlformats.org/officeDocument/2006/relationships/notesSlide" Target="/ppt/notesSlides/notesSlide7.xml" Id="Rc29422c3aac342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24b667ec94f9b" /><Relationship Type="http://schemas.openxmlformats.org/officeDocument/2006/relationships/notesSlide" Target="/ppt/notesSlides/notesSlide8.xml" Id="R625a8409bbe241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e90b73ea64347" /><Relationship Type="http://schemas.openxmlformats.org/officeDocument/2006/relationships/notesSlide" Target="/ppt/notesSlides/notesSlide9.xml" Id="R7acce74614494a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5a9f84dba4135" /><Relationship Type="http://schemas.openxmlformats.org/officeDocument/2006/relationships/notesSlide" Target="/ppt/notesSlides/notesSlide10.xml" Id="R5b0c353eb09744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ce94ca1464735" /><Relationship Type="http://schemas.openxmlformats.org/officeDocument/2006/relationships/notesSlide" Target="/ppt/notesSlides/notesSlide11.xml" Id="R2c104c668ba849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8a692cfe5443a" /><Relationship Type="http://schemas.openxmlformats.org/officeDocument/2006/relationships/notesSlide" Target="/ppt/notesSlides/notesSlide12.xml" Id="R427e28195eee40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57e0698064d0b" /><Relationship Type="http://schemas.openxmlformats.org/officeDocument/2006/relationships/notesSlide" Target="/ppt/notesSlides/notesSlide13.xml" Id="R9e478e3dd6cc46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459983cf64ac8" /><Relationship Type="http://schemas.openxmlformats.org/officeDocument/2006/relationships/notesSlide" Target="/ppt/notesSlides/notesSlide14.xml" Id="R800c4ef62d9746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782C16E9-1187-4B8A-A2DB-D00F4297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B35F1610-530F-4D4B-8DDC-2617F54F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软件质量的连续保障</a:t>
            </a:r>
          </a:p>
        </p:txBody>
      </p:sp>
      <p:sp>
        <p:nvSpPr>
          <p:cNvPr id="3" name="01 / 14">
            <a:extLst xmlns:a="http://schemas.openxmlformats.org/drawingml/2006/main">
              <a:ext uri="{FF2B5EF4-FFF2-40B4-BE49-F238E27FC236}">
                <a16:creationId xmlns:a16="http://schemas.microsoft.com/office/drawing/2014/main" id="{F55288BB-F40A-4113-8A47-7E0D8055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01 / 14</a:t>
            </a:r>
          </a:p>
        </p:txBody>
      </p:sp>
      <p:sp>
        <p:nvSpPr>
          <p:cNvPr id="4" name="软件工程方法论">
            <a:extLst xmlns:a="http://schemas.openxmlformats.org/drawingml/2006/main">
              <a:ext uri="{FF2B5EF4-FFF2-40B4-BE49-F238E27FC236}">
                <a16:creationId xmlns:a16="http://schemas.microsoft.com/office/drawing/2014/main" id="{9AB87EB1-5A69-49F6-86B0-EA2E0892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525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DDED0"/>
                </a:solidFill>
              </a:rPr>
              <a:t>软件工程方法论</a:t>
            </a:r>
          </a:p>
        </p:txBody>
      </p:sp>
      <p:sp>
        <p:nvSpPr>
          <p:cNvPr id="5" name="软件质量的&#10;连续保障">
            <a:extLst xmlns:a="http://schemas.openxmlformats.org/drawingml/2006/main">
              <a:ext uri="{FF2B5EF4-FFF2-40B4-BE49-F238E27FC236}">
                <a16:creationId xmlns:a16="http://schemas.microsoft.com/office/drawing/2014/main" id="{7C4BBC10-83E8-470A-A067-FF32B421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477500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1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7F6F1"/>
                </a:solidFill>
              </a:rPr>
              <a:t>软件质量的
连续保障</a:t>
            </a:r>
          </a:p>
        </p:txBody>
      </p:sp>
      <p:sp>
        <p:nvSpPr>
          <p:cNvPr id="6" name="初始方案与持续变更的人机协同方法">
            <a:extLst xmlns:a="http://schemas.openxmlformats.org/drawingml/2006/main">
              <a:ext uri="{FF2B5EF4-FFF2-40B4-BE49-F238E27FC236}">
                <a16:creationId xmlns:a16="http://schemas.microsoft.com/office/drawing/2014/main" id="{616CA931-E3D5-460B-B8C6-6379A636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0477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B8CBCF"/>
                </a:solidFill>
              </a:rPr>
              <a:t>初始方案与持续变更的人机协同方法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05DC8FF-44E3-4971-ABF7-ADB0A8CD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8" name="方案确立">
            <a:extLst xmlns:a="http://schemas.openxmlformats.org/drawingml/2006/main">
              <a:ext uri="{FF2B5EF4-FFF2-40B4-BE49-F238E27FC236}">
                <a16:creationId xmlns:a16="http://schemas.microsoft.com/office/drawing/2014/main" id="{CAA83C4C-81D2-4180-9728-677E15B4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2333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7F6F1"/>
                </a:solidFill>
              </a:rPr>
              <a:t>方案确立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1D964659-B2FA-4E8F-9F44-99FA5BFF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334000"/>
            <a:ext cx="609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10" name="逐层落实">
            <a:extLst xmlns:a="http://schemas.openxmlformats.org/drawingml/2006/main">
              <a:ext uri="{FF2B5EF4-FFF2-40B4-BE49-F238E27FC236}">
                <a16:creationId xmlns:a16="http://schemas.microsoft.com/office/drawing/2014/main" id="{CE9EC615-3F66-4C7A-A571-C2DE3C65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91125"/>
            <a:ext cx="2333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7F6F1"/>
                </a:solidFill>
              </a:rPr>
              <a:t>逐层落实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F27F7FD1-51EC-4AF8-A969-57C2C0C8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334000"/>
            <a:ext cx="609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12" name="验证交付">
            <a:extLst xmlns:a="http://schemas.openxmlformats.org/drawingml/2006/main">
              <a:ext uri="{FF2B5EF4-FFF2-40B4-BE49-F238E27FC236}">
                <a16:creationId xmlns:a16="http://schemas.microsoft.com/office/drawing/2014/main" id="{FFAB104E-FEF3-465E-8B5D-4CB55C9E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91125"/>
            <a:ext cx="2333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7F6F1"/>
                </a:solidFill>
              </a:rPr>
              <a:t>验证交付</a:t>
            </a:r>
          </a:p>
        </p:txBody>
      </p:sp>
      <p:sp>
        <p:nvSpPr>
          <p:cNvPr id="13" name="变更与反馈贯穿全程">
            <a:extLst xmlns:a="http://schemas.openxmlformats.org/drawingml/2006/main">
              <a:ext uri="{FF2B5EF4-FFF2-40B4-BE49-F238E27FC236}">
                <a16:creationId xmlns:a16="http://schemas.microsoft.com/office/drawing/2014/main" id="{BF8D9666-CE65-4533-A435-6FD0F936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DDED0"/>
                </a:solidFill>
              </a:rPr>
              <a:t>变更与反馈贯穿全程</a:t>
            </a:r>
          </a:p>
        </p:txBody>
      </p:sp>
    </p:spTree>
    <p:extLst>
      <p:ext uri="{BB962C8B-B14F-4D97-AF65-F5344CB8AC3E}">
        <p14:creationId xmlns:p14="http://schemas.microsoft.com/office/powerpoint/2010/main" val="4612163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289ED8BC-EFA5-40B4-8691-5F9523C5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F063D8E3-FBD2-4DA2-A35B-F414CB84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2 / 14">
            <a:extLst xmlns:a="http://schemas.openxmlformats.org/drawingml/2006/main">
              <a:ext uri="{FF2B5EF4-FFF2-40B4-BE49-F238E27FC236}">
                <a16:creationId xmlns:a16="http://schemas.microsoft.com/office/drawing/2014/main" id="{2E85327B-1485-4A61-A88F-90964C38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02 / 14</a:t>
            </a:r>
          </a:p>
        </p:txBody>
      </p:sp>
      <p:sp>
        <p:nvSpPr>
          <p:cNvPr id="4" name="方法框架 / 质量目标">
            <a:extLst xmlns:a="http://schemas.openxmlformats.org/drawingml/2006/main">
              <a:ext uri="{FF2B5EF4-FFF2-40B4-BE49-F238E27FC236}">
                <a16:creationId xmlns:a16="http://schemas.microsoft.com/office/drawing/2014/main" id="{70D369B6-D558-4943-8209-C41947D0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方法框架 / 质量目标</a:t>
            </a:r>
          </a:p>
        </p:txBody>
      </p:sp>
      <p:sp>
        <p:nvSpPr>
          <p:cNvPr id="5" name="质量成立，需要三类判断共同支撑">
            <a:extLst xmlns:a="http://schemas.openxmlformats.org/drawingml/2006/main">
              <a:ext uri="{FF2B5EF4-FFF2-40B4-BE49-F238E27FC236}">
                <a16:creationId xmlns:a16="http://schemas.microsoft.com/office/drawing/2014/main" id="{02772085-6E42-4318-BF62-C9ABC301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质量成立，需要三类判断共同支撑</a:t>
            </a:r>
          </a:p>
        </p:txBody>
      </p:sp>
      <p:sp>
        <p:nvSpPr>
          <p:cNvPr id="6" name="前一类判断为后一类提供依据，任何一类都不能被其他结果替代。">
            <a:extLst xmlns:a="http://schemas.openxmlformats.org/drawingml/2006/main">
              <a:ext uri="{FF2B5EF4-FFF2-40B4-BE49-F238E27FC236}">
                <a16:creationId xmlns:a16="http://schemas.microsoft.com/office/drawing/2014/main" id="{3D748654-5887-491F-840C-F7FB3859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前一类判断为后一类提供依据，任何一类都不能被其他结果替代。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FA4D3BBD-7EDB-4EBD-85E7-C22CF375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85750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8" name="flow-arrow">
            <a:extLst xmlns:a="http://schemas.openxmlformats.org/drawingml/2006/main">
              <a:ext uri="{FF2B5EF4-FFF2-40B4-BE49-F238E27FC236}">
                <a16:creationId xmlns:a16="http://schemas.microsoft.com/office/drawing/2014/main" id="{7F34FF3B-F87C-498D-907A-464B4FFD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85750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9E727F0B-9549-4ECE-90A2-B8F0270F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007F78"/>
                </a:solidFill>
              </a:rPr>
              <a:t>01</a:t>
            </a:r>
          </a:p>
        </p:txBody>
      </p:sp>
      <p:sp>
        <p:nvSpPr>
          <p:cNvPr id="10" name="方案合理">
            <a:extLst xmlns:a="http://schemas.openxmlformats.org/drawingml/2006/main">
              <a:ext uri="{FF2B5EF4-FFF2-40B4-BE49-F238E27FC236}">
                <a16:creationId xmlns:a16="http://schemas.microsoft.com/office/drawing/2014/main" id="{39F8E8B7-067B-4FA8-B47B-06404AAF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323E"/>
                </a:solidFill>
              </a:rPr>
              <a:t>方案合理</a:t>
            </a:r>
          </a:p>
        </p:txBody>
      </p:sp>
      <p:sp>
        <p:nvSpPr>
          <p:cNvPr id="11" name="目标值得实现，约束可满足">
            <a:extLst xmlns:a="http://schemas.openxmlformats.org/drawingml/2006/main">
              <a:ext uri="{FF2B5EF4-FFF2-40B4-BE49-F238E27FC236}">
                <a16:creationId xmlns:a16="http://schemas.microsoft.com/office/drawing/2014/main" id="{9F6165D9-C567-4291-BAC0-F9540763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1242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F7278"/>
                </a:solidFill>
              </a:rPr>
              <a:t>目标值得实现，约束可满足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664810F9-6DD2-4654-9568-D8ADBC4B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3" name="形成可验证的需求依据">
            <a:extLst xmlns:a="http://schemas.openxmlformats.org/drawingml/2006/main">
              <a:ext uri="{FF2B5EF4-FFF2-40B4-BE49-F238E27FC236}">
                <a16:creationId xmlns:a16="http://schemas.microsoft.com/office/drawing/2014/main" id="{A3FFD339-10AE-4018-B144-4858C9D2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31242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7F78"/>
                </a:solidFill>
              </a:rPr>
              <a:t>形成可验证的需求依据</a:t>
            </a:r>
          </a:p>
        </p:txBody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4FF07EB4-6AC0-4544-ADFE-6CEA8AEC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574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007F78"/>
                </a:solidFill>
              </a:rPr>
              <a:t>02</a:t>
            </a:r>
          </a:p>
        </p:txBody>
      </p:sp>
      <p:sp>
        <p:nvSpPr>
          <p:cNvPr id="15" name="传递一致">
            <a:extLst xmlns:a="http://schemas.openxmlformats.org/drawingml/2006/main">
              <a:ext uri="{FF2B5EF4-FFF2-40B4-BE49-F238E27FC236}">
                <a16:creationId xmlns:a16="http://schemas.microsoft.com/office/drawing/2014/main" id="{FFFA6815-3484-4074-B859-EEF0DB90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323E"/>
                </a:solidFill>
              </a:rPr>
              <a:t>传递一致</a:t>
            </a:r>
          </a:p>
        </p:txBody>
      </p:sp>
      <p:sp>
        <p:nvSpPr>
          <p:cNvPr id="16" name="设计与实现准确承接意图">
            <a:extLst xmlns:a="http://schemas.openxmlformats.org/drawingml/2006/main">
              <a:ext uri="{FF2B5EF4-FFF2-40B4-BE49-F238E27FC236}">
                <a16:creationId xmlns:a16="http://schemas.microsoft.com/office/drawing/2014/main" id="{FF979F2E-F435-4B72-B64D-42286131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62400"/>
            <a:ext cx="31242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F7278"/>
                </a:solidFill>
              </a:rPr>
              <a:t>设计与实现准确承接意图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1D60E2A8-8F9B-46FF-B0F9-B857CC00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9149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8" name="形成可追溯的实现基线">
            <a:extLst xmlns:a="http://schemas.openxmlformats.org/drawingml/2006/main">
              <a:ext uri="{FF2B5EF4-FFF2-40B4-BE49-F238E27FC236}">
                <a16:creationId xmlns:a16="http://schemas.microsoft.com/office/drawing/2014/main" id="{28641CFF-B7A5-4447-BD26-D119BFCE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124450"/>
            <a:ext cx="31242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7F78"/>
                </a:solidFill>
              </a:rPr>
              <a:t>形成可追溯的实现基线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0A530558-A8F8-4612-AE4B-41E1D178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007F78"/>
                </a:solidFill>
              </a:rPr>
              <a:t>03</a:t>
            </a:r>
          </a:p>
        </p:txBody>
      </p:sp>
      <p:sp>
        <p:nvSpPr>
          <p:cNvPr id="20" name="结果可信">
            <a:extLst xmlns:a="http://schemas.openxmlformats.org/drawingml/2006/main">
              <a:ext uri="{FF2B5EF4-FFF2-40B4-BE49-F238E27FC236}">
                <a16:creationId xmlns:a16="http://schemas.microsoft.com/office/drawing/2014/main" id="{5003EBE5-038F-4CC8-8B1E-6C0FD2C8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323E"/>
                </a:solidFill>
              </a:rPr>
              <a:t>结果可信</a:t>
            </a:r>
          </a:p>
        </p:txBody>
      </p:sp>
      <p:sp>
        <p:nvSpPr>
          <p:cNvPr id="21" name="实际行为满足已确认义务">
            <a:extLst xmlns:a="http://schemas.openxmlformats.org/drawingml/2006/main">
              <a:ext uri="{FF2B5EF4-FFF2-40B4-BE49-F238E27FC236}">
                <a16:creationId xmlns:a16="http://schemas.microsoft.com/office/drawing/2014/main" id="{F3D1BD93-BDFA-42FB-ABB6-B05B0936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62400"/>
            <a:ext cx="31242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F7278"/>
                </a:solidFill>
              </a:rPr>
              <a:t>实际行为满足已确认义务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B9D3D213-AEDA-4E64-9FDB-18E3C88A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149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3" name="形成有适用范围的证据">
            <a:extLst xmlns:a="http://schemas.openxmlformats.org/drawingml/2006/main">
              <a:ext uri="{FF2B5EF4-FFF2-40B4-BE49-F238E27FC236}">
                <a16:creationId xmlns:a16="http://schemas.microsoft.com/office/drawing/2014/main" id="{613D3F2F-73F7-4438-B44D-485D13DE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24450"/>
            <a:ext cx="31242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7F78"/>
                </a:solidFill>
              </a:rPr>
              <a:t>形成有适用范围的证据</a:t>
            </a:r>
          </a:p>
        </p:txBody>
      </p:sp>
      <p:sp>
        <p:nvSpPr>
          <p:cNvPr id="24" name="surface">
            <a:extLst xmlns:a="http://schemas.openxmlformats.org/drawingml/2006/main">
              <a:ext uri="{FF2B5EF4-FFF2-40B4-BE49-F238E27FC236}">
                <a16:creationId xmlns:a16="http://schemas.microsoft.com/office/drawing/2014/main" id="{69F59653-2389-4C36-97F9-8EF06BCA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5" name="共同约束">
            <a:extLst xmlns:a="http://schemas.openxmlformats.org/drawingml/2006/main">
              <a:ext uri="{FF2B5EF4-FFF2-40B4-BE49-F238E27FC236}">
                <a16:creationId xmlns:a16="http://schemas.microsoft.com/office/drawing/2014/main" id="{B03AA777-4F87-49A7-A24B-21CBEBFD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共同约束</a:t>
            </a:r>
          </a:p>
        </p:txBody>
      </p:sp>
      <p:sp>
        <p:nvSpPr>
          <p:cNvPr id="26" name="每次变更，都必须重新判断这三类结论是否仍然成立。">
            <a:extLst xmlns:a="http://schemas.openxmlformats.org/drawingml/2006/main">
              <a:ext uri="{FF2B5EF4-FFF2-40B4-BE49-F238E27FC236}">
                <a16:creationId xmlns:a16="http://schemas.microsoft.com/office/drawing/2014/main" id="{1576234D-D2EA-4B99-B3F7-F17624E9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每次变更，都必须重新判断这三类结论是否仍然成立。</a:t>
            </a:r>
          </a:p>
        </p:txBody>
      </p:sp>
    </p:spTree>
    <p:extLst>
      <p:ext uri="{BB962C8B-B14F-4D97-AF65-F5344CB8AC3E}">
        <p14:creationId xmlns:p14="http://schemas.microsoft.com/office/powerpoint/2010/main" val="15608924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2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B6637657-DB86-4EF9-8FB5-03C4D51C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DD7197FC-EEC8-4004-AE00-3A91EE3B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软件质量的连续保障</a:t>
            </a:r>
          </a:p>
        </p:txBody>
      </p:sp>
      <p:sp>
        <p:nvSpPr>
          <p:cNvPr id="3" name="03 / 14">
            <a:extLst xmlns:a="http://schemas.openxmlformats.org/drawingml/2006/main">
              <a:ext uri="{FF2B5EF4-FFF2-40B4-BE49-F238E27FC236}">
                <a16:creationId xmlns:a16="http://schemas.microsoft.com/office/drawing/2014/main" id="{1960E863-B003-400E-A805-5A837FDD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03 / 14</a:t>
            </a:r>
          </a:p>
        </p:txBody>
      </p:sp>
      <p:sp>
        <p:nvSpPr>
          <p:cNvPr id="4" name="方法框架 / 总体关系">
            <a:extLst xmlns:a="http://schemas.openxmlformats.org/drawingml/2006/main">
              <a:ext uri="{FF2B5EF4-FFF2-40B4-BE49-F238E27FC236}">
                <a16:creationId xmlns:a16="http://schemas.microsoft.com/office/drawing/2014/main" id="{974569F7-7C21-40BC-A194-3C6758CF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DDED0"/>
                </a:solidFill>
              </a:rPr>
              <a:t>方法框架 / 总体关系</a:t>
            </a:r>
          </a:p>
        </p:txBody>
      </p:sp>
      <p:sp>
        <p:nvSpPr>
          <p:cNvPr id="5" name="一条质量链，两种运行方式">
            <a:extLst xmlns:a="http://schemas.openxmlformats.org/drawingml/2006/main">
              <a:ext uri="{FF2B5EF4-FFF2-40B4-BE49-F238E27FC236}">
                <a16:creationId xmlns:a16="http://schemas.microsoft.com/office/drawing/2014/main" id="{56474EA3-DCB2-4132-A816-8FEB8655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7F6F1"/>
                </a:solidFill>
              </a:rPr>
              <a:t>一条质量链，两种运行方式</a:t>
            </a:r>
          </a:p>
        </p:txBody>
      </p:sp>
      <p:sp>
        <p:nvSpPr>
          <p:cNvPr id="6" name="初始方案建立基线；每次变更回到最早受影响环节。">
            <a:extLst xmlns:a="http://schemas.openxmlformats.org/drawingml/2006/main">
              <a:ext uri="{FF2B5EF4-FFF2-40B4-BE49-F238E27FC236}">
                <a16:creationId xmlns:a16="http://schemas.microsoft.com/office/drawing/2014/main" id="{0DB8A5EA-667D-4A61-ADF1-8CB91302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初始方案建立基线；每次变更回到最早受影响环节。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4648D491-123C-45EA-B0C4-956818FE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86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8" name="flow-arrow">
            <a:extLst xmlns:a="http://schemas.openxmlformats.org/drawingml/2006/main">
              <a:ext uri="{FF2B5EF4-FFF2-40B4-BE49-F238E27FC236}">
                <a16:creationId xmlns:a16="http://schemas.microsoft.com/office/drawing/2014/main" id="{F3C07049-3E2A-4F67-9CBB-93554A04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86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151FDDAC-EE8F-44DA-A6F7-1E207892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86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46096E43-1E32-4459-A5F8-ADEBC92B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352925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974"/>
          </a:solidFill>
        </p:spPr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EE4F5C2D-83C2-416C-A858-0291BC64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352925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974"/>
          </a:solidFill>
        </p:spPr>
      </p:sp>
      <p:sp>
        <p:nvSpPr>
          <p:cNvPr id="12" name="flow-arrow">
            <a:extLst xmlns:a="http://schemas.openxmlformats.org/drawingml/2006/main">
              <a:ext uri="{FF2B5EF4-FFF2-40B4-BE49-F238E27FC236}">
                <a16:creationId xmlns:a16="http://schemas.microsoft.com/office/drawing/2014/main" id="{91AADA29-31F2-4D49-B445-AA7E1BB1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57725"/>
            <a:ext cx="8229600" cy="1333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7A974"/>
          </a:solidFill>
        </p:spPr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A238D861-9685-434E-AD7B-00B7569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095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7DDED0"/>
                </a:solidFill>
              </a:rPr>
              <a:t>01</a:t>
            </a:r>
          </a:p>
        </p:txBody>
      </p:sp>
      <p:sp>
        <p:nvSpPr>
          <p:cNvPr id="14" name="确立基线">
            <a:extLst xmlns:a="http://schemas.openxmlformats.org/drawingml/2006/main">
              <a:ext uri="{FF2B5EF4-FFF2-40B4-BE49-F238E27FC236}">
                <a16:creationId xmlns:a16="http://schemas.microsoft.com/office/drawing/2014/main" id="{DC28F4E2-EDEC-4359-93D1-5CB2CA76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确立基线</a:t>
            </a:r>
          </a:p>
        </p:txBody>
      </p:sp>
      <p:sp>
        <p:nvSpPr>
          <p:cNvPr id="15" name="需求与验收条件">
            <a:extLst xmlns:a="http://schemas.openxmlformats.org/drawingml/2006/main">
              <a:ext uri="{FF2B5EF4-FFF2-40B4-BE49-F238E27FC236}">
                <a16:creationId xmlns:a16="http://schemas.microsoft.com/office/drawing/2014/main" id="{D0CE437E-9D74-44C7-AAB2-CD576357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8CBCF"/>
                </a:solidFill>
              </a:rPr>
              <a:t>需求与验收条件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723C54BD-6BDC-4F50-AAED-F45DEEF0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47925"/>
            <a:ext cx="2095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7DDED0"/>
                </a:solidFill>
              </a:rPr>
              <a:t>02</a:t>
            </a:r>
          </a:p>
        </p:txBody>
      </p:sp>
      <p:sp>
        <p:nvSpPr>
          <p:cNvPr id="17" name="逐层落实">
            <a:extLst xmlns:a="http://schemas.openxmlformats.org/drawingml/2006/main">
              <a:ext uri="{FF2B5EF4-FFF2-40B4-BE49-F238E27FC236}">
                <a16:creationId xmlns:a16="http://schemas.microsoft.com/office/drawing/2014/main" id="{99519206-EFFE-4BE4-8424-242B23F2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09900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逐层落实</a:t>
            </a:r>
          </a:p>
        </p:txBody>
      </p:sp>
      <p:sp>
        <p:nvSpPr>
          <p:cNvPr id="18" name="设计与实现追溯">
            <a:extLst xmlns:a="http://schemas.openxmlformats.org/drawingml/2006/main">
              <a:ext uri="{FF2B5EF4-FFF2-40B4-BE49-F238E27FC236}">
                <a16:creationId xmlns:a16="http://schemas.microsoft.com/office/drawing/2014/main" id="{D955379B-E847-4A7F-9D84-8E214872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05225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8CBCF"/>
                </a:solidFill>
              </a:rPr>
              <a:t>设计与实现追溯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7BA87A73-4F2A-47D4-8F7B-18BAF19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47925"/>
            <a:ext cx="2095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7DDED0"/>
                </a:solidFill>
              </a:rPr>
              <a:t>03</a:t>
            </a:r>
          </a:p>
        </p:txBody>
      </p:sp>
      <p:sp>
        <p:nvSpPr>
          <p:cNvPr id="20" name="独立验证">
            <a:extLst xmlns:a="http://schemas.openxmlformats.org/drawingml/2006/main">
              <a:ext uri="{FF2B5EF4-FFF2-40B4-BE49-F238E27FC236}">
                <a16:creationId xmlns:a16="http://schemas.microsoft.com/office/drawing/2014/main" id="{E2550A18-99FF-4727-BB6B-9ACFD4D5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独立验证</a:t>
            </a:r>
          </a:p>
        </p:txBody>
      </p:sp>
      <p:sp>
        <p:nvSpPr>
          <p:cNvPr id="21" name="执行结果与证据">
            <a:extLst xmlns:a="http://schemas.openxmlformats.org/drawingml/2006/main">
              <a:ext uri="{FF2B5EF4-FFF2-40B4-BE49-F238E27FC236}">
                <a16:creationId xmlns:a16="http://schemas.microsoft.com/office/drawing/2014/main" id="{B3FA5B50-03D4-40B8-82AA-87913B72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05225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8CBCF"/>
                </a:solidFill>
              </a:rPr>
              <a:t>执行结果与证据</a:t>
            </a:r>
          </a:p>
        </p:txBody>
      </p:sp>
      <p:sp>
        <p:nvSpPr>
          <p:cNvPr id="22" name="04">
            <a:extLst xmlns:a="http://schemas.openxmlformats.org/drawingml/2006/main">
              <a:ext uri="{FF2B5EF4-FFF2-40B4-BE49-F238E27FC236}">
                <a16:creationId xmlns:a16="http://schemas.microsoft.com/office/drawing/2014/main" id="{6265DDAE-D90F-4A47-AA70-6C387035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47925"/>
            <a:ext cx="2095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7DDED0"/>
                </a:solidFill>
              </a:rPr>
              <a:t>04</a:t>
            </a:r>
          </a:p>
        </p:txBody>
      </p:sp>
      <p:sp>
        <p:nvSpPr>
          <p:cNvPr id="23" name="交付判定">
            <a:extLst xmlns:a="http://schemas.openxmlformats.org/drawingml/2006/main">
              <a:ext uri="{FF2B5EF4-FFF2-40B4-BE49-F238E27FC236}">
                <a16:creationId xmlns:a16="http://schemas.microsoft.com/office/drawing/2014/main" id="{FA28C225-F5FC-4FC9-A584-B04DB153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09900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交付判定</a:t>
            </a:r>
          </a:p>
        </p:txBody>
      </p:sp>
      <p:sp>
        <p:nvSpPr>
          <p:cNvPr id="24" name="结论与残余限制">
            <a:extLst xmlns:a="http://schemas.openxmlformats.org/drawingml/2006/main">
              <a:ext uri="{FF2B5EF4-FFF2-40B4-BE49-F238E27FC236}">
                <a16:creationId xmlns:a16="http://schemas.microsoft.com/office/drawing/2014/main" id="{14A61854-7BAA-46BC-81EC-CDD728C7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05225"/>
            <a:ext cx="2286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8CBCF"/>
                </a:solidFill>
              </a:rPr>
              <a:t>结论与残余限制</a:t>
            </a:r>
          </a:p>
        </p:txBody>
      </p:sp>
      <p:sp>
        <p:nvSpPr>
          <p:cNvPr id="25" name="变更 / 问题反馈 → 影响分析 → 返回对应环节 → 重新验证">
            <a:extLst xmlns:a="http://schemas.openxmlformats.org/drawingml/2006/main">
              <a:ext uri="{FF2B5EF4-FFF2-40B4-BE49-F238E27FC236}">
                <a16:creationId xmlns:a16="http://schemas.microsoft.com/office/drawing/2014/main" id="{B4FEB0D4-184A-4DA9-B160-F9C7A9CD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8686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7A9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7A974"/>
                </a:solidFill>
              </a:rPr>
              <a:t>变更 / 问题反馈 → 影响分析 → 返回对应环节 → 重新验证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5788F585-7D94-4D74-A44C-B2AA9B92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27" name="贯穿全程">
            <a:extLst xmlns:a="http://schemas.openxmlformats.org/drawingml/2006/main">
              <a:ext uri="{FF2B5EF4-FFF2-40B4-BE49-F238E27FC236}">
                <a16:creationId xmlns:a16="http://schemas.microsoft.com/office/drawing/2014/main" id="{E859DD0A-743F-4E86-8DF7-D6E65920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DDED0"/>
                </a:solidFill>
              </a:rPr>
              <a:t>贯穿全程</a:t>
            </a:r>
          </a:p>
        </p:txBody>
      </p:sp>
      <p:sp>
        <p:nvSpPr>
          <p:cNvPr id="28" name="人机协作负责执行与决策；共享基线和证据维系环节之间的联系。">
            <a:extLst xmlns:a="http://schemas.openxmlformats.org/drawingml/2006/main">
              <a:ext uri="{FF2B5EF4-FFF2-40B4-BE49-F238E27FC236}">
                <a16:creationId xmlns:a16="http://schemas.microsoft.com/office/drawing/2014/main" id="{4744F24F-7771-4A3F-9A36-995C196A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7F6F1"/>
                </a:solidFill>
              </a:rPr>
              <a:t>人机协作负责执行与决策；共享基线和证据维系环节之间的联系。</a:t>
            </a:r>
          </a:p>
        </p:txBody>
      </p:sp>
    </p:spTree>
    <p:extLst>
      <p:ext uri="{BB962C8B-B14F-4D97-AF65-F5344CB8AC3E}">
        <p14:creationId xmlns:p14="http://schemas.microsoft.com/office/powerpoint/2010/main" val="13697167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13736534-DB6D-4545-8D6D-21F7DD4B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51D2EB81-870A-471E-ADAC-E79C1F11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4 / 14">
            <a:extLst xmlns:a="http://schemas.openxmlformats.org/drawingml/2006/main">
              <a:ext uri="{FF2B5EF4-FFF2-40B4-BE49-F238E27FC236}">
                <a16:creationId xmlns:a16="http://schemas.microsoft.com/office/drawing/2014/main" id="{6AD28D06-56CD-4CD1-8486-4FF2D1E1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04 / 14</a:t>
            </a:r>
          </a:p>
        </p:txBody>
      </p:sp>
      <p:sp>
        <p:nvSpPr>
          <p:cNvPr id="4" name="正向质量链 / 01 确立基线">
            <a:extLst xmlns:a="http://schemas.openxmlformats.org/drawingml/2006/main">
              <a:ext uri="{FF2B5EF4-FFF2-40B4-BE49-F238E27FC236}">
                <a16:creationId xmlns:a16="http://schemas.microsoft.com/office/drawing/2014/main" id="{D67F981A-041D-4DDD-8DAE-8AD64A8B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正向质量链 / 01 确立基线</a:t>
            </a:r>
          </a:p>
        </p:txBody>
      </p:sp>
      <p:sp>
        <p:nvSpPr>
          <p:cNvPr id="5" name="先形成可验证的方案依据">
            <a:extLst xmlns:a="http://schemas.openxmlformats.org/drawingml/2006/main">
              <a:ext uri="{FF2B5EF4-FFF2-40B4-BE49-F238E27FC236}">
                <a16:creationId xmlns:a16="http://schemas.microsoft.com/office/drawing/2014/main" id="{25D18C08-4D5F-43B8-9F38-AD6D4F08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先形成可验证的方案依据</a:t>
            </a:r>
          </a:p>
        </p:txBody>
      </p:sp>
      <p:sp>
        <p:nvSpPr>
          <p:cNvPr id="6" name="没有清晰、合理的上游依据，后续的一致性与测试结论都缺少支点。">
            <a:extLst xmlns:a="http://schemas.openxmlformats.org/drawingml/2006/main">
              <a:ext uri="{FF2B5EF4-FFF2-40B4-BE49-F238E27FC236}">
                <a16:creationId xmlns:a16="http://schemas.microsoft.com/office/drawing/2014/main" id="{949911CE-2E32-44CE-8738-55148B6E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没有清晰、合理的上游依据，后续的一致性与测试结论都缺少支点。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47A2FE84-2682-441C-8610-A69D24D4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32385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D3A"/>
          </a:solidFill>
        </p:spPr>
      </p:sp>
      <p:sp>
        <p:nvSpPr>
          <p:cNvPr id="8" name="本环节输出">
            <a:extLst xmlns:a="http://schemas.openxmlformats.org/drawingml/2006/main">
              <a:ext uri="{FF2B5EF4-FFF2-40B4-BE49-F238E27FC236}">
                <a16:creationId xmlns:a16="http://schemas.microsoft.com/office/drawing/2014/main" id="{3635D654-A394-434B-B66E-28C5B5B7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95575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DDED0"/>
                </a:solidFill>
              </a:rPr>
              <a:t>本环节输出</a:t>
            </a:r>
          </a:p>
        </p:txBody>
      </p:sp>
      <p:sp>
        <p:nvSpPr>
          <p:cNvPr id="9" name="批准基线">
            <a:extLst xmlns:a="http://schemas.openxmlformats.org/drawingml/2006/main">
              <a:ext uri="{FF2B5EF4-FFF2-40B4-BE49-F238E27FC236}">
                <a16:creationId xmlns:a16="http://schemas.microsoft.com/office/drawing/2014/main" id="{E3FBE9EE-4233-48B3-8F92-FC353CC4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48025"/>
            <a:ext cx="2762250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7F6F1"/>
                </a:solidFill>
              </a:rPr>
              <a:t>批准基线</a:t>
            </a:r>
          </a:p>
        </p:txBody>
      </p:sp>
      <p:sp>
        <p:nvSpPr>
          <p:cNvPr id="10" name="需求与边界&#10;验收条件&#10;假设与适用配置">
            <a:extLst xmlns:a="http://schemas.openxmlformats.org/drawingml/2006/main">
              <a:ext uri="{FF2B5EF4-FFF2-40B4-BE49-F238E27FC236}">
                <a16:creationId xmlns:a16="http://schemas.microsoft.com/office/drawing/2014/main" id="{7C92C36C-5888-4D1E-9A60-1812AA07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2762250" cy="1133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BCF"/>
                </a:solidFill>
              </a:rPr>
              <a:t>需求与边界
验收条件
假设与适用配置</a:t>
            </a:r>
          </a:p>
        </p:txBody>
      </p:sp>
      <p:sp>
        <p:nvSpPr>
          <p:cNvPr id="11" name="目标与约束">
            <a:extLst xmlns:a="http://schemas.openxmlformats.org/drawingml/2006/main">
              <a:ext uri="{FF2B5EF4-FFF2-40B4-BE49-F238E27FC236}">
                <a16:creationId xmlns:a16="http://schemas.microsoft.com/office/drawing/2014/main" id="{7A7217BF-A1F4-40CD-BB17-4B83F853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95550"/>
            <a:ext cx="7048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目标与约束</a:t>
            </a:r>
          </a:p>
        </p:txBody>
      </p:sp>
      <p:sp>
        <p:nvSpPr>
          <p:cNvPr id="12" name="确认必要性、可行性和关键取舍。">
            <a:extLst xmlns:a="http://schemas.openxmlformats.org/drawingml/2006/main">
              <a:ext uri="{FF2B5EF4-FFF2-40B4-BE49-F238E27FC236}">
                <a16:creationId xmlns:a16="http://schemas.microsoft.com/office/drawing/2014/main" id="{1BF7A266-5CC9-46EF-8907-294FA4C3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952750"/>
            <a:ext cx="7048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确认必要性、可行性和关键取舍。</a:t>
            </a:r>
          </a:p>
        </p:txBody>
      </p:sp>
      <p:sp>
        <p:nvSpPr>
          <p:cNvPr id="13" name="行为与判据">
            <a:extLst xmlns:a="http://schemas.openxmlformats.org/drawingml/2006/main">
              <a:ext uri="{FF2B5EF4-FFF2-40B4-BE49-F238E27FC236}">
                <a16:creationId xmlns:a16="http://schemas.microsoft.com/office/drawing/2014/main" id="{A5A89CA6-862C-4BA2-97EF-55C7FB74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86150"/>
            <a:ext cx="7048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行为与判据</a:t>
            </a:r>
          </a:p>
        </p:txBody>
      </p:sp>
      <p:sp>
        <p:nvSpPr>
          <p:cNvPr id="14" name="明确触发、接口、异常与预期结果。">
            <a:extLst xmlns:a="http://schemas.openxmlformats.org/drawingml/2006/main">
              <a:ext uri="{FF2B5EF4-FFF2-40B4-BE49-F238E27FC236}">
                <a16:creationId xmlns:a16="http://schemas.microsoft.com/office/drawing/2014/main" id="{C1B750E9-AF87-4860-846A-B25587D9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43350"/>
            <a:ext cx="7048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明确触发、接口、异常与预期结果。</a:t>
            </a:r>
          </a:p>
        </p:txBody>
      </p:sp>
      <p:sp>
        <p:nvSpPr>
          <p:cNvPr id="15" name="假设与决定">
            <a:extLst xmlns:a="http://schemas.openxmlformats.org/drawingml/2006/main">
              <a:ext uri="{FF2B5EF4-FFF2-40B4-BE49-F238E27FC236}">
                <a16:creationId xmlns:a16="http://schemas.microsoft.com/office/drawing/2014/main" id="{0B8F7FD7-CE33-4E7C-A150-8EC5DE1E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76750"/>
            <a:ext cx="7048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假设与决定</a:t>
            </a:r>
          </a:p>
        </p:txBody>
      </p:sp>
      <p:sp>
        <p:nvSpPr>
          <p:cNvPr id="16" name="处理关键未知，记录批准及版本。">
            <a:extLst xmlns:a="http://schemas.openxmlformats.org/drawingml/2006/main">
              <a:ext uri="{FF2B5EF4-FFF2-40B4-BE49-F238E27FC236}">
                <a16:creationId xmlns:a16="http://schemas.microsoft.com/office/drawing/2014/main" id="{74C544C7-49AD-4947-BB48-38060BD4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33950"/>
            <a:ext cx="7048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处理关键未知，记录批准及版本。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2A388624-F569-4179-9621-88C34ABA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8" name="交给下一环节">
            <a:extLst xmlns:a="http://schemas.openxmlformats.org/drawingml/2006/main">
              <a:ext uri="{FF2B5EF4-FFF2-40B4-BE49-F238E27FC236}">
                <a16:creationId xmlns:a16="http://schemas.microsoft.com/office/drawing/2014/main" id="{4DDDD359-F0FB-4FB0-88D6-D03A5C82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交给下一环节</a:t>
            </a:r>
          </a:p>
        </p:txBody>
      </p:sp>
      <p:sp>
        <p:nvSpPr>
          <p:cNvPr id="19" name="明确的需求义务与验收条件，而不是仅有一份描述性文档。">
            <a:extLst xmlns:a="http://schemas.openxmlformats.org/drawingml/2006/main">
              <a:ext uri="{FF2B5EF4-FFF2-40B4-BE49-F238E27FC236}">
                <a16:creationId xmlns:a16="http://schemas.microsoft.com/office/drawing/2014/main" id="{9F4BAD2D-EEF1-4C58-B30F-15EEEABE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明确的需求义务与验收条件，而不是仅有一份描述性文档。</a:t>
            </a:r>
          </a:p>
        </p:txBody>
      </p:sp>
    </p:spTree>
    <p:extLst>
      <p:ext uri="{BB962C8B-B14F-4D97-AF65-F5344CB8AC3E}">
        <p14:creationId xmlns:p14="http://schemas.microsoft.com/office/powerpoint/2010/main" val="17308508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4C77F4A3-AC2C-48DA-BE44-9457CD12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B1AD0016-4682-4000-B08A-5CB1E593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5 / 14">
            <a:extLst xmlns:a="http://schemas.openxmlformats.org/drawingml/2006/main">
              <a:ext uri="{FF2B5EF4-FFF2-40B4-BE49-F238E27FC236}">
                <a16:creationId xmlns:a16="http://schemas.microsoft.com/office/drawing/2014/main" id="{2459FDD6-AAC7-4A3A-8315-656DF25B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05 / 14</a:t>
            </a:r>
          </a:p>
        </p:txBody>
      </p:sp>
      <p:sp>
        <p:nvSpPr>
          <p:cNvPr id="4" name="正向质量链 / 02 逐层落实">
            <a:extLst xmlns:a="http://schemas.openxmlformats.org/drawingml/2006/main">
              <a:ext uri="{FF2B5EF4-FFF2-40B4-BE49-F238E27FC236}">
                <a16:creationId xmlns:a16="http://schemas.microsoft.com/office/drawing/2014/main" id="{53E027BE-3C89-4933-AFB3-77C959D9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正向质量链 / 02 逐层落实</a:t>
            </a:r>
          </a:p>
        </p:txBody>
      </p:sp>
      <p:sp>
        <p:nvSpPr>
          <p:cNvPr id="5" name="把需求义务落实为可追溯的实现">
            <a:extLst xmlns:a="http://schemas.openxmlformats.org/drawingml/2006/main">
              <a:ext uri="{FF2B5EF4-FFF2-40B4-BE49-F238E27FC236}">
                <a16:creationId xmlns:a16="http://schemas.microsoft.com/office/drawing/2014/main" id="{BBFCFF2B-10D9-46B9-9E58-07C2A66A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把需求义务落实为可追溯的实现</a:t>
            </a:r>
          </a:p>
        </p:txBody>
      </p:sp>
      <p:sp>
        <p:nvSpPr>
          <p:cNvPr id="6" name="正向检查是否遗漏，反向检查是否存在没有依据的新增行为。">
            <a:extLst xmlns:a="http://schemas.openxmlformats.org/drawingml/2006/main">
              <a:ext uri="{FF2B5EF4-FFF2-40B4-BE49-F238E27FC236}">
                <a16:creationId xmlns:a16="http://schemas.microsoft.com/office/drawing/2014/main" id="{9105EF7A-C4B8-4B05-80AA-D715B28F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正向检查是否遗漏，反向检查是否存在没有依据的新增行为。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26321516-0FD7-49CE-A41C-A0FF6309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28950"/>
            <a:ext cx="1066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8" name="flow-arrow">
            <a:extLst xmlns:a="http://schemas.openxmlformats.org/drawingml/2006/main">
              <a:ext uri="{FF2B5EF4-FFF2-40B4-BE49-F238E27FC236}">
                <a16:creationId xmlns:a16="http://schemas.microsoft.com/office/drawing/2014/main" id="{0678E110-20C0-45A9-BDFA-08DF532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28950"/>
            <a:ext cx="1066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E61D286F-E7F7-48BD-9B3C-9CFEB903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24275"/>
            <a:ext cx="1066800" cy="1333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7A974"/>
          </a:solidFill>
        </p:spPr>
      </p:sp>
      <p:sp>
        <p:nvSpPr>
          <p:cNvPr id="10" name="flow-arrow">
            <a:extLst xmlns:a="http://schemas.openxmlformats.org/drawingml/2006/main">
              <a:ext uri="{FF2B5EF4-FFF2-40B4-BE49-F238E27FC236}">
                <a16:creationId xmlns:a16="http://schemas.microsoft.com/office/drawing/2014/main" id="{91D161BA-E8BB-454F-80F4-7D48AD93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24275"/>
            <a:ext cx="1066800" cy="1333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7A974"/>
          </a:solidFill>
        </p:spPr>
      </p:sp>
      <p:sp>
        <p:nvSpPr>
          <p:cNvPr id="11" name="需求">
            <a:extLst xmlns:a="http://schemas.openxmlformats.org/drawingml/2006/main">
              <a:ext uri="{FF2B5EF4-FFF2-40B4-BE49-F238E27FC236}">
                <a16:creationId xmlns:a16="http://schemas.microsoft.com/office/drawing/2014/main" id="{3250BADA-3229-4F17-884E-CA4CBAA8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323E"/>
                </a:solidFill>
              </a:rPr>
              <a:t>需求</a:t>
            </a:r>
          </a:p>
        </p:txBody>
      </p:sp>
      <p:sp>
        <p:nvSpPr>
          <p:cNvPr id="12" name="应满足什么">
            <a:extLst xmlns:a="http://schemas.openxmlformats.org/drawingml/2006/main">
              <a:ext uri="{FF2B5EF4-FFF2-40B4-BE49-F238E27FC236}">
                <a16:creationId xmlns:a16="http://schemas.microsoft.com/office/drawing/2014/main" id="{2901F466-A296-41AF-8169-2D813219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8"/>
                </a:solidFill>
              </a:rPr>
              <a:t>应满足什么</a:t>
            </a:r>
          </a:p>
        </p:txBody>
      </p:sp>
      <p:sp>
        <p:nvSpPr>
          <p:cNvPr id="13" name="行为、边界、约束">
            <a:extLst xmlns:a="http://schemas.openxmlformats.org/drawingml/2006/main">
              <a:ext uri="{FF2B5EF4-FFF2-40B4-BE49-F238E27FC236}">
                <a16:creationId xmlns:a16="http://schemas.microsoft.com/office/drawing/2014/main" id="{C90F00F4-1016-4374-84DD-8A7FD6A9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行为、边界、约束</a:t>
            </a:r>
          </a:p>
        </p:txBody>
      </p:sp>
      <p:sp>
        <p:nvSpPr>
          <p:cNvPr id="14" name="设计">
            <a:extLst xmlns:a="http://schemas.openxmlformats.org/drawingml/2006/main">
              <a:ext uri="{FF2B5EF4-FFF2-40B4-BE49-F238E27FC236}">
                <a16:creationId xmlns:a16="http://schemas.microsoft.com/office/drawing/2014/main" id="{8375F233-B455-4A6A-B18D-646AC829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57475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323E"/>
                </a:solidFill>
              </a:rPr>
              <a:t>设计</a:t>
            </a:r>
          </a:p>
        </p:txBody>
      </p:sp>
      <p:sp>
        <p:nvSpPr>
          <p:cNvPr id="15" name="如何满足">
            <a:extLst xmlns:a="http://schemas.openxmlformats.org/drawingml/2006/main">
              <a:ext uri="{FF2B5EF4-FFF2-40B4-BE49-F238E27FC236}">
                <a16:creationId xmlns:a16="http://schemas.microsoft.com/office/drawing/2014/main" id="{45C89626-68F3-419A-AFEA-84510E38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718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8"/>
                </a:solidFill>
              </a:rPr>
              <a:t>如何满足</a:t>
            </a:r>
          </a:p>
        </p:txBody>
      </p:sp>
      <p:sp>
        <p:nvSpPr>
          <p:cNvPr id="16" name="机制、接口、状态">
            <a:extLst xmlns:a="http://schemas.openxmlformats.org/drawingml/2006/main">
              <a:ext uri="{FF2B5EF4-FFF2-40B4-BE49-F238E27FC236}">
                <a16:creationId xmlns:a16="http://schemas.microsoft.com/office/drawing/2014/main" id="{026793D7-3BE8-4111-896A-EEEB7AE8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5765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机制、接口、状态</a:t>
            </a:r>
          </a:p>
        </p:txBody>
      </p:sp>
      <p:sp>
        <p:nvSpPr>
          <p:cNvPr id="17" name="实现">
            <a:extLst xmlns:a="http://schemas.openxmlformats.org/drawingml/2006/main">
              <a:ext uri="{FF2B5EF4-FFF2-40B4-BE49-F238E27FC236}">
                <a16:creationId xmlns:a16="http://schemas.microsoft.com/office/drawing/2014/main" id="{5BF7B546-DAF1-4741-83DE-2767E764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57475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6323E"/>
                </a:solidFill>
              </a:rPr>
              <a:t>实现</a:t>
            </a:r>
          </a:p>
        </p:txBody>
      </p:sp>
      <p:sp>
        <p:nvSpPr>
          <p:cNvPr id="18" name="实际如何执行">
            <a:extLst xmlns:a="http://schemas.openxmlformats.org/drawingml/2006/main">
              <a:ext uri="{FF2B5EF4-FFF2-40B4-BE49-F238E27FC236}">
                <a16:creationId xmlns:a16="http://schemas.microsoft.com/office/drawing/2014/main" id="{A803D155-BD70-4E72-9C12-000675B1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8"/>
                </a:solidFill>
              </a:rPr>
              <a:t>实际如何执行</a:t>
            </a:r>
          </a:p>
        </p:txBody>
      </p:sp>
      <p:sp>
        <p:nvSpPr>
          <p:cNvPr id="19" name="代码、参数、构建">
            <a:extLst xmlns:a="http://schemas.openxmlformats.org/drawingml/2006/main">
              <a:ext uri="{FF2B5EF4-FFF2-40B4-BE49-F238E27FC236}">
                <a16:creationId xmlns:a16="http://schemas.microsoft.com/office/drawing/2014/main" id="{DF55F289-3ECC-4DB4-994B-22552DD0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57650"/>
            <a:ext cx="2857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代码、参数、构建</a:t>
            </a:r>
          </a:p>
        </p:txBody>
      </p:sp>
      <p:sp>
        <p:nvSpPr>
          <p:cNvPr id="20" name="需求 ↔ 设计">
            <a:extLst xmlns:a="http://schemas.openxmlformats.org/drawingml/2006/main">
              <a:ext uri="{FF2B5EF4-FFF2-40B4-BE49-F238E27FC236}">
                <a16:creationId xmlns:a16="http://schemas.microsoft.com/office/drawing/2014/main" id="{13161B58-FDF0-4228-A714-F5DCD64E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2410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7F78"/>
                </a:solidFill>
              </a:rPr>
              <a:t>需求 ↔ 设计</a:t>
            </a:r>
          </a:p>
        </p:txBody>
      </p:sp>
      <p:sp>
        <p:nvSpPr>
          <p:cNvPr id="21" name="设计 ↔ 实现">
            <a:extLst xmlns:a="http://schemas.openxmlformats.org/drawingml/2006/main">
              <a:ext uri="{FF2B5EF4-FFF2-40B4-BE49-F238E27FC236}">
                <a16:creationId xmlns:a16="http://schemas.microsoft.com/office/drawing/2014/main" id="{5B451E2E-E21D-494E-8EA7-6392FC73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32410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7F78"/>
                </a:solidFill>
              </a:rPr>
              <a:t>设计 ↔ 实现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070E22FD-D79B-40D1-96BE-CE872FA8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3" name="横向核验">
            <a:extLst xmlns:a="http://schemas.openxmlformats.org/drawingml/2006/main">
              <a:ext uri="{FF2B5EF4-FFF2-40B4-BE49-F238E27FC236}">
                <a16:creationId xmlns:a16="http://schemas.microsoft.com/office/drawing/2014/main" id="{E0839FCC-0B2C-4241-B47E-5F23B7EA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562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78"/>
                </a:solidFill>
              </a:rPr>
              <a:t>横向核验</a:t>
            </a:r>
          </a:p>
        </p:txBody>
      </p:sp>
      <p:sp>
        <p:nvSpPr>
          <p:cNvPr id="24" name="跨模块交互、组合行为与配置变体必须同步核对。">
            <a:extLst xmlns:a="http://schemas.openxmlformats.org/drawingml/2006/main">
              <a:ext uri="{FF2B5EF4-FFF2-40B4-BE49-F238E27FC236}">
                <a16:creationId xmlns:a16="http://schemas.microsoft.com/office/drawing/2014/main" id="{555AABD3-DC67-48FC-B885-5AFBDC79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91125"/>
            <a:ext cx="9296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23E"/>
                </a:solidFill>
              </a:rPr>
              <a:t>跨模块交互、组合行为与配置变体必须同步核对。</a:t>
            </a:r>
          </a:p>
        </p:txBody>
      </p:sp>
      <p:sp>
        <p:nvSpPr>
          <p:cNvPr id="25" name="surface">
            <a:extLst xmlns:a="http://schemas.openxmlformats.org/drawingml/2006/main">
              <a:ext uri="{FF2B5EF4-FFF2-40B4-BE49-F238E27FC236}">
                <a16:creationId xmlns:a16="http://schemas.microsoft.com/office/drawing/2014/main" id="{34E961AB-4435-4CDE-910E-D6F7363A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6" name="交给下一环节">
            <a:extLst xmlns:a="http://schemas.openxmlformats.org/drawingml/2006/main">
              <a:ext uri="{FF2B5EF4-FFF2-40B4-BE49-F238E27FC236}">
                <a16:creationId xmlns:a16="http://schemas.microsoft.com/office/drawing/2014/main" id="{89758AB2-5ED8-4834-BF8A-133D2D50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交给下一环节</a:t>
            </a:r>
          </a:p>
        </p:txBody>
      </p:sp>
      <p:sp>
        <p:nvSpPr>
          <p:cNvPr id="27" name="可追溯的实现基线，以及需要通过运行或分析证明的验证义务。">
            <a:extLst xmlns:a="http://schemas.openxmlformats.org/drawingml/2006/main">
              <a:ext uri="{FF2B5EF4-FFF2-40B4-BE49-F238E27FC236}">
                <a16:creationId xmlns:a16="http://schemas.microsoft.com/office/drawing/2014/main" id="{F2817CA6-9C8A-4D99-8AC1-12B06CF4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可追溯的实现基线，以及需要通过运行或分析证明的验证义务。</a:t>
            </a:r>
          </a:p>
        </p:txBody>
      </p:sp>
    </p:spTree>
    <p:extLst>
      <p:ext uri="{BB962C8B-B14F-4D97-AF65-F5344CB8AC3E}">
        <p14:creationId xmlns:p14="http://schemas.microsoft.com/office/powerpoint/2010/main" val="15388809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04C380A9-8A51-407B-8B97-A38D372C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75C944D1-6A79-4E9D-A134-71407CD9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6 / 14">
            <a:extLst xmlns:a="http://schemas.openxmlformats.org/drawingml/2006/main">
              <a:ext uri="{FF2B5EF4-FFF2-40B4-BE49-F238E27FC236}">
                <a16:creationId xmlns:a16="http://schemas.microsoft.com/office/drawing/2014/main" id="{55AD8172-6CC2-4F17-A5BD-61710DDC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06 / 14</a:t>
            </a:r>
          </a:p>
        </p:txBody>
      </p:sp>
      <p:sp>
        <p:nvSpPr>
          <p:cNvPr id="4" name="正向质量链 / 03 独立验证">
            <a:extLst xmlns:a="http://schemas.openxmlformats.org/drawingml/2006/main">
              <a:ext uri="{FF2B5EF4-FFF2-40B4-BE49-F238E27FC236}">
                <a16:creationId xmlns:a16="http://schemas.microsoft.com/office/drawing/2014/main" id="{F85CF010-17FB-46E2-8F4B-11AF6895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正向质量链 / 03 独立验证</a:t>
            </a:r>
          </a:p>
        </p:txBody>
      </p:sp>
      <p:sp>
        <p:nvSpPr>
          <p:cNvPr id="5" name="以独立判据检验实际行为">
            <a:extLst xmlns:a="http://schemas.openxmlformats.org/drawingml/2006/main">
              <a:ext uri="{FF2B5EF4-FFF2-40B4-BE49-F238E27FC236}">
                <a16:creationId xmlns:a16="http://schemas.microsoft.com/office/drawing/2014/main" id="{4408F057-530A-4146-B1A1-29963B92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以独立判据检验实际行为</a:t>
            </a:r>
          </a:p>
        </p:txBody>
      </p:sp>
      <p:sp>
        <p:nvSpPr>
          <p:cNvPr id="6" name="预期来自已确认的需求与独立推导，不能直接复制待验证实现的逻辑。">
            <a:extLst xmlns:a="http://schemas.openxmlformats.org/drawingml/2006/main">
              <a:ext uri="{FF2B5EF4-FFF2-40B4-BE49-F238E27FC236}">
                <a16:creationId xmlns:a16="http://schemas.microsoft.com/office/drawing/2014/main" id="{2D6A6CF5-F6B4-496B-9417-1BBBC673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预期来自已确认的需求与独立推导，不能直接复制待验证实现的逻辑。</a:t>
            </a:r>
          </a:p>
        </p:txBody>
      </p:sp>
      <p:sp>
        <p:nvSpPr>
          <p:cNvPr id="7" name="判据来源">
            <a:extLst xmlns:a="http://schemas.openxmlformats.org/drawingml/2006/main">
              <a:ext uri="{FF2B5EF4-FFF2-40B4-BE49-F238E27FC236}">
                <a16:creationId xmlns:a16="http://schemas.microsoft.com/office/drawing/2014/main" id="{060A72F0-94EF-4DD4-8FC1-A46AEFEE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3143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F78"/>
                </a:solidFill>
              </a:rPr>
              <a:t>判据来源</a:t>
            </a:r>
          </a:p>
        </p:txBody>
      </p:sp>
      <p:sp>
        <p:nvSpPr>
          <p:cNvPr id="8" name="受控需求&#10;设计约束&#10;独立分析">
            <a:extLst xmlns:a="http://schemas.openxmlformats.org/drawingml/2006/main">
              <a:ext uri="{FF2B5EF4-FFF2-40B4-BE49-F238E27FC236}">
                <a16:creationId xmlns:a16="http://schemas.microsoft.com/office/drawing/2014/main" id="{34F3FF14-C9C7-469F-BC27-419ACB5D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3143250" cy="140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3E"/>
                </a:solidFill>
              </a:rPr>
              <a:t>受控需求
设计约束
独立分析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997E8B0C-4D2F-4316-9806-A2C926E0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05075"/>
            <a:ext cx="95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0" name="单元">
            <a:extLst xmlns:a="http://schemas.openxmlformats.org/drawingml/2006/main">
              <a:ext uri="{FF2B5EF4-FFF2-40B4-BE49-F238E27FC236}">
                <a16:creationId xmlns:a16="http://schemas.microsoft.com/office/drawing/2014/main" id="{43B2CF8C-20EF-406C-9E2B-BA2C43E9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14600"/>
            <a:ext cx="1524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单元</a:t>
            </a:r>
          </a:p>
        </p:txBody>
      </p:sp>
      <p:sp>
        <p:nvSpPr>
          <p:cNvPr id="11" name="契约与边界">
            <a:extLst xmlns:a="http://schemas.openxmlformats.org/drawingml/2006/main">
              <a:ext uri="{FF2B5EF4-FFF2-40B4-BE49-F238E27FC236}">
                <a16:creationId xmlns:a16="http://schemas.microsoft.com/office/drawing/2014/main" id="{13501C4E-4DF6-431B-BDF9-92418C77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52700"/>
            <a:ext cx="4857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7278"/>
                </a:solidFill>
              </a:rPr>
              <a:t>契约与边界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1BFC2955-DE76-419A-86AF-84B8376A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09925"/>
            <a:ext cx="697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3" name="集成">
            <a:extLst xmlns:a="http://schemas.openxmlformats.org/drawingml/2006/main">
              <a:ext uri="{FF2B5EF4-FFF2-40B4-BE49-F238E27FC236}">
                <a16:creationId xmlns:a16="http://schemas.microsoft.com/office/drawing/2014/main" id="{3D59BEB8-B07F-4F6D-9387-C589D26B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57575"/>
            <a:ext cx="1524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集成</a:t>
            </a:r>
          </a:p>
        </p:txBody>
      </p:sp>
      <p:sp>
        <p:nvSpPr>
          <p:cNvPr id="14" name="接口与交互">
            <a:extLst xmlns:a="http://schemas.openxmlformats.org/drawingml/2006/main">
              <a:ext uri="{FF2B5EF4-FFF2-40B4-BE49-F238E27FC236}">
                <a16:creationId xmlns:a16="http://schemas.microsoft.com/office/drawing/2014/main" id="{11BA6068-5803-44A4-9125-B6B46127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95675"/>
            <a:ext cx="4857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7278"/>
                </a:solidFill>
              </a:rPr>
              <a:t>接口与交互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61F7ED79-AA1D-4117-9E8A-2060CDE6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52900"/>
            <a:ext cx="697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6" name="系统">
            <a:extLst xmlns:a="http://schemas.openxmlformats.org/drawingml/2006/main">
              <a:ext uri="{FF2B5EF4-FFF2-40B4-BE49-F238E27FC236}">
                <a16:creationId xmlns:a16="http://schemas.microsoft.com/office/drawing/2014/main" id="{46394C93-5BAE-4D7A-834A-86C3ED88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00550"/>
            <a:ext cx="1524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系统</a:t>
            </a:r>
          </a:p>
        </p:txBody>
      </p:sp>
      <p:sp>
        <p:nvSpPr>
          <p:cNvPr id="17" name="端到端行为">
            <a:extLst xmlns:a="http://schemas.openxmlformats.org/drawingml/2006/main">
              <a:ext uri="{FF2B5EF4-FFF2-40B4-BE49-F238E27FC236}">
                <a16:creationId xmlns:a16="http://schemas.microsoft.com/office/drawing/2014/main" id="{3519C439-4B94-4B6C-BA6B-D5F77F9A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438650"/>
            <a:ext cx="4857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F7278"/>
                </a:solidFill>
              </a:rPr>
              <a:t>端到端行为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DEA77BFA-9807-48CB-8794-3B65006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95875"/>
            <a:ext cx="697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9" name="补充必要的领域分析与环境验证">
            <a:extLst xmlns:a="http://schemas.openxmlformats.org/drawingml/2006/main">
              <a:ext uri="{FF2B5EF4-FFF2-40B4-BE49-F238E27FC236}">
                <a16:creationId xmlns:a16="http://schemas.microsoft.com/office/drawing/2014/main" id="{749694B0-8677-4616-B906-E6F92610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3429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7278"/>
                </a:solidFill>
              </a:rPr>
              <a:t>补充必要的领域分析与环境验证</a:t>
            </a:r>
          </a:p>
        </p:txBody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58308BC4-B998-4572-B690-73217296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1" name="交给下一环节">
            <a:extLst xmlns:a="http://schemas.openxmlformats.org/drawingml/2006/main">
              <a:ext uri="{FF2B5EF4-FFF2-40B4-BE49-F238E27FC236}">
                <a16:creationId xmlns:a16="http://schemas.microsoft.com/office/drawing/2014/main" id="{827BBD8B-6CFF-41A2-A46E-4A5474C7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交给下一环节</a:t>
            </a:r>
          </a:p>
        </p:txBody>
      </p:sp>
      <p:sp>
        <p:nvSpPr>
          <p:cNvPr id="22" name="绑定构建、环境和用例版本的证据；明确失败、未知与覆盖边界。">
            <a:extLst xmlns:a="http://schemas.openxmlformats.org/drawingml/2006/main">
              <a:ext uri="{FF2B5EF4-FFF2-40B4-BE49-F238E27FC236}">
                <a16:creationId xmlns:a16="http://schemas.microsoft.com/office/drawing/2014/main" id="{A6EE74E7-5F8F-4AA2-8D38-745602B8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绑定构建、环境和用例版本的证据；明确失败、未知与覆盖边界。</a:t>
            </a:r>
          </a:p>
        </p:txBody>
      </p:sp>
    </p:spTree>
    <p:extLst>
      <p:ext uri="{BB962C8B-B14F-4D97-AF65-F5344CB8AC3E}">
        <p14:creationId xmlns:p14="http://schemas.microsoft.com/office/powerpoint/2010/main" val="4915934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F75E1EEE-2DFA-4626-B1F5-1C8566D4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8248BD7A-2A49-43DB-BAFB-413FAC03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7 / 14">
            <a:extLst xmlns:a="http://schemas.openxmlformats.org/drawingml/2006/main">
              <a:ext uri="{FF2B5EF4-FFF2-40B4-BE49-F238E27FC236}">
                <a16:creationId xmlns:a16="http://schemas.microsoft.com/office/drawing/2014/main" id="{2EB3B965-1D4F-45CF-9D6B-B90F37F7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07 / 14</a:t>
            </a:r>
          </a:p>
        </p:txBody>
      </p:sp>
      <p:sp>
        <p:nvSpPr>
          <p:cNvPr id="4" name="正向质量链 / 04 交付判定">
            <a:extLst xmlns:a="http://schemas.openxmlformats.org/drawingml/2006/main">
              <a:ext uri="{FF2B5EF4-FFF2-40B4-BE49-F238E27FC236}">
                <a16:creationId xmlns:a16="http://schemas.microsoft.com/office/drawing/2014/main" id="{BA24FC03-2FB4-49B5-A263-0E321127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正向质量链 / 04 交付判定</a:t>
            </a:r>
          </a:p>
        </p:txBody>
      </p:sp>
      <p:sp>
        <p:nvSpPr>
          <p:cNvPr id="5" name="交付结论必须由证据支持">
            <a:extLst xmlns:a="http://schemas.openxmlformats.org/drawingml/2006/main">
              <a:ext uri="{FF2B5EF4-FFF2-40B4-BE49-F238E27FC236}">
                <a16:creationId xmlns:a16="http://schemas.microsoft.com/office/drawing/2014/main" id="{60D5FE6A-2CA5-43A3-AF57-0CD0DEBC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交付结论必须由证据支持</a:t>
            </a:r>
          </a:p>
        </p:txBody>
      </p:sp>
      <p:sp>
        <p:nvSpPr>
          <p:cNvPr id="6" name="阶段完成、问题关闭与发布批准是不同决定，不能相互替代。">
            <a:extLst xmlns:a="http://schemas.openxmlformats.org/drawingml/2006/main">
              <a:ext uri="{FF2B5EF4-FFF2-40B4-BE49-F238E27FC236}">
                <a16:creationId xmlns:a16="http://schemas.microsoft.com/office/drawing/2014/main" id="{6E134A67-CDB8-481C-B1BE-0ABDBBC6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阶段完成、问题关闭与发布批准是不同决定，不能相互替代。</a:t>
            </a:r>
          </a:p>
        </p:txBody>
      </p:sp>
      <p:sp>
        <p:nvSpPr>
          <p:cNvPr id="7" name="先核验三件事">
            <a:extLst xmlns:a="http://schemas.openxmlformats.org/drawingml/2006/main">
              <a:ext uri="{FF2B5EF4-FFF2-40B4-BE49-F238E27FC236}">
                <a16:creationId xmlns:a16="http://schemas.microsoft.com/office/drawing/2014/main" id="{777A3004-4664-49C1-A201-60A5A583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09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23E"/>
                </a:solidFill>
              </a:rPr>
              <a:t>先核验三件事</a:t>
            </a:r>
          </a:p>
        </p:txBody>
      </p:sp>
      <p:sp>
        <p:nvSpPr>
          <p:cNvPr id="8" name="义务是否覆盖&#10;证据是否有效&#10;限制是否可接受">
            <a:extLst xmlns:a="http://schemas.openxmlformats.org/drawingml/2006/main">
              <a:ext uri="{FF2B5EF4-FFF2-40B4-BE49-F238E27FC236}">
                <a16:creationId xmlns:a16="http://schemas.microsoft.com/office/drawing/2014/main" id="{56F079AE-0E9F-4EA1-A8EC-DC96E3F4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4095750" cy="1628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F7278"/>
                </a:solidFill>
              </a:rPr>
              <a:t>义务是否覆盖
证据是否有效
限制是否可接受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ACE34CBA-0225-43F9-AA10-490A0119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76500"/>
            <a:ext cx="9525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0" name="通过">
            <a:extLst xmlns:a="http://schemas.openxmlformats.org/drawingml/2006/main">
              <a:ext uri="{FF2B5EF4-FFF2-40B4-BE49-F238E27FC236}">
                <a16:creationId xmlns:a16="http://schemas.microsoft.com/office/drawing/2014/main" id="{933B36C0-E77F-4FFA-AC12-7276DFEA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05075"/>
            <a:ext cx="1809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F78"/>
                </a:solidFill>
              </a:rPr>
              <a:t>通过</a:t>
            </a:r>
          </a:p>
        </p:txBody>
      </p:sp>
      <p:sp>
        <p:nvSpPr>
          <p:cNvPr id="11" name="适用义务满足，证据可核验">
            <a:extLst xmlns:a="http://schemas.openxmlformats.org/drawingml/2006/main">
              <a:ext uri="{FF2B5EF4-FFF2-40B4-BE49-F238E27FC236}">
                <a16:creationId xmlns:a16="http://schemas.microsoft.com/office/drawing/2014/main" id="{14D753A9-5969-4107-84F2-83A634CD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8671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适用义务满足，证据可核验</a:t>
            </a:r>
          </a:p>
        </p:txBody>
      </p:sp>
      <p:sp>
        <p:nvSpPr>
          <p:cNvPr id="12" name="受限推进">
            <a:extLst xmlns:a="http://schemas.openxmlformats.org/drawingml/2006/main">
              <a:ext uri="{FF2B5EF4-FFF2-40B4-BE49-F238E27FC236}">
                <a16:creationId xmlns:a16="http://schemas.microsoft.com/office/drawing/2014/main" id="{7E2027A4-5886-4E39-97F3-002C8649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1809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受限推进</a:t>
            </a:r>
          </a:p>
        </p:txBody>
      </p:sp>
      <p:sp>
        <p:nvSpPr>
          <p:cNvPr id="13" name="边界明确，风险与责任已确认">
            <a:extLst xmlns:a="http://schemas.openxmlformats.org/drawingml/2006/main">
              <a:ext uri="{FF2B5EF4-FFF2-40B4-BE49-F238E27FC236}">
                <a16:creationId xmlns:a16="http://schemas.microsoft.com/office/drawing/2014/main" id="{A9299DEF-1306-4396-959C-6E04745D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76625"/>
            <a:ext cx="38671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边界明确，风险与责任已确认</a:t>
            </a:r>
          </a:p>
        </p:txBody>
      </p:sp>
      <p:sp>
        <p:nvSpPr>
          <p:cNvPr id="14" name="暂停">
            <a:extLst xmlns:a="http://schemas.openxmlformats.org/drawingml/2006/main">
              <a:ext uri="{FF2B5EF4-FFF2-40B4-BE49-F238E27FC236}">
                <a16:creationId xmlns:a16="http://schemas.microsoft.com/office/drawing/2014/main" id="{6C8D809A-3D98-4B22-BB81-C3A479BA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52925"/>
            <a:ext cx="1809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A5633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56332"/>
                </a:solidFill>
              </a:rPr>
              <a:t>暂停</a:t>
            </a:r>
          </a:p>
        </p:txBody>
      </p:sp>
      <p:sp>
        <p:nvSpPr>
          <p:cNvPr id="15" name="关键冲突、未知或证据缺口未解决">
            <a:extLst xmlns:a="http://schemas.openxmlformats.org/drawingml/2006/main">
              <a:ext uri="{FF2B5EF4-FFF2-40B4-BE49-F238E27FC236}">
                <a16:creationId xmlns:a16="http://schemas.microsoft.com/office/drawing/2014/main" id="{C6CCBE9C-A8D5-40A2-8797-1A973C40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00550"/>
            <a:ext cx="38671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关键冲突、未知或证据缺口未解决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B6567093-6DD6-47A0-B6E7-AA177278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7" name="形成当前结论">
            <a:extLst xmlns:a="http://schemas.openxmlformats.org/drawingml/2006/main">
              <a:ext uri="{FF2B5EF4-FFF2-40B4-BE49-F238E27FC236}">
                <a16:creationId xmlns:a16="http://schemas.microsoft.com/office/drawing/2014/main" id="{C871A747-C313-45F7-9D2A-327B5406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形成当前结论</a:t>
            </a:r>
          </a:p>
        </p:txBody>
      </p:sp>
      <p:sp>
        <p:nvSpPr>
          <p:cNvPr id="18" name="结论绑定具体版本与适用范围；下一次变更可能使其失效。">
            <a:extLst xmlns:a="http://schemas.openxmlformats.org/drawingml/2006/main">
              <a:ext uri="{FF2B5EF4-FFF2-40B4-BE49-F238E27FC236}">
                <a16:creationId xmlns:a16="http://schemas.microsoft.com/office/drawing/2014/main" id="{D63015C7-4E56-461B-8A2A-6533F6AC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结论绑定具体版本与适用范围；下一次变更可能使其失效。</a:t>
            </a:r>
          </a:p>
        </p:txBody>
      </p:sp>
    </p:spTree>
    <p:extLst>
      <p:ext uri="{BB962C8B-B14F-4D97-AF65-F5344CB8AC3E}">
        <p14:creationId xmlns:p14="http://schemas.microsoft.com/office/powerpoint/2010/main" val="11559571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22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F3282226-87BD-4AAC-913F-EA1757B6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08EFF833-ED84-4B0C-83F5-2F736277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软件质量的连续保障</a:t>
            </a:r>
          </a:p>
        </p:txBody>
      </p:sp>
      <p:sp>
        <p:nvSpPr>
          <p:cNvPr id="3" name="08 / 14">
            <a:extLst xmlns:a="http://schemas.openxmlformats.org/drawingml/2006/main">
              <a:ext uri="{FF2B5EF4-FFF2-40B4-BE49-F238E27FC236}">
                <a16:creationId xmlns:a16="http://schemas.microsoft.com/office/drawing/2014/main" id="{E78C373E-5B25-4E03-9D3C-82810F2A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08 / 14</a:t>
            </a:r>
          </a:p>
        </p:txBody>
      </p:sp>
      <p:sp>
        <p:nvSpPr>
          <p:cNvPr id="4" name="变更闭环 / 进入条件">
            <a:extLst xmlns:a="http://schemas.openxmlformats.org/drawingml/2006/main">
              <a:ext uri="{FF2B5EF4-FFF2-40B4-BE49-F238E27FC236}">
                <a16:creationId xmlns:a16="http://schemas.microsoft.com/office/drawing/2014/main" id="{7966553F-5D1D-441A-A537-AB2514F2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DDED0"/>
                </a:solidFill>
              </a:rPr>
              <a:t>变更闭环 / 进入条件</a:t>
            </a:r>
          </a:p>
        </p:txBody>
      </p:sp>
      <p:sp>
        <p:nvSpPr>
          <p:cNvPr id="5" name="变更先确定影响，再进入修改">
            <a:extLst xmlns:a="http://schemas.openxmlformats.org/drawingml/2006/main">
              <a:ext uri="{FF2B5EF4-FFF2-40B4-BE49-F238E27FC236}">
                <a16:creationId xmlns:a16="http://schemas.microsoft.com/office/drawing/2014/main" id="{BD0B587D-6722-40C0-A0F7-09B5DC19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7F6F1"/>
                </a:solidFill>
              </a:rPr>
              <a:t>变更先确定影响，再进入修改</a:t>
            </a:r>
          </a:p>
        </p:txBody>
      </p:sp>
      <p:sp>
        <p:nvSpPr>
          <p:cNvPr id="6" name="新增需求、设计调整、代码修复及配置变化，适用同一原则。">
            <a:extLst xmlns:a="http://schemas.openxmlformats.org/drawingml/2006/main">
              <a:ext uri="{FF2B5EF4-FFF2-40B4-BE49-F238E27FC236}">
                <a16:creationId xmlns:a16="http://schemas.microsoft.com/office/drawing/2014/main" id="{16E2A353-7906-41FD-8404-925A15C3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新增需求、设计调整、代码修复及配置变化，适用同一原则。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991EBB85-8200-4CD7-BFAA-99FE1A91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24225"/>
            <a:ext cx="4953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8" name="flow-arrow">
            <a:extLst xmlns:a="http://schemas.openxmlformats.org/drawingml/2006/main">
              <a:ext uri="{FF2B5EF4-FFF2-40B4-BE49-F238E27FC236}">
                <a16:creationId xmlns:a16="http://schemas.microsoft.com/office/drawing/2014/main" id="{B96CA8DA-9465-4EEF-BDDA-C3A9B8B0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24225"/>
            <a:ext cx="4953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DDED0"/>
          </a:solidFill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F48C1B71-A44D-4E0F-884E-6B7F655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857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7DDED0"/>
                </a:solidFill>
              </a:rPr>
              <a:t>01</a:t>
            </a:r>
          </a:p>
        </p:txBody>
      </p:sp>
      <p:sp>
        <p:nvSpPr>
          <p:cNvPr id="10" name="保留原基线">
            <a:extLst xmlns:a="http://schemas.openxmlformats.org/drawingml/2006/main">
              <a:ext uri="{FF2B5EF4-FFF2-40B4-BE49-F238E27FC236}">
                <a16:creationId xmlns:a16="http://schemas.microsoft.com/office/drawing/2014/main" id="{9C04919E-D927-4998-8B9E-312ABC00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3124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保留原基线</a:t>
            </a:r>
          </a:p>
        </p:txBody>
      </p:sp>
      <p:sp>
        <p:nvSpPr>
          <p:cNvPr id="11" name="保存变更原因、原始问题&#10;与历史验证结果">
            <a:extLst xmlns:a="http://schemas.openxmlformats.org/drawingml/2006/main">
              <a:ext uri="{FF2B5EF4-FFF2-40B4-BE49-F238E27FC236}">
                <a16:creationId xmlns:a16="http://schemas.microsoft.com/office/drawing/2014/main" id="{385A0A45-6DA1-4AA0-80D1-5FF2612A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31242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保存变更原因、原始问题
与历史验证结果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F8371C9C-3024-41EA-8032-7F04EECB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71750"/>
            <a:ext cx="2857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7DDED0"/>
                </a:solidFill>
              </a:rPr>
              <a:t>02</a:t>
            </a:r>
          </a:p>
        </p:txBody>
      </p:sp>
      <p:sp>
        <p:nvSpPr>
          <p:cNvPr id="13" name="分析影响">
            <a:extLst xmlns:a="http://schemas.openxmlformats.org/drawingml/2006/main">
              <a:ext uri="{FF2B5EF4-FFF2-40B4-BE49-F238E27FC236}">
                <a16:creationId xmlns:a16="http://schemas.microsoft.com/office/drawing/2014/main" id="{2F5760EB-9561-4CE8-B826-04C481F5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57550"/>
            <a:ext cx="3124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分析影响</a:t>
            </a:r>
          </a:p>
        </p:txBody>
      </p:sp>
      <p:sp>
        <p:nvSpPr>
          <p:cNvPr id="14" name="沿追溯关系确定要修改、&#10;要复核与不受影响的范围">
            <a:extLst xmlns:a="http://schemas.openxmlformats.org/drawingml/2006/main">
              <a:ext uri="{FF2B5EF4-FFF2-40B4-BE49-F238E27FC236}">
                <a16:creationId xmlns:a16="http://schemas.microsoft.com/office/drawing/2014/main" id="{3FAB8AEB-1EC8-40A7-A719-AD966F28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86225"/>
            <a:ext cx="31242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沿追溯关系确定要修改、
要复核与不受影响的范围</a:t>
            </a:r>
          </a:p>
        </p:txBody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077DE3F3-4A3F-4A74-9A07-BA8EC7EE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857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7DDED0"/>
                </a:solidFill>
              </a:rPr>
              <a:t>03</a:t>
            </a:r>
          </a:p>
        </p:txBody>
      </p:sp>
      <p:sp>
        <p:nvSpPr>
          <p:cNvPr id="16" name="确认变更边界">
            <a:extLst xmlns:a="http://schemas.openxmlformats.org/drawingml/2006/main">
              <a:ext uri="{FF2B5EF4-FFF2-40B4-BE49-F238E27FC236}">
                <a16:creationId xmlns:a16="http://schemas.microsoft.com/office/drawing/2014/main" id="{F51DE047-231F-4923-A322-E0CEA9F3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124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确认变更边界</a:t>
            </a:r>
          </a:p>
        </p:txBody>
      </p:sp>
      <p:sp>
        <p:nvSpPr>
          <p:cNvPr id="17" name="明确目标差异、批准决定&#10;与回归接受条件">
            <a:extLst xmlns:a="http://schemas.openxmlformats.org/drawingml/2006/main">
              <a:ext uri="{FF2B5EF4-FFF2-40B4-BE49-F238E27FC236}">
                <a16:creationId xmlns:a16="http://schemas.microsoft.com/office/drawing/2014/main" id="{0277781C-FB16-4420-A84E-5D08F0DD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86225"/>
            <a:ext cx="31242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明确目标差异、批准决定
与回归接受条件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8814A6C6-5C7A-4B01-B11D-F5676847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19" name="下一步">
            <a:extLst xmlns:a="http://schemas.openxmlformats.org/drawingml/2006/main">
              <a:ext uri="{FF2B5EF4-FFF2-40B4-BE49-F238E27FC236}">
                <a16:creationId xmlns:a16="http://schemas.microsoft.com/office/drawing/2014/main" id="{953475C0-D098-468D-B4B2-D75EC097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DDED0"/>
                </a:solidFill>
              </a:rPr>
              <a:t>下一步</a:t>
            </a:r>
          </a:p>
        </p:txBody>
      </p:sp>
      <p:sp>
        <p:nvSpPr>
          <p:cNvPr id="20" name="根据影响范围，返回正向质量链中最早受影响的环节。">
            <a:extLst xmlns:a="http://schemas.openxmlformats.org/drawingml/2006/main">
              <a:ext uri="{FF2B5EF4-FFF2-40B4-BE49-F238E27FC236}">
                <a16:creationId xmlns:a16="http://schemas.microsoft.com/office/drawing/2014/main" id="{573A8187-E4FB-4969-979B-E8CC9E6E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7F6F1"/>
                </a:solidFill>
              </a:rPr>
              <a:t>根据影响范围，返回正向质量链中最早受影响的环节。</a:t>
            </a:r>
          </a:p>
        </p:txBody>
      </p:sp>
    </p:spTree>
    <p:extLst>
      <p:ext uri="{BB962C8B-B14F-4D97-AF65-F5344CB8AC3E}">
        <p14:creationId xmlns:p14="http://schemas.microsoft.com/office/powerpoint/2010/main" val="11159434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85F2D7E4-B1EE-4770-AF7A-F04346EE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3FAC888D-12B7-4D05-934A-0C8DFA10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09 / 14">
            <a:extLst xmlns:a="http://schemas.openxmlformats.org/drawingml/2006/main">
              <a:ext uri="{FF2B5EF4-FFF2-40B4-BE49-F238E27FC236}">
                <a16:creationId xmlns:a16="http://schemas.microsoft.com/office/drawing/2014/main" id="{6E15F5C9-34E1-4B57-A904-1E8BAF95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09 / 14</a:t>
            </a:r>
          </a:p>
        </p:txBody>
      </p:sp>
      <p:sp>
        <p:nvSpPr>
          <p:cNvPr id="4" name="变更闭环 / 回溯规则">
            <a:extLst xmlns:a="http://schemas.openxmlformats.org/drawingml/2006/main">
              <a:ext uri="{FF2B5EF4-FFF2-40B4-BE49-F238E27FC236}">
                <a16:creationId xmlns:a16="http://schemas.microsoft.com/office/drawing/2014/main" id="{D0104DA9-C4D7-40F1-B1CE-4A204300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变更闭环 / 回溯规则</a:t>
            </a:r>
          </a:p>
        </p:txBody>
      </p:sp>
      <p:sp>
        <p:nvSpPr>
          <p:cNvPr id="5" name="回到最早受影响环节，重查后续链条">
            <a:extLst xmlns:a="http://schemas.openxmlformats.org/drawingml/2006/main">
              <a:ext uri="{FF2B5EF4-FFF2-40B4-BE49-F238E27FC236}">
                <a16:creationId xmlns:a16="http://schemas.microsoft.com/office/drawing/2014/main" id="{D1B362E3-8427-4D0B-B39A-35C6EE32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回到最早受影响环节，重查后续链条</a:t>
            </a:r>
          </a:p>
        </p:txBody>
      </p:sp>
      <p:sp>
        <p:nvSpPr>
          <p:cNvPr id="6" name="回溯位置由实际影响决定，不由修改文件的类型单独决定。">
            <a:extLst xmlns:a="http://schemas.openxmlformats.org/drawingml/2006/main">
              <a:ext uri="{FF2B5EF4-FFF2-40B4-BE49-F238E27FC236}">
                <a16:creationId xmlns:a16="http://schemas.microsoft.com/office/drawing/2014/main" id="{50F3595E-3A4C-48AF-93B2-9F65583C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回溯位置由实际影响决定，不由修改文件的类型单独决定。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A368F24F-7DA6-42F7-9CD3-BE6C6143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D3A"/>
          </a:solidFill>
        </p:spPr>
      </p:sp>
      <p:sp>
        <p:nvSpPr>
          <p:cNvPr id="8" name="变化触及的依据">
            <a:extLst xmlns:a="http://schemas.openxmlformats.org/drawingml/2006/main">
              <a:ext uri="{FF2B5EF4-FFF2-40B4-BE49-F238E27FC236}">
                <a16:creationId xmlns:a16="http://schemas.microsoft.com/office/drawing/2014/main" id="{8EDEA4A1-BA24-4C94-A877-73DB80D3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800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7F6F1"/>
                </a:solidFill>
              </a:rPr>
              <a:t>变化触及的依据</a:t>
            </a:r>
          </a:p>
        </p:txBody>
      </p:sp>
      <p:sp>
        <p:nvSpPr>
          <p:cNvPr id="9" name="重新进入">
            <a:extLst xmlns:a="http://schemas.openxmlformats.org/drawingml/2006/main">
              <a:ext uri="{FF2B5EF4-FFF2-40B4-BE49-F238E27FC236}">
                <a16:creationId xmlns:a16="http://schemas.microsoft.com/office/drawing/2014/main" id="{1EF8AFA9-C21A-4459-BE99-03717DE9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33650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7F6F1"/>
                </a:solidFill>
              </a:rPr>
              <a:t>重新进入</a:t>
            </a:r>
          </a:p>
        </p:txBody>
      </p:sp>
      <p:sp>
        <p:nvSpPr>
          <p:cNvPr id="10" name="必须重新确认">
            <a:extLst xmlns:a="http://schemas.openxmlformats.org/drawingml/2006/main">
              <a:ext uri="{FF2B5EF4-FFF2-40B4-BE49-F238E27FC236}">
                <a16:creationId xmlns:a16="http://schemas.microsoft.com/office/drawing/2014/main" id="{09736F4C-E49F-4C18-B163-7FFC1BDB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33650"/>
            <a:ext cx="4457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7F6F1"/>
                </a:solidFill>
              </a:rPr>
              <a:t>必须重新确认</a:t>
            </a:r>
          </a:p>
        </p:txBody>
      </p:sp>
      <p:sp>
        <p:nvSpPr>
          <p:cNvPr id="11" name="目标 / 需求">
            <a:extLst xmlns:a="http://schemas.openxmlformats.org/drawingml/2006/main">
              <a:ext uri="{FF2B5EF4-FFF2-40B4-BE49-F238E27FC236}">
                <a16:creationId xmlns:a16="http://schemas.microsoft.com/office/drawing/2014/main" id="{94C7CF44-80D4-4185-88CC-728E5854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95625"/>
            <a:ext cx="28003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目标 / 需求</a:t>
            </a:r>
          </a:p>
        </p:txBody>
      </p:sp>
      <p:sp>
        <p:nvSpPr>
          <p:cNvPr id="12" name="01 确立基线">
            <a:extLst xmlns:a="http://schemas.openxmlformats.org/drawingml/2006/main">
              <a:ext uri="{FF2B5EF4-FFF2-40B4-BE49-F238E27FC236}">
                <a16:creationId xmlns:a16="http://schemas.microsoft.com/office/drawing/2014/main" id="{21FFAE0F-DC9B-4C68-944B-87543AE0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95625"/>
            <a:ext cx="2514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7F78"/>
                </a:solidFill>
              </a:rPr>
              <a:t>01 确立基线</a:t>
            </a:r>
          </a:p>
        </p:txBody>
      </p:sp>
      <p:sp>
        <p:nvSpPr>
          <p:cNvPr id="13" name="合理性、两级一致性及受影响验证">
            <a:extLst xmlns:a="http://schemas.openxmlformats.org/drawingml/2006/main">
              <a:ext uri="{FF2B5EF4-FFF2-40B4-BE49-F238E27FC236}">
                <a16:creationId xmlns:a16="http://schemas.microsoft.com/office/drawing/2014/main" id="{05BF8497-773F-4B8C-996A-FD425B22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95625"/>
            <a:ext cx="4457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合理性、两级一致性及受影响验证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880E4740-D5A5-412B-8822-06118EDC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5" name="设计机制">
            <a:extLst xmlns:a="http://schemas.openxmlformats.org/drawingml/2006/main">
              <a:ext uri="{FF2B5EF4-FFF2-40B4-BE49-F238E27FC236}">
                <a16:creationId xmlns:a16="http://schemas.microsoft.com/office/drawing/2014/main" id="{8C4D396F-3802-431C-8637-2FE03B6C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95725"/>
            <a:ext cx="28003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设计机制</a:t>
            </a:r>
          </a:p>
        </p:txBody>
      </p:sp>
      <p:sp>
        <p:nvSpPr>
          <p:cNvPr id="16" name="02 逐层落实">
            <a:extLst xmlns:a="http://schemas.openxmlformats.org/drawingml/2006/main">
              <a:ext uri="{FF2B5EF4-FFF2-40B4-BE49-F238E27FC236}">
                <a16:creationId xmlns:a16="http://schemas.microsoft.com/office/drawing/2014/main" id="{6EBBED6C-787B-4C81-8EC7-DC6E6389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95725"/>
            <a:ext cx="2514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7F78"/>
                </a:solidFill>
              </a:rPr>
              <a:t>02 逐层落实</a:t>
            </a:r>
          </a:p>
        </p:txBody>
      </p:sp>
      <p:sp>
        <p:nvSpPr>
          <p:cNvPr id="17" name="需求承接、实现一致性及回归">
            <a:extLst xmlns:a="http://schemas.openxmlformats.org/drawingml/2006/main">
              <a:ext uri="{FF2B5EF4-FFF2-40B4-BE49-F238E27FC236}">
                <a16:creationId xmlns:a16="http://schemas.microsoft.com/office/drawing/2014/main" id="{80CE7AFF-761A-4B8C-B916-0D8CD7EB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895725"/>
            <a:ext cx="4457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需求承接、实现一致性及回归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297E80D3-DA43-4C79-9CAD-51B61B70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9" name="实现 / 配置">
            <a:extLst xmlns:a="http://schemas.openxmlformats.org/drawingml/2006/main">
              <a:ext uri="{FF2B5EF4-FFF2-40B4-BE49-F238E27FC236}">
                <a16:creationId xmlns:a16="http://schemas.microsoft.com/office/drawing/2014/main" id="{A8EA8FD0-B249-43BE-8F1C-B7FD5DC9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28003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实现 / 配置</a:t>
            </a:r>
          </a:p>
        </p:txBody>
      </p:sp>
      <p:sp>
        <p:nvSpPr>
          <p:cNvPr id="20" name="02 实现一致性检查">
            <a:extLst xmlns:a="http://schemas.openxmlformats.org/drawingml/2006/main">
              <a:ext uri="{FF2B5EF4-FFF2-40B4-BE49-F238E27FC236}">
                <a16:creationId xmlns:a16="http://schemas.microsoft.com/office/drawing/2014/main" id="{906AD630-3E5C-44FA-ABE6-EE88D9C6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95825"/>
            <a:ext cx="25146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7F78"/>
                </a:solidFill>
              </a:rPr>
              <a:t>02 实现一致性检查</a:t>
            </a:r>
          </a:p>
        </p:txBody>
      </p:sp>
      <p:sp>
        <p:nvSpPr>
          <p:cNvPr id="21" name="设计符合性、构建与行为回归">
            <a:extLst xmlns:a="http://schemas.openxmlformats.org/drawingml/2006/main">
              <a:ext uri="{FF2B5EF4-FFF2-40B4-BE49-F238E27FC236}">
                <a16:creationId xmlns:a16="http://schemas.microsoft.com/office/drawing/2014/main" id="{F2C151FA-394D-41DB-A279-8DDD34D8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95825"/>
            <a:ext cx="4457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设计符合性、构建与行为回归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3B3C0D91-B35E-41E7-8798-35F60F7B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22F62EE0-5A7E-4C96-9D00-E4667AFC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4" name="重新判定">
            <a:extLst xmlns:a="http://schemas.openxmlformats.org/drawingml/2006/main">
              <a:ext uri="{FF2B5EF4-FFF2-40B4-BE49-F238E27FC236}">
                <a16:creationId xmlns:a16="http://schemas.microsoft.com/office/drawing/2014/main" id="{4771D0F6-0A09-4CE5-9223-17D5A9F0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重新判定</a:t>
            </a:r>
          </a:p>
        </p:txBody>
      </p:sp>
      <p:sp>
        <p:nvSpPr>
          <p:cNvPr id="25" name="替换失效证据，复验原问题；变更后的结论必须重新成立。">
            <a:extLst xmlns:a="http://schemas.openxmlformats.org/drawingml/2006/main">
              <a:ext uri="{FF2B5EF4-FFF2-40B4-BE49-F238E27FC236}">
                <a16:creationId xmlns:a16="http://schemas.microsoft.com/office/drawing/2014/main" id="{53669737-0E9A-4F3A-A2E6-1EF98FC4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替换失效证据，复验原问题；变更后的结论必须重新成立。</a:t>
            </a:r>
          </a:p>
        </p:txBody>
      </p:sp>
    </p:spTree>
    <p:extLst>
      <p:ext uri="{BB962C8B-B14F-4D97-AF65-F5344CB8AC3E}">
        <p14:creationId xmlns:p14="http://schemas.microsoft.com/office/powerpoint/2010/main" val="1139070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E1FFCCFF-0CD6-45A6-BAE1-29637557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9B1554A4-EE10-489E-87A3-5DCCAB65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10 / 14">
            <a:extLst xmlns:a="http://schemas.openxmlformats.org/drawingml/2006/main">
              <a:ext uri="{FF2B5EF4-FFF2-40B4-BE49-F238E27FC236}">
                <a16:creationId xmlns:a16="http://schemas.microsoft.com/office/drawing/2014/main" id="{08412706-77DC-4AB8-AF98-E2135C82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10 / 14</a:t>
            </a:r>
          </a:p>
        </p:txBody>
      </p:sp>
      <p:sp>
        <p:nvSpPr>
          <p:cNvPr id="4" name="变更闭环 / 问题关闭">
            <a:extLst xmlns:a="http://schemas.openxmlformats.org/drawingml/2006/main">
              <a:ext uri="{FF2B5EF4-FFF2-40B4-BE49-F238E27FC236}">
                <a16:creationId xmlns:a16="http://schemas.microsoft.com/office/drawing/2014/main" id="{F6683730-0D58-44AB-9DDE-1E357522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变更闭环 / 问题关闭</a:t>
            </a:r>
          </a:p>
        </p:txBody>
      </p:sp>
      <p:sp>
        <p:nvSpPr>
          <p:cNvPr id="5" name="反馈必须落到正确的修订对象">
            <a:extLst xmlns:a="http://schemas.openxmlformats.org/drawingml/2006/main">
              <a:ext uri="{FF2B5EF4-FFF2-40B4-BE49-F238E27FC236}">
                <a16:creationId xmlns:a16="http://schemas.microsoft.com/office/drawing/2014/main" id="{31D735DC-D791-4DF0-A5B0-7BB7FEF9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反馈必须落到正确的修订对象</a:t>
            </a:r>
          </a:p>
        </p:txBody>
      </p:sp>
      <p:sp>
        <p:nvSpPr>
          <p:cNvPr id="6" name="先区分事实与假设，再决定改需求、设计、实现，还是验证方法。">
            <a:extLst xmlns:a="http://schemas.openxmlformats.org/drawingml/2006/main">
              <a:ext uri="{FF2B5EF4-FFF2-40B4-BE49-F238E27FC236}">
                <a16:creationId xmlns:a16="http://schemas.microsoft.com/office/drawing/2014/main" id="{7805CEB1-2C73-4A85-A894-90D01372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先区分事实与假设，再决定改需求、设计、实现，还是验证方法。</a:t>
            </a:r>
          </a:p>
        </p:txBody>
      </p:sp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35126DCC-FE8B-4CDD-8365-48A7DFFE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6227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8" name="flow-arrow">
            <a:extLst xmlns:a="http://schemas.openxmlformats.org/drawingml/2006/main">
              <a:ext uri="{FF2B5EF4-FFF2-40B4-BE49-F238E27FC236}">
                <a16:creationId xmlns:a16="http://schemas.microsoft.com/office/drawing/2014/main" id="{07D70212-CD5C-43D2-B30D-BB2F5BF2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96227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917AAB0-0DD6-407C-8BE5-D3F502EE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6227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10" name="证据定位">
            <a:extLst xmlns:a="http://schemas.openxmlformats.org/drawingml/2006/main">
              <a:ext uri="{FF2B5EF4-FFF2-40B4-BE49-F238E27FC236}">
                <a16:creationId xmlns:a16="http://schemas.microsoft.com/office/drawing/2014/main" id="{13963847-22E3-4DA4-AF9B-E1B3A6DC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228600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证据定位</a:t>
            </a:r>
          </a:p>
        </p:txBody>
      </p:sp>
      <p:sp>
        <p:nvSpPr>
          <p:cNvPr id="11" name="预期与实际的差异&#10;版本与环境是否有效">
            <a:extLst xmlns:a="http://schemas.openxmlformats.org/drawingml/2006/main">
              <a:ext uri="{FF2B5EF4-FFF2-40B4-BE49-F238E27FC236}">
                <a16:creationId xmlns:a16="http://schemas.microsoft.com/office/drawing/2014/main" id="{67FF0006-DD65-4A45-9F30-884524BF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2286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预期与实际的差异
版本与环境是否有效</a:t>
            </a:r>
          </a:p>
        </p:txBody>
      </p:sp>
      <p:sp>
        <p:nvSpPr>
          <p:cNvPr id="12" name="原因判断">
            <a:extLst xmlns:a="http://schemas.openxmlformats.org/drawingml/2006/main">
              <a:ext uri="{FF2B5EF4-FFF2-40B4-BE49-F238E27FC236}">
                <a16:creationId xmlns:a16="http://schemas.microsoft.com/office/drawing/2014/main" id="{29A35E6E-6D56-473D-9936-F6613737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71775"/>
            <a:ext cx="228600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原因判断</a:t>
            </a:r>
          </a:p>
        </p:txBody>
      </p:sp>
      <p:sp>
        <p:nvSpPr>
          <p:cNvPr id="13" name="定位最早偏离点&#10;保留尚未证实的假设">
            <a:extLst xmlns:a="http://schemas.openxmlformats.org/drawingml/2006/main">
              <a:ext uri="{FF2B5EF4-FFF2-40B4-BE49-F238E27FC236}">
                <a16:creationId xmlns:a16="http://schemas.microsoft.com/office/drawing/2014/main" id="{E4B52C8F-9972-4680-9068-913715CB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81400"/>
            <a:ext cx="2286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定位最早偏离点
保留尚未证实的假设</a:t>
            </a:r>
          </a:p>
        </p:txBody>
      </p:sp>
      <p:sp>
        <p:nvSpPr>
          <p:cNvPr id="14" name="修订决策">
            <a:extLst xmlns:a="http://schemas.openxmlformats.org/drawingml/2006/main">
              <a:ext uri="{FF2B5EF4-FFF2-40B4-BE49-F238E27FC236}">
                <a16:creationId xmlns:a16="http://schemas.microsoft.com/office/drawing/2014/main" id="{41727B46-F45B-4A96-88EF-D9984CD0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71775"/>
            <a:ext cx="228600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修订决策</a:t>
            </a:r>
          </a:p>
        </p:txBody>
      </p:sp>
      <p:sp>
        <p:nvSpPr>
          <p:cNvPr id="15" name="比较选项与影响&#10;确认责任人与修改范围">
            <a:extLst xmlns:a="http://schemas.openxmlformats.org/drawingml/2006/main">
              <a:ext uri="{FF2B5EF4-FFF2-40B4-BE49-F238E27FC236}">
                <a16:creationId xmlns:a16="http://schemas.microsoft.com/office/drawing/2014/main" id="{D291E65C-80EA-4ECD-939D-80951DF4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81400"/>
            <a:ext cx="2286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比较选项与影响
确认责任人与修改范围</a:t>
            </a:r>
          </a:p>
        </p:txBody>
      </p:sp>
      <p:sp>
        <p:nvSpPr>
          <p:cNvPr id="16" name="执行复验">
            <a:extLst xmlns:a="http://schemas.openxmlformats.org/drawingml/2006/main">
              <a:ext uri="{FF2B5EF4-FFF2-40B4-BE49-F238E27FC236}">
                <a16:creationId xmlns:a16="http://schemas.microsoft.com/office/drawing/2014/main" id="{7A1E787E-3474-4A86-AC96-04DD3A04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71775"/>
            <a:ext cx="228600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执行复验</a:t>
            </a:r>
          </a:p>
        </p:txBody>
      </p:sp>
      <p:sp>
        <p:nvSpPr>
          <p:cNvPr id="17" name="同步关联材料&#10;回到影响范围重新验证">
            <a:extLst xmlns:a="http://schemas.openxmlformats.org/drawingml/2006/main">
              <a:ext uri="{FF2B5EF4-FFF2-40B4-BE49-F238E27FC236}">
                <a16:creationId xmlns:a16="http://schemas.microsoft.com/office/drawing/2014/main" id="{F6CC1798-FA2D-42FB-9D7C-C779AF07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581400"/>
            <a:ext cx="2286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同步关联材料
回到影响范围重新验证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A41DA2AB-C041-480D-B5B7-00078876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EEA"/>
          </a:solidFill>
        </p:spPr>
      </p:sp>
      <p:sp>
        <p:nvSpPr>
          <p:cNvPr id="19" name="关闭条件">
            <a:extLst xmlns:a="http://schemas.openxmlformats.org/drawingml/2006/main">
              <a:ext uri="{FF2B5EF4-FFF2-40B4-BE49-F238E27FC236}">
                <a16:creationId xmlns:a16="http://schemas.microsoft.com/office/drawing/2014/main" id="{6D6EB402-6AC0-4E41-8681-65F983FB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78"/>
                </a:solidFill>
              </a:rPr>
              <a:t>关闭条件</a:t>
            </a:r>
          </a:p>
        </p:txBody>
      </p:sp>
      <p:sp>
        <p:nvSpPr>
          <p:cNvPr id="20" name="决定落实  +  材料同步  +  一致性复查  +  原问题复验  +">
            <a:extLst xmlns:a="http://schemas.openxmlformats.org/drawingml/2006/main">
              <a:ext uri="{FF2B5EF4-FFF2-40B4-BE49-F238E27FC236}">
                <a16:creationId xmlns:a16="http://schemas.microsoft.com/office/drawing/2014/main" id="{4C0341CF-192E-41CB-AE90-D6B26EBD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24450"/>
            <a:ext cx="8877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决定落实  +  材料同步  +  一致性复查  +  原问题复验  +  影响回归</a:t>
            </a:r>
          </a:p>
        </p:txBody>
      </p:sp>
      <p:sp>
        <p:nvSpPr>
          <p:cNvPr id="21" name="surface">
            <a:extLst xmlns:a="http://schemas.openxmlformats.org/drawingml/2006/main">
              <a:ext uri="{FF2B5EF4-FFF2-40B4-BE49-F238E27FC236}">
                <a16:creationId xmlns:a16="http://schemas.microsoft.com/office/drawing/2014/main" id="{BA173D6C-AEEF-40E0-9839-0E83852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2" name="回到交付判定">
            <a:extLst xmlns:a="http://schemas.openxmlformats.org/drawingml/2006/main">
              <a:ext uri="{FF2B5EF4-FFF2-40B4-BE49-F238E27FC236}">
                <a16:creationId xmlns:a16="http://schemas.microsoft.com/office/drawing/2014/main" id="{D6E1DFC0-D31F-4099-95E8-159166AE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回到交付判定</a:t>
            </a:r>
          </a:p>
        </p:txBody>
      </p:sp>
      <p:sp>
        <p:nvSpPr>
          <p:cNvPr id="23" name="已修改 ≠ 已验证 ≠ 已关闭。关闭状态必须能追溯到实际证据。">
            <a:extLst xmlns:a="http://schemas.openxmlformats.org/drawingml/2006/main">
              <a:ext uri="{FF2B5EF4-FFF2-40B4-BE49-F238E27FC236}">
                <a16:creationId xmlns:a16="http://schemas.microsoft.com/office/drawing/2014/main" id="{14362A91-AAC1-4E38-B851-A4B6DFB6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已修改 ≠ 已验证 ≠ 已关闭。关闭状态必须能追溯到实际证据。</a:t>
            </a:r>
          </a:p>
        </p:txBody>
      </p:sp>
    </p:spTree>
    <p:extLst>
      <p:ext uri="{BB962C8B-B14F-4D97-AF65-F5344CB8AC3E}">
        <p14:creationId xmlns:p14="http://schemas.microsoft.com/office/powerpoint/2010/main" val="2063002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2F6D1760-2BEF-4CCC-A795-29D22AF0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2F511ACD-5C90-4C3B-B624-3F0ED785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11 / 14">
            <a:extLst xmlns:a="http://schemas.openxmlformats.org/drawingml/2006/main">
              <a:ext uri="{FF2B5EF4-FFF2-40B4-BE49-F238E27FC236}">
                <a16:creationId xmlns:a16="http://schemas.microsoft.com/office/drawing/2014/main" id="{46C121E8-0FC3-484E-98AB-D4C1BED7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11 / 14</a:t>
            </a:r>
          </a:p>
        </p:txBody>
      </p:sp>
      <p:sp>
        <p:nvSpPr>
          <p:cNvPr id="4" name="贯穿机制 / 人机协作">
            <a:extLst xmlns:a="http://schemas.openxmlformats.org/drawingml/2006/main">
              <a:ext uri="{FF2B5EF4-FFF2-40B4-BE49-F238E27FC236}">
                <a16:creationId xmlns:a16="http://schemas.microsoft.com/office/drawing/2014/main" id="{C7CD3EF2-252D-4E7B-BA36-1473D665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贯穿机制 / 人机协作</a:t>
            </a:r>
          </a:p>
        </p:txBody>
      </p:sp>
      <p:sp>
        <p:nvSpPr>
          <p:cNvPr id="5" name="让 AI 连续执行，让人聚焦关键判断">
            <a:extLst xmlns:a="http://schemas.openxmlformats.org/drawingml/2006/main">
              <a:ext uri="{FF2B5EF4-FFF2-40B4-BE49-F238E27FC236}">
                <a16:creationId xmlns:a16="http://schemas.microsoft.com/office/drawing/2014/main" id="{78F6948F-D057-4C39-8623-8BCBE351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让 AI 连续执行，让人聚焦关键判断</a:t>
            </a:r>
          </a:p>
        </p:txBody>
      </p:sp>
      <p:sp>
        <p:nvSpPr>
          <p:cNvPr id="6" name="职责沿质量链分布，共用同一基线、问题清单与证据。">
            <a:extLst xmlns:a="http://schemas.openxmlformats.org/drawingml/2006/main">
              <a:ext uri="{FF2B5EF4-FFF2-40B4-BE49-F238E27FC236}">
                <a16:creationId xmlns:a16="http://schemas.microsoft.com/office/drawing/2014/main" id="{C0743D04-C25B-47FB-9A8C-0E7DA0B2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职责沿质量链分布，共用同一基线、问题清单与证据。</a:t>
            </a:r>
          </a:p>
        </p:txBody>
      </p:sp>
      <p:sp>
        <p:nvSpPr>
          <p:cNvPr id="7" name="质量环节">
            <a:extLst xmlns:a="http://schemas.openxmlformats.org/drawingml/2006/main">
              <a:ext uri="{FF2B5EF4-FFF2-40B4-BE49-F238E27FC236}">
                <a16:creationId xmlns:a16="http://schemas.microsoft.com/office/drawing/2014/main" id="{CAF36CBC-C043-4968-BF95-08F8B826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2000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F7278"/>
                </a:solidFill>
              </a:rPr>
              <a:t>质量环节</a:t>
            </a:r>
          </a:p>
        </p:txBody>
      </p:sp>
      <p:sp>
        <p:nvSpPr>
          <p:cNvPr id="8" name="AI 持续推进">
            <a:extLst xmlns:a="http://schemas.openxmlformats.org/drawingml/2006/main">
              <a:ext uri="{FF2B5EF4-FFF2-40B4-BE49-F238E27FC236}">
                <a16:creationId xmlns:a16="http://schemas.microsoft.com/office/drawing/2014/main" id="{4041A2CC-CA3B-4269-A07D-60873D9D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90775"/>
            <a:ext cx="4210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F78"/>
                </a:solidFill>
              </a:rPr>
              <a:t>AI 持续推进</a:t>
            </a:r>
          </a:p>
        </p:txBody>
      </p:sp>
      <p:sp>
        <p:nvSpPr>
          <p:cNvPr id="9" name="人确认与负责">
            <a:extLst xmlns:a="http://schemas.openxmlformats.org/drawingml/2006/main">
              <a:ext uri="{FF2B5EF4-FFF2-40B4-BE49-F238E27FC236}">
                <a16:creationId xmlns:a16="http://schemas.microsoft.com/office/drawing/2014/main" id="{8243EF0E-D303-48DF-BF03-76A4D850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90775"/>
            <a:ext cx="3771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人确认与负责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24E06842-9503-4E2C-90BF-B7786DE0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1" name="确立基线">
            <a:extLst xmlns:a="http://schemas.openxmlformats.org/drawingml/2006/main">
              <a:ext uri="{FF2B5EF4-FFF2-40B4-BE49-F238E27FC236}">
                <a16:creationId xmlns:a16="http://schemas.microsoft.com/office/drawing/2014/main" id="{9E0363AC-019D-4755-B5B3-19D37397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21907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确立基线</a:t>
            </a:r>
          </a:p>
        </p:txBody>
      </p:sp>
      <p:sp>
        <p:nvSpPr>
          <p:cNvPr id="12" name="提取义务、发现冲突、整理选项">
            <a:extLst xmlns:a="http://schemas.openxmlformats.org/drawingml/2006/main">
              <a:ext uri="{FF2B5EF4-FFF2-40B4-BE49-F238E27FC236}">
                <a16:creationId xmlns:a16="http://schemas.microsoft.com/office/drawing/2014/main" id="{E92E6C16-94DF-49C1-8F34-CC4062AF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76575"/>
            <a:ext cx="4457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提取义务、发现冲突、整理选项</a:t>
            </a:r>
          </a:p>
        </p:txBody>
      </p:sp>
      <p:sp>
        <p:nvSpPr>
          <p:cNvPr id="13" name="目标、依据与关键取舍">
            <a:extLst xmlns:a="http://schemas.openxmlformats.org/drawingml/2006/main">
              <a:ext uri="{FF2B5EF4-FFF2-40B4-BE49-F238E27FC236}">
                <a16:creationId xmlns:a16="http://schemas.microsoft.com/office/drawing/2014/main" id="{60248F00-2131-4921-B57C-DE684F77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76575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目标、依据与关键取舍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337A9ADB-C62B-4EB0-828B-0BAE6F7B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5" name="逐层落实">
            <a:extLst xmlns:a="http://schemas.openxmlformats.org/drawingml/2006/main">
              <a:ext uri="{FF2B5EF4-FFF2-40B4-BE49-F238E27FC236}">
                <a16:creationId xmlns:a16="http://schemas.microsoft.com/office/drawing/2014/main" id="{4A996B3F-3697-4B91-ACA2-1B16FEBA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1907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逐层落实</a:t>
            </a:r>
          </a:p>
        </p:txBody>
      </p:sp>
      <p:sp>
        <p:nvSpPr>
          <p:cNvPr id="16" name="生成材料、维护追溯、比对偏差">
            <a:extLst xmlns:a="http://schemas.openxmlformats.org/drawingml/2006/main">
              <a:ext uri="{FF2B5EF4-FFF2-40B4-BE49-F238E27FC236}">
                <a16:creationId xmlns:a16="http://schemas.microsoft.com/office/drawing/2014/main" id="{0E3A44E7-2E3C-4261-87D7-FB3A4D16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67125"/>
            <a:ext cx="4457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生成材料、维护追溯、比对偏差</a:t>
            </a:r>
          </a:p>
        </p:txBody>
      </p:sp>
      <p:sp>
        <p:nvSpPr>
          <p:cNvPr id="17" name="关键语义与派生约束">
            <a:extLst xmlns:a="http://schemas.openxmlformats.org/drawingml/2006/main">
              <a:ext uri="{FF2B5EF4-FFF2-40B4-BE49-F238E27FC236}">
                <a16:creationId xmlns:a16="http://schemas.microsoft.com/office/drawing/2014/main" id="{76AA45AE-620B-4D7B-B404-8C03FE7B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关键语义与派生约束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6ED5E434-DF00-4FD4-9815-0D2BF6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9" name="独立验证">
            <a:extLst xmlns:a="http://schemas.openxmlformats.org/drawingml/2006/main">
              <a:ext uri="{FF2B5EF4-FFF2-40B4-BE49-F238E27FC236}">
                <a16:creationId xmlns:a16="http://schemas.microsoft.com/office/drawing/2014/main" id="{9354AD43-C22C-4C49-B154-9E221B6D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21907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独立验证</a:t>
            </a:r>
          </a:p>
        </p:txBody>
      </p:sp>
      <p:sp>
        <p:nvSpPr>
          <p:cNvPr id="20" name="生成检查、执行验证、整理证据">
            <a:extLst xmlns:a="http://schemas.openxmlformats.org/drawingml/2006/main">
              <a:ext uri="{FF2B5EF4-FFF2-40B4-BE49-F238E27FC236}">
                <a16:creationId xmlns:a16="http://schemas.microsoft.com/office/drawing/2014/main" id="{5CBF16B5-800A-47F4-9B30-063AC9E2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57675"/>
            <a:ext cx="4457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生成检查、执行验证、整理证据</a:t>
            </a:r>
          </a:p>
        </p:txBody>
      </p:sp>
      <p:sp>
        <p:nvSpPr>
          <p:cNvPr id="21" name="独立判据与证据充分性">
            <a:extLst xmlns:a="http://schemas.openxmlformats.org/drawingml/2006/main">
              <a:ext uri="{FF2B5EF4-FFF2-40B4-BE49-F238E27FC236}">
                <a16:creationId xmlns:a16="http://schemas.microsoft.com/office/drawing/2014/main" id="{8590B175-6276-49B0-8EB3-086BE1A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57675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独立判据与证据充分性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00D70385-4628-4700-B5BD-C3E0E8BA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3" name="交付 / 变更">
            <a:extLst xmlns:a="http://schemas.openxmlformats.org/drawingml/2006/main">
              <a:ext uri="{FF2B5EF4-FFF2-40B4-BE49-F238E27FC236}">
                <a16:creationId xmlns:a16="http://schemas.microsoft.com/office/drawing/2014/main" id="{029016DE-9479-451D-B56E-592D9D46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21907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23E"/>
                </a:solidFill>
              </a:rPr>
              <a:t>交付 / 变更</a:t>
            </a:r>
          </a:p>
        </p:txBody>
      </p:sp>
      <p:sp>
        <p:nvSpPr>
          <p:cNvPr id="24" name="汇总风险、影响与回归结果">
            <a:extLst xmlns:a="http://schemas.openxmlformats.org/drawingml/2006/main">
              <a:ext uri="{FF2B5EF4-FFF2-40B4-BE49-F238E27FC236}">
                <a16:creationId xmlns:a16="http://schemas.microsoft.com/office/drawing/2014/main" id="{64319867-C6EC-43B1-9D8E-FCFE58B8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48225"/>
            <a:ext cx="4457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汇总风险、影响与回归结果</a:t>
            </a:r>
          </a:p>
        </p:txBody>
      </p:sp>
      <p:sp>
        <p:nvSpPr>
          <p:cNvPr id="25" name="风险接受、范围与授权">
            <a:extLst xmlns:a="http://schemas.openxmlformats.org/drawingml/2006/main">
              <a:ext uri="{FF2B5EF4-FFF2-40B4-BE49-F238E27FC236}">
                <a16:creationId xmlns:a16="http://schemas.microsoft.com/office/drawing/2014/main" id="{A89EBD49-09B5-40EA-BAC2-E7CA15D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48225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风险接受、范围与授权</a:t>
            </a:r>
          </a:p>
        </p:txBody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96D82B88-E8D1-468F-9013-8F06817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085FC991-2FBC-4CEB-9470-A0140E66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8" name="协作边界">
            <a:extLst xmlns:a="http://schemas.openxmlformats.org/drawingml/2006/main">
              <a:ext uri="{FF2B5EF4-FFF2-40B4-BE49-F238E27FC236}">
                <a16:creationId xmlns:a16="http://schemas.microsoft.com/office/drawing/2014/main" id="{9D3DA447-CCA3-458E-9263-97E96BAB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协作边界</a:t>
            </a:r>
          </a:p>
        </p:txBody>
      </p:sp>
      <p:sp>
        <p:nvSpPr>
          <p:cNvPr id="29" name="已批准规则内自动推进；涉及目标、行为或风险的关键改变集中确认。">
            <a:extLst xmlns:a="http://schemas.openxmlformats.org/drawingml/2006/main">
              <a:ext uri="{FF2B5EF4-FFF2-40B4-BE49-F238E27FC236}">
                <a16:creationId xmlns:a16="http://schemas.microsoft.com/office/drawing/2014/main" id="{5D1928B4-EA31-4D92-B9FB-79FEE122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已批准规则内自动推进；涉及目标、行为或风险的关键改变集中确认。</a:t>
            </a:r>
          </a:p>
        </p:txBody>
      </p:sp>
    </p:spTree>
    <p:extLst>
      <p:ext uri="{BB962C8B-B14F-4D97-AF65-F5344CB8AC3E}">
        <p14:creationId xmlns:p14="http://schemas.microsoft.com/office/powerpoint/2010/main" val="15209832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07B13952-5A49-44AA-853F-0C7BAC94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73460981-0525-4598-8CB3-967E272E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12 / 14">
            <a:extLst xmlns:a="http://schemas.openxmlformats.org/drawingml/2006/main">
              <a:ext uri="{FF2B5EF4-FFF2-40B4-BE49-F238E27FC236}">
                <a16:creationId xmlns:a16="http://schemas.microsoft.com/office/drawing/2014/main" id="{5E2BA5F4-F728-4E84-AD36-700AA839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12 / 14</a:t>
            </a:r>
          </a:p>
        </p:txBody>
      </p:sp>
      <p:sp>
        <p:nvSpPr>
          <p:cNvPr id="4" name="贯穿机制 / 独立核验">
            <a:extLst xmlns:a="http://schemas.openxmlformats.org/drawingml/2006/main">
              <a:ext uri="{FF2B5EF4-FFF2-40B4-BE49-F238E27FC236}">
                <a16:creationId xmlns:a16="http://schemas.microsoft.com/office/drawing/2014/main" id="{052A780E-2049-4E12-9CE9-8C1789C3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贯穿机制 / 独立核验</a:t>
            </a:r>
          </a:p>
        </p:txBody>
      </p:sp>
      <p:sp>
        <p:nvSpPr>
          <p:cNvPr id="5" name="一致意见不能替代独立证据">
            <a:extLst xmlns:a="http://schemas.openxmlformats.org/drawingml/2006/main">
              <a:ext uri="{FF2B5EF4-FFF2-40B4-BE49-F238E27FC236}">
                <a16:creationId xmlns:a16="http://schemas.microsoft.com/office/drawing/2014/main" id="{8B2F9572-38BB-4432-82BF-4FB2D74A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一致意见不能替代独立证据</a:t>
            </a:r>
          </a:p>
        </p:txBody>
      </p:sp>
      <p:sp>
        <p:nvSpPr>
          <p:cNvPr id="6" name="人和 AI 可能共享同一假设；重复同一推理并不能排除共同错误。">
            <a:extLst xmlns:a="http://schemas.openxmlformats.org/drawingml/2006/main">
              <a:ext uri="{FF2B5EF4-FFF2-40B4-BE49-F238E27FC236}">
                <a16:creationId xmlns:a16="http://schemas.microsoft.com/office/drawing/2014/main" id="{4FE33478-192F-4965-B3F2-663FFBB4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人和 AI 可能共享同一假设；重复同一推理并不能排除共同错误。</a:t>
            </a:r>
          </a:p>
        </p:txBody>
      </p:sp>
      <p:sp>
        <p:nvSpPr>
          <p:cNvPr id="7" name="产出">
            <a:extLst xmlns:a="http://schemas.openxmlformats.org/drawingml/2006/main">
              <a:ext uri="{FF2B5EF4-FFF2-40B4-BE49-F238E27FC236}">
                <a16:creationId xmlns:a16="http://schemas.microsoft.com/office/drawing/2014/main" id="{AF0F71C4-E76D-46D8-A481-716B8876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286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3E"/>
                </a:solidFill>
              </a:rPr>
              <a:t>产出</a:t>
            </a:r>
          </a:p>
        </p:txBody>
      </p:sp>
      <p:sp>
        <p:nvSpPr>
          <p:cNvPr id="8" name="判断依据">
            <a:extLst xmlns:a="http://schemas.openxmlformats.org/drawingml/2006/main">
              <a:ext uri="{FF2B5EF4-FFF2-40B4-BE49-F238E27FC236}">
                <a16:creationId xmlns:a16="http://schemas.microsoft.com/office/drawing/2014/main" id="{86E89188-9ACF-47F4-B8E1-3DFC2AB3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67000"/>
            <a:ext cx="4933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30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78"/>
                </a:solidFill>
              </a:rPr>
              <a:t>判断依据</a:t>
            </a:r>
          </a:p>
        </p:txBody>
      </p:sp>
      <p:sp>
        <p:nvSpPr>
          <p:cNvPr id="9" name="方案、设计、实现&#10;以及 AI 生成的验证内容">
            <a:extLst xmlns:a="http://schemas.openxmlformats.org/drawingml/2006/main">
              <a:ext uri="{FF2B5EF4-FFF2-40B4-BE49-F238E27FC236}">
                <a16:creationId xmlns:a16="http://schemas.microsoft.com/office/drawing/2014/main" id="{C4B71866-E905-4E66-A63B-EB498E83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286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F7278"/>
                </a:solidFill>
              </a:rPr>
              <a:t>方案、设计、实现
以及 AI 生成的验证内容</a:t>
            </a:r>
          </a:p>
        </p:txBody>
      </p:sp>
      <p:sp>
        <p:nvSpPr>
          <p:cNvPr id="10" name="受控规范与独立推导&#10;实际执行证据与风险复核">
            <a:extLst xmlns:a="http://schemas.openxmlformats.org/drawingml/2006/main">
              <a:ext uri="{FF2B5EF4-FFF2-40B4-BE49-F238E27FC236}">
                <a16:creationId xmlns:a16="http://schemas.microsoft.com/office/drawing/2014/main" id="{D1717B65-5A3E-4889-9CC5-BC9C4B18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76625"/>
            <a:ext cx="49339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F7278"/>
                </a:solidFill>
              </a:rPr>
              <a:t>受控规范与独立推导
实际执行证据与风险复核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540ED3DB-8AC4-43E6-83DA-86E11268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38425"/>
            <a:ext cx="190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5A508654-6FAA-4C8F-813E-38B42B06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3" name="按风险增加复核强度">
            <a:extLst xmlns:a="http://schemas.openxmlformats.org/drawingml/2006/main">
              <a:ext uri="{FF2B5EF4-FFF2-40B4-BE49-F238E27FC236}">
                <a16:creationId xmlns:a16="http://schemas.microsoft.com/office/drawing/2014/main" id="{EE4D3811-E4B3-4420-BEE1-D686B4DF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4191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23E"/>
                </a:solidFill>
              </a:rPr>
              <a:t>按风险增加复核强度</a:t>
            </a:r>
          </a:p>
        </p:txBody>
      </p:sp>
      <p:sp>
        <p:nvSpPr>
          <p:cNvPr id="14" name="重点审查关键假设、边界与高后果结论。">
            <a:extLst xmlns:a="http://schemas.openxmlformats.org/drawingml/2006/main">
              <a:ext uri="{FF2B5EF4-FFF2-40B4-BE49-F238E27FC236}">
                <a16:creationId xmlns:a16="http://schemas.microsoft.com/office/drawing/2014/main" id="{C3FA069A-24E6-4C95-8B19-9A45348A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248275"/>
            <a:ext cx="6457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重点审查关键假设、边界与高后果结论。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AED078F2-274F-49CE-95C5-39799E29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6" name="成立条件">
            <a:extLst xmlns:a="http://schemas.openxmlformats.org/drawingml/2006/main">
              <a:ext uri="{FF2B5EF4-FFF2-40B4-BE49-F238E27FC236}">
                <a16:creationId xmlns:a16="http://schemas.microsoft.com/office/drawing/2014/main" id="{6F363F22-F606-4109-9F5C-2A119FED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成立条件</a:t>
            </a:r>
          </a:p>
        </p:txBody>
      </p:sp>
      <p:sp>
        <p:nvSpPr>
          <p:cNvPr id="17" name="验证预期不能照搬实现；人工批准和 AI 自检都必须有可核验依据。">
            <a:extLst xmlns:a="http://schemas.openxmlformats.org/drawingml/2006/main">
              <a:ext uri="{FF2B5EF4-FFF2-40B4-BE49-F238E27FC236}">
                <a16:creationId xmlns:a16="http://schemas.microsoft.com/office/drawing/2014/main" id="{9B2F0D72-324C-4D91-8BB5-83223164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验证预期不能照搬实现；人工批准和 AI 自检都必须有可核验依据。</a:t>
            </a:r>
          </a:p>
        </p:txBody>
      </p:sp>
    </p:spTree>
    <p:extLst>
      <p:ext uri="{BB962C8B-B14F-4D97-AF65-F5344CB8AC3E}">
        <p14:creationId xmlns:p14="http://schemas.microsoft.com/office/powerpoint/2010/main" val="8716397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34142D43-5615-4903-80D5-582C3FD6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346729CC-EAA9-482E-9B25-D65B3339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软件质量的连续保障</a:t>
            </a:r>
          </a:p>
        </p:txBody>
      </p:sp>
      <p:sp>
        <p:nvSpPr>
          <p:cNvPr id="3" name="13 / 14">
            <a:extLst xmlns:a="http://schemas.openxmlformats.org/drawingml/2006/main">
              <a:ext uri="{FF2B5EF4-FFF2-40B4-BE49-F238E27FC236}">
                <a16:creationId xmlns:a16="http://schemas.microsoft.com/office/drawing/2014/main" id="{C443520F-BBE3-4ED1-9460-DBFA29A4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278"/>
                </a:solidFill>
              </a:rPr>
              <a:t>13 / 14</a:t>
            </a:r>
          </a:p>
        </p:txBody>
      </p:sp>
      <p:sp>
        <p:nvSpPr>
          <p:cNvPr id="4" name="贯穿机制 / 共享基线">
            <a:extLst xmlns:a="http://schemas.openxmlformats.org/drawingml/2006/main">
              <a:ext uri="{FF2B5EF4-FFF2-40B4-BE49-F238E27FC236}">
                <a16:creationId xmlns:a16="http://schemas.microsoft.com/office/drawing/2014/main" id="{67D194CB-CBE8-4533-ABA8-4636C58B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78"/>
                </a:solidFill>
              </a:rPr>
              <a:t>贯穿机制 / 共享基线</a:t>
            </a:r>
          </a:p>
        </p:txBody>
      </p:sp>
      <p:sp>
        <p:nvSpPr>
          <p:cNvPr id="5" name="用同一组记录连接阶段与版本">
            <a:extLst xmlns:a="http://schemas.openxmlformats.org/drawingml/2006/main">
              <a:ext uri="{FF2B5EF4-FFF2-40B4-BE49-F238E27FC236}">
                <a16:creationId xmlns:a16="http://schemas.microsoft.com/office/drawing/2014/main" id="{65DDCB9B-5FEF-42BF-BB88-B2CBFE2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23E"/>
                </a:solidFill>
              </a:rPr>
              <a:t>用同一组记录连接阶段与版本</a:t>
            </a:r>
          </a:p>
        </p:txBody>
      </p:sp>
      <p:sp>
        <p:nvSpPr>
          <p:cNvPr id="6" name="任何结论都应回答：依据什么、适用哪个版本、由什么证据支持。">
            <a:extLst xmlns:a="http://schemas.openxmlformats.org/drawingml/2006/main">
              <a:ext uri="{FF2B5EF4-FFF2-40B4-BE49-F238E27FC236}">
                <a16:creationId xmlns:a16="http://schemas.microsoft.com/office/drawing/2014/main" id="{3FE30417-B5BC-4862-86FE-704498F1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任何结论都应回答：依据什么、适用哪个版本、由什么证据支持。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C83684F7-F6F2-4F27-AF8F-26ABBC0F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82905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D3A"/>
          </a:solidFill>
        </p:spPr>
      </p:sp>
      <p:sp>
        <p:nvSpPr>
          <p:cNvPr id="8" name="共享基线">
            <a:extLst xmlns:a="http://schemas.openxmlformats.org/drawingml/2006/main">
              <a:ext uri="{FF2B5EF4-FFF2-40B4-BE49-F238E27FC236}">
                <a16:creationId xmlns:a16="http://schemas.microsoft.com/office/drawing/2014/main" id="{2D654E2B-0552-493A-A0C9-8F62F53B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7F6F1"/>
                </a:solidFill>
              </a:rPr>
              <a:t>共享基线</a:t>
            </a:r>
          </a:p>
        </p:txBody>
      </p:sp>
      <p:sp>
        <p:nvSpPr>
          <p:cNvPr id="9" name="需求 / 设计 / 实现 / 配置&#10;问题 / 决定 / 验证证据">
            <a:extLst xmlns:a="http://schemas.openxmlformats.org/drawingml/2006/main">
              <a:ext uri="{FF2B5EF4-FFF2-40B4-BE49-F238E27FC236}">
                <a16:creationId xmlns:a16="http://schemas.microsoft.com/office/drawing/2014/main" id="{0A1F1E80-786B-4F10-9FA7-C275DEEB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33337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CBCF"/>
                </a:solidFill>
              </a:rPr>
              <a:t>需求 / 设计 / 实现 / 配置
问题 / 决定 / 验证证据</a:t>
            </a:r>
          </a:p>
        </p:txBody>
      </p:sp>
      <p:sp>
        <p:nvSpPr>
          <p:cNvPr id="10" name="唯一标识  ·  版本  ·  关联关系">
            <a:extLst xmlns:a="http://schemas.openxmlformats.org/drawingml/2006/main">
              <a:ext uri="{FF2B5EF4-FFF2-40B4-BE49-F238E27FC236}">
                <a16:creationId xmlns:a16="http://schemas.microsoft.com/office/drawing/2014/main" id="{8EEB1252-83AD-4D1F-A5E0-BEB6F7E9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3333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DDED0"/>
                </a:solidFill>
              </a:rPr>
              <a:t>唯一标识  ·  版本  ·  关联关系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85B6E631-CD6D-4B1D-91F7-70ED8034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52850"/>
            <a:ext cx="4953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F78"/>
          </a:solidFill>
        </p:spPr>
      </p:sp>
      <p:sp>
        <p:nvSpPr>
          <p:cNvPr id="12" name="向前支撑落实">
            <a:extLst xmlns:a="http://schemas.openxmlformats.org/drawingml/2006/main">
              <a:ext uri="{FF2B5EF4-FFF2-40B4-BE49-F238E27FC236}">
                <a16:creationId xmlns:a16="http://schemas.microsoft.com/office/drawing/2014/main" id="{CF80044F-3A6A-48A2-911B-6C6931F8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24125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向前支撑落实</a:t>
            </a:r>
          </a:p>
        </p:txBody>
      </p:sp>
      <p:sp>
        <p:nvSpPr>
          <p:cNvPr id="13" name="定位每项义务的设计、实现和验证。">
            <a:extLst xmlns:a="http://schemas.openxmlformats.org/drawingml/2006/main">
              <a:ext uri="{FF2B5EF4-FFF2-40B4-BE49-F238E27FC236}">
                <a16:creationId xmlns:a16="http://schemas.microsoft.com/office/drawing/2014/main" id="{EE458864-55D5-4F60-AE44-D821CE76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09900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定位每项义务的设计、实现和验证。</a:t>
            </a:r>
          </a:p>
        </p:txBody>
      </p:sp>
      <p:sp>
        <p:nvSpPr>
          <p:cNvPr id="14" name="向后支撑变更">
            <a:extLst xmlns:a="http://schemas.openxmlformats.org/drawingml/2006/main">
              <a:ext uri="{FF2B5EF4-FFF2-40B4-BE49-F238E27FC236}">
                <a16:creationId xmlns:a16="http://schemas.microsoft.com/office/drawing/2014/main" id="{C10D6768-8EC9-455A-AF78-07630533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95675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向后支撑变更</a:t>
            </a:r>
          </a:p>
        </p:txBody>
      </p:sp>
      <p:sp>
        <p:nvSpPr>
          <p:cNvPr id="15" name="识别受影响材料与失效的历史证据。">
            <a:extLst xmlns:a="http://schemas.openxmlformats.org/drawingml/2006/main">
              <a:ext uri="{FF2B5EF4-FFF2-40B4-BE49-F238E27FC236}">
                <a16:creationId xmlns:a16="http://schemas.microsoft.com/office/drawing/2014/main" id="{D00786E3-969C-42C5-94C3-8F3BC06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81450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识别受影响材料与失效的历史证据。</a:t>
            </a:r>
          </a:p>
        </p:txBody>
      </p:sp>
      <p:sp>
        <p:nvSpPr>
          <p:cNvPr id="16" name="跨人机支撑接力">
            <a:extLst xmlns:a="http://schemas.openxmlformats.org/drawingml/2006/main">
              <a:ext uri="{FF2B5EF4-FFF2-40B4-BE49-F238E27FC236}">
                <a16:creationId xmlns:a16="http://schemas.microsoft.com/office/drawing/2014/main" id="{2E5AB7D4-61C1-44C5-9CAD-7A87EB81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467225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23E"/>
                </a:solidFill>
              </a:rPr>
              <a:t>跨人机支撑接力</a:t>
            </a:r>
          </a:p>
        </p:txBody>
      </p:sp>
      <p:sp>
        <p:nvSpPr>
          <p:cNvPr id="17" name="保留决定、未完成项和下一步输入。">
            <a:extLst xmlns:a="http://schemas.openxmlformats.org/drawingml/2006/main">
              <a:ext uri="{FF2B5EF4-FFF2-40B4-BE49-F238E27FC236}">
                <a16:creationId xmlns:a16="http://schemas.microsoft.com/office/drawing/2014/main" id="{A4A1EAA3-5495-4C7A-9B34-6431592B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53000"/>
            <a:ext cx="605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727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7278"/>
                </a:solidFill>
              </a:rPr>
              <a:t>保留决定、未完成项和下一步输入。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F0D8B751-29BC-404F-9484-BCE1AB33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DA"/>
          </a:solidFill>
        </p:spPr>
      </p:sp>
      <p:sp>
        <p:nvSpPr>
          <p:cNvPr id="19" name="持续性来源">
            <a:extLst xmlns:a="http://schemas.openxmlformats.org/drawingml/2006/main">
              <a:ext uri="{FF2B5EF4-FFF2-40B4-BE49-F238E27FC236}">
                <a16:creationId xmlns:a16="http://schemas.microsoft.com/office/drawing/2014/main" id="{F7F92E0A-A550-4D04-BE06-DBA1EBD1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524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8"/>
                </a:solidFill>
              </a:rPr>
              <a:t>持续性来源</a:t>
            </a:r>
          </a:p>
        </p:txBody>
      </p:sp>
      <p:sp>
        <p:nvSpPr>
          <p:cNvPr id="20" name="会话可以更换、人员可以交接，但质量依据和未解决问题不能丢失。">
            <a:extLst xmlns:a="http://schemas.openxmlformats.org/drawingml/2006/main">
              <a:ext uri="{FF2B5EF4-FFF2-40B4-BE49-F238E27FC236}">
                <a16:creationId xmlns:a16="http://schemas.microsoft.com/office/drawing/2014/main" id="{5A55B1D5-8003-48F9-B691-22825D3F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9296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6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323E"/>
                </a:solidFill>
              </a:rPr>
              <a:t>会话可以更换、人员可以交接，但质量依据和未解决问题不能丢失。</a:t>
            </a:r>
          </a:p>
        </p:txBody>
      </p:sp>
    </p:spTree>
    <p:extLst>
      <p:ext uri="{BB962C8B-B14F-4D97-AF65-F5344CB8AC3E}">
        <p14:creationId xmlns:p14="http://schemas.microsoft.com/office/powerpoint/2010/main" val="118638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2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urface">
            <a:extLst xmlns:a="http://schemas.openxmlformats.org/drawingml/2006/main">
              <a:ext uri="{FF2B5EF4-FFF2-40B4-BE49-F238E27FC236}">
                <a16:creationId xmlns:a16="http://schemas.microsoft.com/office/drawing/2014/main" id="{F56124A6-A530-4500-9C38-2161177F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2" name="软件质量的连续保障">
            <a:extLst xmlns:a="http://schemas.openxmlformats.org/drawingml/2006/main">
              <a:ext uri="{FF2B5EF4-FFF2-40B4-BE49-F238E27FC236}">
                <a16:creationId xmlns:a16="http://schemas.microsoft.com/office/drawing/2014/main" id="{F2652D06-CE5B-46F8-8955-F59DDF55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62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软件质量的连续保障</a:t>
            </a:r>
          </a:p>
        </p:txBody>
      </p:sp>
      <p:sp>
        <p:nvSpPr>
          <p:cNvPr id="3" name="14 / 14">
            <a:extLst xmlns:a="http://schemas.openxmlformats.org/drawingml/2006/main">
              <a:ext uri="{FF2B5EF4-FFF2-40B4-BE49-F238E27FC236}">
                <a16:creationId xmlns:a16="http://schemas.microsoft.com/office/drawing/2014/main" id="{CDFC8D75-20EC-4D12-A106-B0235F7D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77000"/>
            <a:ext cx="819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8CBCF"/>
                </a:solidFill>
              </a:rPr>
              <a:t>14 / 14</a:t>
            </a:r>
          </a:p>
        </p:txBody>
      </p:sp>
      <p:sp>
        <p:nvSpPr>
          <p:cNvPr id="4" name="方法总结">
            <a:extLst xmlns:a="http://schemas.openxmlformats.org/drawingml/2006/main">
              <a:ext uri="{FF2B5EF4-FFF2-40B4-BE49-F238E27FC236}">
                <a16:creationId xmlns:a16="http://schemas.microsoft.com/office/drawing/2014/main" id="{AE7DC521-E1D6-40BA-8407-05F03DE9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DDED0"/>
                </a:solidFill>
              </a:rPr>
              <a:t>方法总结</a:t>
            </a:r>
          </a:p>
        </p:txBody>
      </p:sp>
      <p:sp>
        <p:nvSpPr>
          <p:cNvPr id="5" name="质量保障是一条持续维护的证据链">
            <a:extLst xmlns:a="http://schemas.openxmlformats.org/drawingml/2006/main">
              <a:ext uri="{FF2B5EF4-FFF2-40B4-BE49-F238E27FC236}">
                <a16:creationId xmlns:a16="http://schemas.microsoft.com/office/drawing/2014/main" id="{E3774515-ABD8-4128-8453-B39DBD52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7F6F1"/>
                </a:solidFill>
              </a:rPr>
              <a:t>质量保障是一条持续维护的证据链</a:t>
            </a:r>
          </a:p>
        </p:txBody>
      </p:sp>
      <p:sp>
        <p:nvSpPr>
          <p:cNvPr id="6" name="正向建立可信结论，反向处理变化，人机协作维持全程连续性。">
            <a:extLst xmlns:a="http://schemas.openxmlformats.org/drawingml/2006/main">
              <a:ext uri="{FF2B5EF4-FFF2-40B4-BE49-F238E27FC236}">
                <a16:creationId xmlns:a16="http://schemas.microsoft.com/office/drawing/2014/main" id="{4739C340-B1FF-42EA-A56E-613EEAAD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8CBC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8CBCF"/>
                </a:solidFill>
              </a:rPr>
              <a:t>正向建立可信结论，反向处理变化，人机协作维持全程连续性。</a:t>
            </a:r>
          </a:p>
        </p:txBody>
      </p:sp>
      <p:sp>
        <p:nvSpPr>
          <p:cNvPr id="7" name="正向建立">
            <a:extLst xmlns:a="http://schemas.openxmlformats.org/drawingml/2006/main">
              <a:ext uri="{FF2B5EF4-FFF2-40B4-BE49-F238E27FC236}">
                <a16:creationId xmlns:a16="http://schemas.microsoft.com/office/drawing/2014/main" id="{B475ED63-E9DF-47E3-A99D-6F02DE7B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DDED0"/>
                </a:solidFill>
              </a:rPr>
              <a:t>正向建立</a:t>
            </a:r>
          </a:p>
        </p:txBody>
      </p:sp>
      <p:sp>
        <p:nvSpPr>
          <p:cNvPr id="8" name="确立基线 → 逐层落实&#10;→ 独立验证 → 交付判定">
            <a:extLst xmlns:a="http://schemas.openxmlformats.org/drawingml/2006/main">
              <a:ext uri="{FF2B5EF4-FFF2-40B4-BE49-F238E27FC236}">
                <a16:creationId xmlns:a16="http://schemas.microsoft.com/office/drawing/2014/main" id="{DF239756-CB8D-4DF8-B83C-F826B751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124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7F6F1"/>
                </a:solidFill>
              </a:rPr>
              <a:t>确立基线 → 逐层落实
→ 独立验证 → 交付判定</a:t>
            </a:r>
          </a:p>
        </p:txBody>
      </p:sp>
      <p:sp>
        <p:nvSpPr>
          <p:cNvPr id="9" name="反向维护">
            <a:extLst xmlns:a="http://schemas.openxmlformats.org/drawingml/2006/main">
              <a:ext uri="{FF2B5EF4-FFF2-40B4-BE49-F238E27FC236}">
                <a16:creationId xmlns:a16="http://schemas.microsoft.com/office/drawing/2014/main" id="{85B050B8-5D86-45F5-B94C-C12C12CC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6700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DDED0"/>
                </a:solidFill>
              </a:rPr>
              <a:t>反向维护</a:t>
            </a:r>
          </a:p>
        </p:txBody>
      </p:sp>
      <p:sp>
        <p:nvSpPr>
          <p:cNvPr id="10" name="影响分析 → 回溯修订&#10;→ 回归验证 → 重新判定">
            <a:extLst xmlns:a="http://schemas.openxmlformats.org/drawingml/2006/main">
              <a:ext uri="{FF2B5EF4-FFF2-40B4-BE49-F238E27FC236}">
                <a16:creationId xmlns:a16="http://schemas.microsoft.com/office/drawing/2014/main" id="{500D6D80-E4F1-4B42-80C8-53923F52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86150"/>
            <a:ext cx="3124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7F6F1"/>
                </a:solidFill>
              </a:rPr>
              <a:t>影响分析 → 回溯修订
→ 回归验证 → 重新判定</a:t>
            </a:r>
          </a:p>
        </p:txBody>
      </p:sp>
      <p:sp>
        <p:nvSpPr>
          <p:cNvPr id="11" name="全程支撑">
            <a:extLst xmlns:a="http://schemas.openxmlformats.org/drawingml/2006/main">
              <a:ext uri="{FF2B5EF4-FFF2-40B4-BE49-F238E27FC236}">
                <a16:creationId xmlns:a16="http://schemas.microsoft.com/office/drawing/2014/main" id="{598D0F73-961F-482F-827D-F9B92CFA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67000"/>
            <a:ext cx="31242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7DDED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DDED0"/>
                </a:solidFill>
              </a:rPr>
              <a:t>全程支撑</a:t>
            </a:r>
          </a:p>
        </p:txBody>
      </p:sp>
      <p:sp>
        <p:nvSpPr>
          <p:cNvPr id="12" name="AI 持续执行与核查&#10;人确认关键决策与风险">
            <a:extLst xmlns:a="http://schemas.openxmlformats.org/drawingml/2006/main">
              <a:ext uri="{FF2B5EF4-FFF2-40B4-BE49-F238E27FC236}">
                <a16:creationId xmlns:a16="http://schemas.microsoft.com/office/drawing/2014/main" id="{E58E4CAE-9614-4269-8AE6-7F235E1B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3124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7F6F1"/>
                </a:solidFill>
              </a:rPr>
              <a:t>AI 持续执行与核查
人确认关键决策与风险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6FBAFFF6-3A1B-4814-855A-3039C798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5C"/>
          </a:solidFill>
        </p:spPr>
      </p:sp>
      <p:sp>
        <p:nvSpPr>
          <p:cNvPr id="14" name="初始方案有依据，每次变更有回溯，每个结论有证据。">
            <a:extLst xmlns:a="http://schemas.openxmlformats.org/drawingml/2006/main">
              <a:ext uri="{FF2B5EF4-FFF2-40B4-BE49-F238E27FC236}">
                <a16:creationId xmlns:a16="http://schemas.microsoft.com/office/drawing/2014/main" id="{12C9149F-9ED4-4A8B-A101-2849FE09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F7F6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F6F1"/>
                </a:solidFill>
              </a:rPr>
              <a:t>初始方案有依据，每次变更有回溯，每个结论有证据。</a:t>
            </a:r>
          </a:p>
        </p:txBody>
      </p:sp>
    </p:spTree>
    <p:extLst>
      <p:ext uri="{BB962C8B-B14F-4D97-AF65-F5344CB8AC3E}">
        <p14:creationId xmlns:p14="http://schemas.microsoft.com/office/powerpoint/2010/main" val="1066964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2026-10-25T04:06:47.7110000Z</dcterms:created>
  <dcterms:modified xsi:type="dcterms:W3CDTF">2026-10-25T04:06:47.7110000Z</dcterms:modified>
</coreProperties>
</file>