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f7e3bd37474a98" /><Relationship Type="http://schemas.openxmlformats.org/officeDocument/2006/relationships/extended-properties" Target="/docProps/app.xml" Id="R63c9f2ef4f09444e" /><Relationship Type="http://schemas.openxmlformats.org/officeDocument/2006/relationships/officeDocument" Target="/ppt/presentation.xml" Id="R1de02d894e724f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6173920e78497b"/>
  </p:sldMasterIdLst>
  <p:notesMasterIdLst>
    <p:notesMasterId xmlns:r="http://schemas.openxmlformats.org/officeDocument/2006/relationships" r:id="R7a07fae3c8db4b4d"/>
  </p:notesMasterIdLst>
  <p:sldIdLst>
    <p:sldId xmlns:r="http://schemas.openxmlformats.org/officeDocument/2006/relationships" id="256" r:id="R8dcc7620a7fe45df"/>
    <p:sldId xmlns:r="http://schemas.openxmlformats.org/officeDocument/2006/relationships" id="257" r:id="Rd9352317433f49fb"/>
    <p:sldId xmlns:r="http://schemas.openxmlformats.org/officeDocument/2006/relationships" id="258" r:id="R0fb566e428d4461e"/>
    <p:sldId xmlns:r="http://schemas.openxmlformats.org/officeDocument/2006/relationships" id="259" r:id="R2f34550fd8974592"/>
    <p:sldId xmlns:r="http://schemas.openxmlformats.org/officeDocument/2006/relationships" id="260" r:id="R73d24c7230e64bcb"/>
    <p:sldId xmlns:r="http://schemas.openxmlformats.org/officeDocument/2006/relationships" id="261" r:id="R6834042956c349d9"/>
    <p:sldId xmlns:r="http://schemas.openxmlformats.org/officeDocument/2006/relationships" id="262" r:id="Rfac0ea4825404f4e"/>
    <p:sldId xmlns:r="http://schemas.openxmlformats.org/officeDocument/2006/relationships" id="263" r:id="Rc95543e4d69e4af1"/>
    <p:sldId xmlns:r="http://schemas.openxmlformats.org/officeDocument/2006/relationships" id="264" r:id="R0300398ad89f478f"/>
    <p:sldId xmlns:r="http://schemas.openxmlformats.org/officeDocument/2006/relationships" id="265" r:id="R6e38e58136584cf5"/>
    <p:sldId xmlns:r="http://schemas.openxmlformats.org/officeDocument/2006/relationships" id="266" r:id="Rb573b02380914180"/>
    <p:sldId xmlns:r="http://schemas.openxmlformats.org/officeDocument/2006/relationships" id="267" r:id="Rb08fea41764445ed"/>
    <p:sldId xmlns:r="http://schemas.openxmlformats.org/officeDocument/2006/relationships" id="268" r:id="R2c43efd506f240b2"/>
    <p:sldId xmlns:r="http://schemas.openxmlformats.org/officeDocument/2006/relationships" id="269" r:id="Rf81b67dab7e44a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4306e74b484788" /><Relationship Type="http://schemas.openxmlformats.org/officeDocument/2006/relationships/slideMaster" Target="/ppt/slideMasters/slideMaster1.xml" Id="R646173920e78497b" /><Relationship Type="http://schemas.openxmlformats.org/officeDocument/2006/relationships/notesMaster" Target="/ppt/notesMasters/notesMaster1.xml" Id="R7a07fae3c8db4b4d" /><Relationship Type="http://schemas.openxmlformats.org/officeDocument/2006/relationships/presProps" Target="/ppt/presProps.xml" Id="Re65726f54a354ff1" /><Relationship Type="http://schemas.openxmlformats.org/officeDocument/2006/relationships/tableStyles" Target="/ppt/tableStyles.xml" Id="R1ddca338dadf4fc0" /><Relationship Type="http://schemas.openxmlformats.org/officeDocument/2006/relationships/slide" Target="/ppt/slides/slide1.xml" Id="R8dcc7620a7fe45df" /><Relationship Type="http://schemas.openxmlformats.org/officeDocument/2006/relationships/slide" Target="/ppt/slides/slide2.xml" Id="Rd9352317433f49fb" /><Relationship Type="http://schemas.openxmlformats.org/officeDocument/2006/relationships/slide" Target="/ppt/slides/slide3.xml" Id="R0fb566e428d4461e" /><Relationship Type="http://schemas.openxmlformats.org/officeDocument/2006/relationships/slide" Target="/ppt/slides/slide4.xml" Id="R2f34550fd8974592" /><Relationship Type="http://schemas.openxmlformats.org/officeDocument/2006/relationships/slide" Target="/ppt/slides/slide5.xml" Id="R73d24c7230e64bcb" /><Relationship Type="http://schemas.openxmlformats.org/officeDocument/2006/relationships/slide" Target="/ppt/slides/slide6.xml" Id="R6834042956c349d9" /><Relationship Type="http://schemas.openxmlformats.org/officeDocument/2006/relationships/slide" Target="/ppt/slides/slide7.xml" Id="Rfac0ea4825404f4e" /><Relationship Type="http://schemas.openxmlformats.org/officeDocument/2006/relationships/slide" Target="/ppt/slides/slide8.xml" Id="Rc95543e4d69e4af1" /><Relationship Type="http://schemas.openxmlformats.org/officeDocument/2006/relationships/slide" Target="/ppt/slides/slide9.xml" Id="R0300398ad89f478f" /><Relationship Type="http://schemas.openxmlformats.org/officeDocument/2006/relationships/slide" Target="/ppt/slides/slide10.xml" Id="R6e38e58136584cf5" /><Relationship Type="http://schemas.openxmlformats.org/officeDocument/2006/relationships/slide" Target="/ppt/slides/slide11.xml" Id="Rb573b02380914180" /><Relationship Type="http://schemas.openxmlformats.org/officeDocument/2006/relationships/slide" Target="/ppt/slides/slide12.xml" Id="Rb08fea41764445ed" /><Relationship Type="http://schemas.openxmlformats.org/officeDocument/2006/relationships/slide" Target="/ppt/slides/slide13.xml" Id="R2c43efd506f240b2" /><Relationship Type="http://schemas.openxmlformats.org/officeDocument/2006/relationships/slide" Target="/ppt/slides/slide14.xml" Id="Rf81b67dab7e44a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633485c47a40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255859aee04948" /><Relationship Type="http://schemas.openxmlformats.org/officeDocument/2006/relationships/notesMaster" Target="/ppt/notesMasters/notesMaster1.xml" Id="R807d1146ea7348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c37485eeea480f" /><Relationship Type="http://schemas.openxmlformats.org/officeDocument/2006/relationships/notesMaster" Target="/ppt/notesMasters/notesMaster1.xml" Id="Rec04c8114cc642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0576a1ac6c4fdd" /><Relationship Type="http://schemas.openxmlformats.org/officeDocument/2006/relationships/notesMaster" Target="/ppt/notesMasters/notesMaster1.xml" Id="R0fcc4e03e80d42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863788126a45dd" /><Relationship Type="http://schemas.openxmlformats.org/officeDocument/2006/relationships/notesMaster" Target="/ppt/notesMasters/notesMaster1.xml" Id="Rec92b5b691fd42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6157f14fa24dae" /><Relationship Type="http://schemas.openxmlformats.org/officeDocument/2006/relationships/notesMaster" Target="/ppt/notesMasters/notesMaster1.xml" Id="Ra4199b149a5449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0721877f634af1" /><Relationship Type="http://schemas.openxmlformats.org/officeDocument/2006/relationships/notesMaster" Target="/ppt/notesMasters/notesMaster1.xml" Id="R4ce4db765f4040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795f719adb4d98" /><Relationship Type="http://schemas.openxmlformats.org/officeDocument/2006/relationships/notesMaster" Target="/ppt/notesMasters/notesMaster1.xml" Id="R9f0f69589cbe43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6b6cb79e3a4d08" /><Relationship Type="http://schemas.openxmlformats.org/officeDocument/2006/relationships/notesMaster" Target="/ppt/notesMasters/notesMaster1.xml" Id="R3b39caa8aba74a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421e2d858246c2" /><Relationship Type="http://schemas.openxmlformats.org/officeDocument/2006/relationships/notesMaster" Target="/ppt/notesMasters/notesMaster1.xml" Id="R26c56b15acf84f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05290e29ba40d5" /><Relationship Type="http://schemas.openxmlformats.org/officeDocument/2006/relationships/notesMaster" Target="/ppt/notesMasters/notesMaster1.xml" Id="R84b6e2b1fd5c4a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cbad4a751d450f" /><Relationship Type="http://schemas.openxmlformats.org/officeDocument/2006/relationships/notesMaster" Target="/ppt/notesMasters/notesMaster1.xml" Id="R229534e9cc504f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47b88c40204fc6" /><Relationship Type="http://schemas.openxmlformats.org/officeDocument/2006/relationships/notesMaster" Target="/ppt/notesMasters/notesMaster1.xml" Id="R49def7a187224a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7be14196a04132" /><Relationship Type="http://schemas.openxmlformats.org/officeDocument/2006/relationships/notesMaster" Target="/ppt/notesMasters/notesMaster1.xml" Id="R102c22815a5e44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0bf349de334d23" /><Relationship Type="http://schemas.openxmlformats.org/officeDocument/2006/relationships/notesMaster" Target="/ppt/notesMasters/notesMaster1.xml" Id="R54271ae34c7a48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本汇报讨论人工智能与人在软件工程中的关系。需求、设计、代码和测试作为分工场景；目标是明确如何授权、审查与接续工作。</a:t>
            </a:r>
          </a:p>
          <a:p xmlns:a="http://schemas.openxmlformats.org/drawingml/2006/main">
            <a:r>
              <a:t>依据：run-requirements-driven-workflow/SKILL.md 及配套专项 skill；示例均为流程说明，不代表实测结果。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三种产出都有价值，但不能跨越证据能力作出更大结论。后续将以任务性质和验证能力确定分工。</a:t>
            </a:r>
          </a:p>
          <a:p xmlns:a="http://schemas.openxmlformats.org/drawingml/2006/main">
            <a:r>
              <a:t>依据：run-requirements-driven-workflow/SKILL.md 及配套专项 skill；示例均为流程说明，不代表实测结果。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这里的规则用于裁剪授权范围，不要求人逐次批准每一处机械修改。现有授权持续有效，关键行为与风险取舍需要相应责任人决定。</a:t>
            </a:r>
          </a:p>
          <a:p xmlns:a="http://schemas.openxmlformats.org/drawingml/2006/main">
            <a:r>
              <a:t>依据：run-requirements-driven-workflow/SKILL.md 及配套专项 skill；示例均为流程说明，不代表实测结果。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的产出能力应与可核查性配套。工具执行、文件修改和外部系统操作仍受具体任务授权约束。</a:t>
            </a:r>
          </a:p>
          <a:p xmlns:a="http://schemas.openxmlformats.org/drawingml/2006/main">
            <a:r>
              <a:t>依据：run-requirements-driven-workflow/SKILL.md 及配套专项 skill；示例均为流程说明，不代表实测结果。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不同责任可由不同角色承担。人工确认并不保证正确，仍需要证据、反例和项目所要求的独立审查。</a:t>
            </a:r>
          </a:p>
          <a:p xmlns:a="http://schemas.openxmlformats.org/drawingml/2006/main">
            <a:r>
              <a:t>依据：run-requirements-driven-workflow/SKILL.md 及配套专项 skill；示例均为流程说明，不代表实测结果。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流程可迭代，验证设计可以随需求和设计成熟提前开展。AI 可在已明确的规则与权限内连续执行，只有需要新的关键决定时交给人。</a:t>
            </a:r>
          </a:p>
          <a:p xmlns:a="http://schemas.openxmlformats.org/drawingml/2006/main">
            <a:r>
              <a:t>依据：run-requirements-driven-workflow/SKILL.md 及配套专项 skill；示例均为流程说明，不代表实测结果。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示例为假设的通信监视功能。AI 可以发现“适当措施”缺少定义，但不能自行指定停机、保持输出或降级。</a:t>
            </a:r>
          </a:p>
          <a:p xmlns:a="http://schemas.openxmlformats.org/drawingml/2006/main">
            <a:r>
              <a:t>依据：run-requirements-driven-workflow/SKILL.md 及配套专项 skill；示例均为流程说明，不代表实测结果。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需求—设计与设计—代码均应正向检查落实、反向检查依据。代码现状不能直接成为修改目标设计的理由。</a:t>
            </a:r>
          </a:p>
          <a:p xmlns:a="http://schemas.openxmlformats.org/drawingml/2006/main">
            <a:r>
              <a:t>依据：run-requirements-driven-workflow/SKILL.md 及配套专项 skill；示例均为流程说明，不代表实测结果。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单元测试从设计义务出发，系统测试从需求出发。系统性能、硬件行为或时间上界可能需要其他分析和目标环境证据。</a:t>
            </a:r>
          </a:p>
          <a:p xmlns:a="http://schemas.openxmlformats.org/drawingml/2006/main">
            <a:r>
              <a:t>依据：run-requirements-driven-workflow/SKILL.md 及配套专项 skill；示例均为流程说明，不代表实测结果。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同一智能体换身份审查不自动构成验证独立性。多个智能体也可能共享错误假设，应核验预期、材料与推理来源。</a:t>
            </a:r>
          </a:p>
          <a:p xmlns:a="http://schemas.openxmlformats.org/drawingml/2006/main">
            <a:r>
              <a:t>依据：run-requirements-driven-workflow/SKILL.md 及配套专项 skill；示例均为流程说明，不代表实测结果。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已有授权足够时无需重复询问。需要新的关键决定时，应提出具体可回答的问题，而非笼统要求确认。决定状态可用批准、拒绝、补分析或延期。</a:t>
            </a:r>
          </a:p>
          <a:p xmlns:a="http://schemas.openxmlformats.org/drawingml/2006/main">
            <a:r>
              <a:t>依据：run-requirements-driven-workflow/SKILL.md 及配套专项 skill；示例均为流程说明，不代表实测结果。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本例不指定任何数值或具体安全动作，以免将展示方案误当作工程结论。任何选择均需对应真实系统与任务资料。</a:t>
            </a:r>
          </a:p>
          <a:p xmlns:a="http://schemas.openxmlformats.org/drawingml/2006/main">
            <a:r>
              <a:t>依据：run-requirements-driven-workflow/SKILL.md 及配套专项 skill；示例均为流程说明，不代表实测结果。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交接记录的目的是恢复工作并可审计。前一个智能体标记已完成不能代替材料与版本核验；缺失证据应保留为限制。</a:t>
            </a:r>
          </a:p>
          <a:p xmlns:a="http://schemas.openxmlformats.org/drawingml/2006/main">
            <a:r>
              <a:t>依据：run-requirements-driven-workflow/SKILL.md 及配套专项 skill；示例均为流程说明，不代表实测结果。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落地时同时观察人工决策负担、实际发现的问题和返工原因，逐步调整 AI 的授权范围。阶段就绪不自动代表发布或安全批准。</a:t>
            </a:r>
          </a:p>
          <a:p xmlns:a="http://schemas.openxmlformats.org/drawingml/2006/main">
            <a:r>
              <a:t>依据：run-requirements-driven-workflow/SKILL.md 及配套专项 skill；示例均为流程说明，不代表实测结果。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606b36b7249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f6b7db4f724182" /><Relationship Type="http://schemas.openxmlformats.org/officeDocument/2006/relationships/slideLayout" Target="/ppt/slideLayouts/slideLayout1.xml" Id="R4011231498114d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11231498114d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d1899ea164a50" /><Relationship Type="http://schemas.openxmlformats.org/officeDocument/2006/relationships/notesSlide" Target="/ppt/notesSlides/notesSlide1.xml" Id="Rf22ab208b4e148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a5bdcb7ac42ba" /><Relationship Type="http://schemas.openxmlformats.org/officeDocument/2006/relationships/notesSlide" Target="/ppt/notesSlides/notesSlide2.xml" Id="Rf616882e4f8446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71a217e09447f" /><Relationship Type="http://schemas.openxmlformats.org/officeDocument/2006/relationships/notesSlide" Target="/ppt/notesSlides/notesSlide3.xml" Id="R552ad924aa944a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4c827903a4529" /><Relationship Type="http://schemas.openxmlformats.org/officeDocument/2006/relationships/notesSlide" Target="/ppt/notesSlides/notesSlide4.xml" Id="Ree5391df0f4345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c434cd23d47d7" /><Relationship Type="http://schemas.openxmlformats.org/officeDocument/2006/relationships/notesSlide" Target="/ppt/notesSlides/notesSlide5.xml" Id="Rb573cecf6f074f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7025d1d5f4c52" /><Relationship Type="http://schemas.openxmlformats.org/officeDocument/2006/relationships/notesSlide" Target="/ppt/notesSlides/notesSlide6.xml" Id="R93599791bf6046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a3bf99de2486b" /><Relationship Type="http://schemas.openxmlformats.org/officeDocument/2006/relationships/notesSlide" Target="/ppt/notesSlides/notesSlide7.xml" Id="R3525f215a33f4c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7583a158d4b63" /><Relationship Type="http://schemas.openxmlformats.org/officeDocument/2006/relationships/notesSlide" Target="/ppt/notesSlides/notesSlide8.xml" Id="R032868274d4743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c7656148a4eeb" /><Relationship Type="http://schemas.openxmlformats.org/officeDocument/2006/relationships/notesSlide" Target="/ppt/notesSlides/notesSlide9.xml" Id="R44566d1d0c0144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a1a19fe4c43b7" /><Relationship Type="http://schemas.openxmlformats.org/officeDocument/2006/relationships/notesSlide" Target="/ppt/notesSlides/notesSlide10.xml" Id="Rb92bda26cce342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4262cc51b413a" /><Relationship Type="http://schemas.openxmlformats.org/officeDocument/2006/relationships/notesSlide" Target="/ppt/notesSlides/notesSlide11.xml" Id="Rb18a317adf8845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0f09314854fa2" /><Relationship Type="http://schemas.openxmlformats.org/officeDocument/2006/relationships/notesSlide" Target="/ppt/notesSlides/notesSlide12.xml" Id="R54ef1bc2448f4e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e430af2884d85" /><Relationship Type="http://schemas.openxmlformats.org/officeDocument/2006/relationships/notesSlide" Target="/ppt/notesSlides/notesSlide13.xml" Id="Rf9a20d3de31042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1653652204a41" /><Relationship Type="http://schemas.openxmlformats.org/officeDocument/2006/relationships/notesSlide" Target="/ppt/notesSlides/notesSlide14.xml" Id="R62cb22ba932541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33E8B5-7E5F-4D1F-9A98-7B7E7F46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430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1"/>
          </a:solidFill>
        </p:spPr>
      </p:sp>
      <p:sp>
        <p:nvSpPr>
          <p:cNvPr id="2" name="软件工程中的人机协作">
            <a:extLst xmlns:a="http://schemas.openxmlformats.org/drawingml/2006/main">
              <a:ext uri="{FF2B5EF4-FFF2-40B4-BE49-F238E27FC236}">
                <a16:creationId xmlns:a16="http://schemas.microsoft.com/office/drawing/2014/main" id="{CEA24A79-5AA5-48C9-90E9-F8C42F77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"/>
            <a:ext cx="9525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5555"/>
                </a:solidFill>
              </a:rPr>
              <a:t>软件工程中的人机协作</a:t>
            </a:r>
          </a:p>
        </p:txBody>
      </p:sp>
      <p:sp>
        <p:nvSpPr>
          <p:cNvPr id="3" name="人工智能参与软件工程">
            <a:extLst xmlns:a="http://schemas.openxmlformats.org/drawingml/2006/main">
              <a:ext uri="{FF2B5EF4-FFF2-40B4-BE49-F238E27FC236}">
                <a16:creationId xmlns:a16="http://schemas.microsoft.com/office/drawing/2014/main" id="{BC32F288-15D6-43D9-A731-EB032DA5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10477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02020"/>
                </a:solidFill>
              </a:rPr>
              <a:t>人工智能参与软件工程</a:t>
            </a:r>
          </a:p>
        </p:txBody>
      </p:sp>
      <p:sp>
        <p:nvSpPr>
          <p:cNvPr id="4" name="职责、决策与验证闭环">
            <a:extLst xmlns:a="http://schemas.openxmlformats.org/drawingml/2006/main">
              <a:ext uri="{FF2B5EF4-FFF2-40B4-BE49-F238E27FC236}">
                <a16:creationId xmlns:a16="http://schemas.microsoft.com/office/drawing/2014/main" id="{58527325-D2AB-4737-AC0C-CC4FF414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0096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20"/>
                </a:solidFill>
              </a:rPr>
              <a:t>职责、决策与验证闭环</a:t>
            </a:r>
          </a:p>
        </p:txBody>
      </p:sp>
      <p:sp>
        <p:nvSpPr>
          <p:cNvPr id="5" name="AI 做什么？人做什么？如何判断产出值得信任？">
            <a:extLst xmlns:a="http://schemas.openxmlformats.org/drawingml/2006/main">
              <a:ext uri="{FF2B5EF4-FFF2-40B4-BE49-F238E27FC236}">
                <a16:creationId xmlns:a16="http://schemas.microsoft.com/office/drawing/2014/main" id="{AB987902-BE7C-4585-8CDF-3524ED00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1028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55555"/>
                </a:solidFill>
              </a:rPr>
              <a:t>AI 做什么？人做什么？如何判断产出值得信任？</a:t>
            </a:r>
          </a:p>
        </p:txBody>
      </p:sp>
      <p:sp>
        <p:nvSpPr>
          <p:cNvPr id="6" name="AI 产出与检查">
            <a:extLst xmlns:a="http://schemas.openxmlformats.org/drawingml/2006/main">
              <a:ext uri="{FF2B5EF4-FFF2-40B4-BE49-F238E27FC236}">
                <a16:creationId xmlns:a16="http://schemas.microsoft.com/office/drawing/2014/main" id="{3DF09303-DBEA-47BB-B750-69A8BAAC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4000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AI 产出与检查</a:t>
            </a:r>
          </a:p>
        </p:txBody>
      </p:sp>
      <p:sp>
        <p:nvSpPr>
          <p:cNvPr id="7" name="人确定目标与作出决定">
            <a:extLst xmlns:a="http://schemas.openxmlformats.org/drawingml/2006/main">
              <a:ext uri="{FF2B5EF4-FFF2-40B4-BE49-F238E27FC236}">
                <a16:creationId xmlns:a16="http://schemas.microsoft.com/office/drawing/2014/main" id="{55CF94E9-BA5D-4CF0-9975-266B9B15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504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BA48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4824"/>
                </a:solidFill>
              </a:rPr>
              <a:t>人确定目标与作出决定</a:t>
            </a:r>
          </a:p>
        </p:txBody>
      </p:sp>
      <p:sp>
        <p:nvSpPr>
          <p:cNvPr id="8" name="共同依靠可核验的证据推进工作">
            <a:extLst xmlns:a="http://schemas.openxmlformats.org/drawingml/2006/main">
              <a:ext uri="{FF2B5EF4-FFF2-40B4-BE49-F238E27FC236}">
                <a16:creationId xmlns:a16="http://schemas.microsoft.com/office/drawing/2014/main" id="{A7727F32-03C6-4662-8902-8AC04DA3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1000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5555"/>
                </a:solidFill>
              </a:rPr>
              <a:t>共同依靠可核验的证据推进工作</a:t>
            </a:r>
          </a:p>
        </p:txBody>
      </p:sp>
      <p:sp>
        <p:nvSpPr>
          <p:cNvPr id="9" name="01 / 14">
            <a:extLst xmlns:a="http://schemas.openxmlformats.org/drawingml/2006/main">
              <a:ext uri="{FF2B5EF4-FFF2-40B4-BE49-F238E27FC236}">
                <a16:creationId xmlns:a16="http://schemas.microsoft.com/office/drawing/2014/main" id="{BC2B928C-7B9B-427E-A794-ECBE191E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48425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01 / 14</a:t>
            </a:r>
          </a:p>
        </p:txBody>
      </p:sp>
    </p:spTree>
    <p:extLst>
      <p:ext uri="{BB962C8B-B14F-4D97-AF65-F5344CB8AC3E}">
        <p14:creationId xmlns:p14="http://schemas.microsoft.com/office/powerpoint/2010/main" val="1537728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为什么需要明确分工">
            <a:extLst xmlns:a="http://schemas.openxmlformats.org/drawingml/2006/main">
              <a:ext uri="{FF2B5EF4-FFF2-40B4-BE49-F238E27FC236}">
                <a16:creationId xmlns:a16="http://schemas.microsoft.com/office/drawing/2014/main" id="{705A2EF0-CA32-4C26-9B4D-30C6E333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04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为什么需要明确分工</a:t>
            </a:r>
          </a:p>
        </p:txBody>
      </p:sp>
      <p:sp>
        <p:nvSpPr>
          <p:cNvPr id="2" name="产出能否被信任，要看它有什么证据">
            <a:extLst xmlns:a="http://schemas.openxmlformats.org/drawingml/2006/main">
              <a:ext uri="{FF2B5EF4-FFF2-40B4-BE49-F238E27FC236}">
                <a16:creationId xmlns:a16="http://schemas.microsoft.com/office/drawing/2014/main" id="{E2641F21-24BC-4642-9099-D64A41FD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</a:rPr>
              <a:t>产出能否被信任，要看它有什么证据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0526A-0079-48AA-8792-A4754AB2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B"/>
          </a:solidFill>
        </p:spPr>
      </p:sp>
      <p:sp>
        <p:nvSpPr>
          <p:cNvPr id="4" name="人工智能参与软件工程">
            <a:extLst xmlns:a="http://schemas.openxmlformats.org/drawingml/2006/main">
              <a:ext uri="{FF2B5EF4-FFF2-40B4-BE49-F238E27FC236}">
                <a16:creationId xmlns:a16="http://schemas.microsoft.com/office/drawing/2014/main" id="{5186454C-312B-4984-8ED2-0F4D9ADF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人工智能参与软件工程</a:t>
            </a:r>
          </a:p>
        </p:txBody>
      </p:sp>
      <p:sp>
        <p:nvSpPr>
          <p:cNvPr id="5" name="02 / 14">
            <a:extLst xmlns:a="http://schemas.openxmlformats.org/drawingml/2006/main">
              <a:ext uri="{FF2B5EF4-FFF2-40B4-BE49-F238E27FC236}">
                <a16:creationId xmlns:a16="http://schemas.microsoft.com/office/drawing/2014/main" id="{87AB5543-2978-48D3-B87B-00C408FF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48425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02 / 14</a:t>
            </a:r>
          </a:p>
        </p:txBody>
      </p:sp>
      <p:sp>
        <p:nvSpPr>
          <p:cNvPr id="6" name="文档完整">
            <a:extLst xmlns:a="http://schemas.openxmlformats.org/drawingml/2006/main">
              <a:ext uri="{FF2B5EF4-FFF2-40B4-BE49-F238E27FC236}">
                <a16:creationId xmlns:a16="http://schemas.microsoft.com/office/drawing/2014/main" id="{45C6D17E-C44D-43A6-9625-F173F13E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文档完整</a:t>
            </a:r>
          </a:p>
        </p:txBody>
      </p:sp>
      <p:sp>
        <p:nvSpPr>
          <p:cNvPr id="7" name="只能说明内容已被组织起来；目标是否合理、约束是否有来源，">
            <a:extLst xmlns:a="http://schemas.openxmlformats.org/drawingml/2006/main">
              <a:ext uri="{FF2B5EF4-FFF2-40B4-BE49-F238E27FC236}">
                <a16:creationId xmlns:a16="http://schemas.microsoft.com/office/drawing/2014/main" id="{A9A8CC8C-FEB8-4980-817E-1E5614B6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526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只能说明内容已被组织起来；目标是否合理、约束是否有来源，还需审查。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4A3D5-0574-4647-8D30-EB8BE099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9" name="代码可运行">
            <a:extLst xmlns:a="http://schemas.openxmlformats.org/drawingml/2006/main">
              <a:ext uri="{FF2B5EF4-FFF2-40B4-BE49-F238E27FC236}">
                <a16:creationId xmlns:a16="http://schemas.microsoft.com/office/drawing/2014/main" id="{BB751319-F699-4308-B586-7413FFA6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代码可运行</a:t>
            </a:r>
          </a:p>
        </p:txBody>
      </p:sp>
      <p:sp>
        <p:nvSpPr>
          <p:cNvPr id="10" name="只能支持所观察到的运行结果；需求、设计与实际行为仍需核对">
            <a:extLst xmlns:a="http://schemas.openxmlformats.org/drawingml/2006/main">
              <a:ext uri="{FF2B5EF4-FFF2-40B4-BE49-F238E27FC236}">
                <a16:creationId xmlns:a16="http://schemas.microsoft.com/office/drawing/2014/main" id="{5FCD6D6D-F596-4066-801A-465E0192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575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只能支持所观察到的运行结果；需求、设计与实际行为仍需核对。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90E74-38B7-4CB9-ADAC-8DD13089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0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2" name="测试通过">
            <a:extLst xmlns:a="http://schemas.openxmlformats.org/drawingml/2006/main">
              <a:ext uri="{FF2B5EF4-FFF2-40B4-BE49-F238E27FC236}">
                <a16:creationId xmlns:a16="http://schemas.microsoft.com/office/drawing/2014/main" id="{68DCFC29-8C79-48AD-B1F1-6120C819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24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测试通过</a:t>
            </a:r>
          </a:p>
        </p:txBody>
      </p:sp>
      <p:sp>
        <p:nvSpPr>
          <p:cNvPr id="13" name="支持指定版本和场景下的判据；预期来源与环境有效性也必须可">
            <a:extLst xmlns:a="http://schemas.openxmlformats.org/drawingml/2006/main">
              <a:ext uri="{FF2B5EF4-FFF2-40B4-BE49-F238E27FC236}">
                <a16:creationId xmlns:a16="http://schemas.microsoft.com/office/drawing/2014/main" id="{D6DDE13E-DB44-43BE-8703-7423A8F9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624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支持指定版本和场景下的判据；预期来源与环境有效性也必须可信。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8914E-52BB-4A1A-B3E2-B0422FFC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1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7CA6B-C331-47EE-A067-91088310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</p:spPr>
      </p:sp>
      <p:sp>
        <p:nvSpPr>
          <p:cNvPr id="16" name="人的审查需要事实、反例和限制，AI 应把这些依据一起交付">
            <a:extLst xmlns:a="http://schemas.openxmlformats.org/drawingml/2006/main">
              <a:ext uri="{FF2B5EF4-FFF2-40B4-BE49-F238E27FC236}">
                <a16:creationId xmlns:a16="http://schemas.microsoft.com/office/drawing/2014/main" id="{477A4B3E-908B-45D2-B346-E6B1B292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39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</a:rPr>
              <a:t>人的审查需要事实、反例和限制，AI 应把这些依据一起交付。</a:t>
            </a:r>
          </a:p>
        </p:txBody>
      </p:sp>
    </p:spTree>
    <p:extLst>
      <p:ext uri="{BB962C8B-B14F-4D97-AF65-F5344CB8AC3E}">
        <p14:creationId xmlns:p14="http://schemas.microsoft.com/office/powerpoint/2010/main" val="6324035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如何确定 AI 的工作边界">
            <a:extLst xmlns:a="http://schemas.openxmlformats.org/drawingml/2006/main">
              <a:ext uri="{FF2B5EF4-FFF2-40B4-BE49-F238E27FC236}">
                <a16:creationId xmlns:a16="http://schemas.microsoft.com/office/drawing/2014/main" id="{0CB2783C-E7A2-46BC-AA1C-DC59BA4D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04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如何确定 AI 的工作边界</a:t>
            </a:r>
          </a:p>
        </p:txBody>
      </p:sp>
      <p:sp>
        <p:nvSpPr>
          <p:cNvPr id="2" name="分工取决于规则、验证能力与影响范围">
            <a:extLst xmlns:a="http://schemas.openxmlformats.org/drawingml/2006/main">
              <a:ext uri="{FF2B5EF4-FFF2-40B4-BE49-F238E27FC236}">
                <a16:creationId xmlns:a16="http://schemas.microsoft.com/office/drawing/2014/main" id="{A00B5582-D690-490D-A451-3C3C0850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</a:rPr>
              <a:t>分工取决于规则、验证能力与影响范围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9F04D-B873-40E0-A3A3-5B562375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B"/>
          </a:solidFill>
        </p:spPr>
      </p:sp>
      <p:sp>
        <p:nvSpPr>
          <p:cNvPr id="4" name="人工智能参与软件工程">
            <a:extLst xmlns:a="http://schemas.openxmlformats.org/drawingml/2006/main">
              <a:ext uri="{FF2B5EF4-FFF2-40B4-BE49-F238E27FC236}">
                <a16:creationId xmlns:a16="http://schemas.microsoft.com/office/drawing/2014/main" id="{63E769F2-A037-466D-9284-8B54B228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人工智能参与软件工程</a:t>
            </a:r>
          </a:p>
        </p:txBody>
      </p:sp>
      <p:sp>
        <p:nvSpPr>
          <p:cNvPr id="5" name="03 / 14">
            <a:extLst xmlns:a="http://schemas.openxmlformats.org/drawingml/2006/main">
              <a:ext uri="{FF2B5EF4-FFF2-40B4-BE49-F238E27FC236}">
                <a16:creationId xmlns:a16="http://schemas.microsoft.com/office/drawing/2014/main" id="{4DAE6ECB-3DBA-42CB-BF06-516A3480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48425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03 / 14</a:t>
            </a:r>
          </a:p>
        </p:txBody>
      </p:sp>
      <p:sp>
        <p:nvSpPr>
          <p:cNvPr id="6" name="规则是否明确">
            <a:extLst xmlns:a="http://schemas.openxmlformats.org/drawingml/2006/main">
              <a:ext uri="{FF2B5EF4-FFF2-40B4-BE49-F238E27FC236}">
                <a16:creationId xmlns:a16="http://schemas.microsoft.com/office/drawing/2014/main" id="{585BA2A8-98AE-44CB-B974-89472E09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规则是否明确</a:t>
            </a:r>
          </a:p>
        </p:txBody>
      </p:sp>
      <p:sp>
        <p:nvSpPr>
          <p:cNvPr id="7" name="依据充分：AI 可按约定推进；目标或约束冲突：由人澄清。">
            <a:extLst xmlns:a="http://schemas.openxmlformats.org/drawingml/2006/main">
              <a:ext uri="{FF2B5EF4-FFF2-40B4-BE49-F238E27FC236}">
                <a16:creationId xmlns:a16="http://schemas.microsoft.com/office/drawing/2014/main" id="{A90E45FB-D0D0-4D27-8739-90675142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526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依据充分：AI 可按约定推进；目标或约束冲突：由人澄清。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49359-67C1-4799-82DD-F9BFF537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9" name="结果能否核验">
            <a:extLst xmlns:a="http://schemas.openxmlformats.org/drawingml/2006/main">
              <a:ext uri="{FF2B5EF4-FFF2-40B4-BE49-F238E27FC236}">
                <a16:creationId xmlns:a16="http://schemas.microsoft.com/office/drawing/2014/main" id="{01886B63-D485-410C-99F0-86347F0F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结果能否核验</a:t>
            </a:r>
          </a:p>
        </p:txBody>
      </p:sp>
      <p:sp>
        <p:nvSpPr>
          <p:cNvPr id="10" name="有独立判据：AI 可执行检查；依据缺失：补分析或请领域人">
            <a:extLst xmlns:a="http://schemas.openxmlformats.org/drawingml/2006/main">
              <a:ext uri="{FF2B5EF4-FFF2-40B4-BE49-F238E27FC236}">
                <a16:creationId xmlns:a16="http://schemas.microsoft.com/office/drawing/2014/main" id="{DE43FF40-D33A-4835-B55B-382AAEA8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575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有独立判据：AI 可执行检查；依据缺失：补分析或请领域人员评审。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F089B-8125-4A93-B443-A6A9CA15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0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2" name="影响是否可控">
            <a:extLst xmlns:a="http://schemas.openxmlformats.org/drawingml/2006/main">
              <a:ext uri="{FF2B5EF4-FFF2-40B4-BE49-F238E27FC236}">
                <a16:creationId xmlns:a16="http://schemas.microsoft.com/office/drawing/2014/main" id="{625E6874-2301-4FF0-94E5-B8C01E4A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24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影响是否可控</a:t>
            </a:r>
          </a:p>
        </p:txBody>
      </p:sp>
      <p:sp>
        <p:nvSpPr>
          <p:cNvPr id="13" name="在授权范围内且可恢复：AI 可执行；改变已批准行为：交人">
            <a:extLst xmlns:a="http://schemas.openxmlformats.org/drawingml/2006/main">
              <a:ext uri="{FF2B5EF4-FFF2-40B4-BE49-F238E27FC236}">
                <a16:creationId xmlns:a16="http://schemas.microsoft.com/office/drawing/2014/main" id="{6EEDBE7E-6EFE-4066-949F-898AC8D0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624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在授权范围内且可恢复：AI 可执行；改变已批准行为：交人决定。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7EE0F-45F8-4CA4-B454-1CEB55EE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1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3FA83-2DC7-4E26-8186-B2F2B713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</p:spPr>
      </p:sp>
      <p:sp>
        <p:nvSpPr>
          <p:cNvPr id="16" name="按任务授予权限；随着证据充分性变化，调整 AI 的执行范">
            <a:extLst xmlns:a="http://schemas.openxmlformats.org/drawingml/2006/main">
              <a:ext uri="{FF2B5EF4-FFF2-40B4-BE49-F238E27FC236}">
                <a16:creationId xmlns:a16="http://schemas.microsoft.com/office/drawing/2014/main" id="{FE7C2A8A-2FF6-4521-983D-20ABCD67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39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</a:rPr>
              <a:t>按任务授予权限；随着证据充分性变化，调整 AI 的执行范围。</a:t>
            </a:r>
          </a:p>
        </p:txBody>
      </p:sp>
    </p:spTree>
    <p:extLst>
      <p:ext uri="{BB962C8B-B14F-4D97-AF65-F5344CB8AC3E}">
        <p14:creationId xmlns:p14="http://schemas.microsoft.com/office/powerpoint/2010/main" val="6360405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I 的职责">
            <a:extLst xmlns:a="http://schemas.openxmlformats.org/drawingml/2006/main">
              <a:ext uri="{FF2B5EF4-FFF2-40B4-BE49-F238E27FC236}">
                <a16:creationId xmlns:a16="http://schemas.microsoft.com/office/drawing/2014/main" id="{97F36BE4-33F2-48ED-8D4A-10E074D3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04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AI 的职责</a:t>
            </a:r>
          </a:p>
        </p:txBody>
      </p:sp>
      <p:sp>
        <p:nvSpPr>
          <p:cNvPr id="2" name="AI 适合承担产出、检查与证据整理">
            <a:extLst xmlns:a="http://schemas.openxmlformats.org/drawingml/2006/main">
              <a:ext uri="{FF2B5EF4-FFF2-40B4-BE49-F238E27FC236}">
                <a16:creationId xmlns:a16="http://schemas.microsoft.com/office/drawing/2014/main" id="{871B460F-D816-4BE3-B365-49C4082E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</a:rPr>
              <a:t>AI 适合承担产出、检查与证据整理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99466-F16D-43F5-817F-14DEE06B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B"/>
          </a:solidFill>
        </p:spPr>
      </p:sp>
      <p:sp>
        <p:nvSpPr>
          <p:cNvPr id="4" name="人工智能参与软件工程">
            <a:extLst xmlns:a="http://schemas.openxmlformats.org/drawingml/2006/main">
              <a:ext uri="{FF2B5EF4-FFF2-40B4-BE49-F238E27FC236}">
                <a16:creationId xmlns:a16="http://schemas.microsoft.com/office/drawing/2014/main" id="{B60A427B-5FDF-4258-91C6-EF1BDCA9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人工智能参与软件工程</a:t>
            </a:r>
          </a:p>
        </p:txBody>
      </p:sp>
      <p:sp>
        <p:nvSpPr>
          <p:cNvPr id="5" name="04 / 14">
            <a:extLst xmlns:a="http://schemas.openxmlformats.org/drawingml/2006/main">
              <a:ext uri="{FF2B5EF4-FFF2-40B4-BE49-F238E27FC236}">
                <a16:creationId xmlns:a16="http://schemas.microsoft.com/office/drawing/2014/main" id="{282E1585-3B7B-40AA-AB7A-90E271DB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48425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04 / 14</a:t>
            </a:r>
          </a:p>
        </p:txBody>
      </p:sp>
      <p:sp>
        <p:nvSpPr>
          <p:cNvPr id="6" name="整理和生成">
            <a:extLst xmlns:a="http://schemas.openxmlformats.org/drawingml/2006/main">
              <a:ext uri="{FF2B5EF4-FFF2-40B4-BE49-F238E27FC236}">
                <a16:creationId xmlns:a16="http://schemas.microsoft.com/office/drawing/2014/main" id="{53AD4B2E-578B-4912-BF6B-B6752294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整理和生成</a:t>
            </a:r>
          </a:p>
        </p:txBody>
      </p:sp>
      <p:sp>
        <p:nvSpPr>
          <p:cNvPr id="7" name="提取条款、整理接口与状态，生成设计、代码和测试草案。">
            <a:extLst xmlns:a="http://schemas.openxmlformats.org/drawingml/2006/main">
              <a:ext uri="{FF2B5EF4-FFF2-40B4-BE49-F238E27FC236}">
                <a16:creationId xmlns:a16="http://schemas.microsoft.com/office/drawing/2014/main" id="{1B9F38A9-243B-4885-9975-F5466112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526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提取条款、整理接口与状态，生成设计、代码和测试草案。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18F34-F5C1-4E9C-8CCA-514E7C96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9" name="比对和质疑">
            <a:extLst xmlns:a="http://schemas.openxmlformats.org/drawingml/2006/main">
              <a:ext uri="{FF2B5EF4-FFF2-40B4-BE49-F238E27FC236}">
                <a16:creationId xmlns:a16="http://schemas.microsoft.com/office/drawing/2014/main" id="{C0401978-0FCC-4D1E-A269-0894F1A5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比对和质疑</a:t>
            </a:r>
          </a:p>
        </p:txBody>
      </p:sp>
      <p:sp>
        <p:nvSpPr>
          <p:cNvPr id="10" name="建立双向追溯，查找冲突、遗漏、无依据行为，并构造反例。">
            <a:extLst xmlns:a="http://schemas.openxmlformats.org/drawingml/2006/main">
              <a:ext uri="{FF2B5EF4-FFF2-40B4-BE49-F238E27FC236}">
                <a16:creationId xmlns:a16="http://schemas.microsoft.com/office/drawing/2014/main" id="{3997A071-6B36-4319-B789-22A25FFD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575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建立双向追溯，查找冲突、遗漏、无依据行为，并构造反例。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B291B-6EAD-48E0-B1A3-113B0A91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0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2" name="执行和归纳">
            <a:extLst xmlns:a="http://schemas.openxmlformats.org/drawingml/2006/main">
              <a:ext uri="{FF2B5EF4-FFF2-40B4-BE49-F238E27FC236}">
                <a16:creationId xmlns:a16="http://schemas.microsoft.com/office/drawing/2014/main" id="{CC191EAB-3968-4EF8-91B2-E196FD45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24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执行和归纳</a:t>
            </a:r>
          </a:p>
        </p:txBody>
      </p:sp>
      <p:sp>
        <p:nvSpPr>
          <p:cNvPr id="13" name="运行获准检查与测试，归集原始结果，提出候选根因和处理方案">
            <a:extLst xmlns:a="http://schemas.openxmlformats.org/drawingml/2006/main">
              <a:ext uri="{FF2B5EF4-FFF2-40B4-BE49-F238E27FC236}">
                <a16:creationId xmlns:a16="http://schemas.microsoft.com/office/drawing/2014/main" id="{AECF85A9-1F08-4F99-8892-B51AD6FC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624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运行获准检查与测试，归集原始结果，提出候选根因和处理方案。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4CFF5-2701-4359-BB98-4860A74A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1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674E6-5352-4852-831B-F1DCD90B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</p:spPr>
      </p:sp>
      <p:sp>
        <p:nvSpPr>
          <p:cNvPr id="16" name="交付时标明：证据位置、适用版本、额外假设和仍然未知的内容">
            <a:extLst xmlns:a="http://schemas.openxmlformats.org/drawingml/2006/main">
              <a:ext uri="{FF2B5EF4-FFF2-40B4-BE49-F238E27FC236}">
                <a16:creationId xmlns:a16="http://schemas.microsoft.com/office/drawing/2014/main" id="{E62B3350-80BA-4BBB-AEA5-ABD37C8D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39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</a:rPr>
              <a:t>交付时标明：证据位置、适用版本、额外假设和仍然未知的内容。</a:t>
            </a:r>
          </a:p>
        </p:txBody>
      </p:sp>
    </p:spTree>
    <p:extLst>
      <p:ext uri="{BB962C8B-B14F-4D97-AF65-F5344CB8AC3E}">
        <p14:creationId xmlns:p14="http://schemas.microsoft.com/office/powerpoint/2010/main" val="278756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人的职责">
            <a:extLst xmlns:a="http://schemas.openxmlformats.org/drawingml/2006/main">
              <a:ext uri="{FF2B5EF4-FFF2-40B4-BE49-F238E27FC236}">
                <a16:creationId xmlns:a16="http://schemas.microsoft.com/office/drawing/2014/main" id="{C28D93E3-6B47-434D-B3DC-2A9349A2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04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人的职责</a:t>
            </a:r>
          </a:p>
        </p:txBody>
      </p:sp>
      <p:sp>
        <p:nvSpPr>
          <p:cNvPr id="2" name="人承担目标、取舍与批准责任">
            <a:extLst xmlns:a="http://schemas.openxmlformats.org/drawingml/2006/main">
              <a:ext uri="{FF2B5EF4-FFF2-40B4-BE49-F238E27FC236}">
                <a16:creationId xmlns:a16="http://schemas.microsoft.com/office/drawing/2014/main" id="{1321C321-1587-4C24-94D4-E04A7424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</a:rPr>
              <a:t>人承担目标、取舍与批准责任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0DE88-FEF1-4057-8946-7E8B3E93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B"/>
          </a:solidFill>
        </p:spPr>
      </p:sp>
      <p:sp>
        <p:nvSpPr>
          <p:cNvPr id="4" name="人工智能参与软件工程">
            <a:extLst xmlns:a="http://schemas.openxmlformats.org/drawingml/2006/main">
              <a:ext uri="{FF2B5EF4-FFF2-40B4-BE49-F238E27FC236}">
                <a16:creationId xmlns:a16="http://schemas.microsoft.com/office/drawing/2014/main" id="{D7A0CC80-BCE6-4F19-8522-1243F624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人工智能参与软件工程</a:t>
            </a:r>
          </a:p>
        </p:txBody>
      </p:sp>
      <p:sp>
        <p:nvSpPr>
          <p:cNvPr id="5" name="05 / 14">
            <a:extLst xmlns:a="http://schemas.openxmlformats.org/drawingml/2006/main">
              <a:ext uri="{FF2B5EF4-FFF2-40B4-BE49-F238E27FC236}">
                <a16:creationId xmlns:a16="http://schemas.microsoft.com/office/drawing/2014/main" id="{4A4848D6-8C14-4203-8696-E0B3F704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48425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05 / 14</a:t>
            </a:r>
          </a:p>
        </p:txBody>
      </p:sp>
      <p:sp>
        <p:nvSpPr>
          <p:cNvPr id="6" name="确定目标">
            <a:extLst xmlns:a="http://schemas.openxmlformats.org/drawingml/2006/main">
              <a:ext uri="{FF2B5EF4-FFF2-40B4-BE49-F238E27FC236}">
                <a16:creationId xmlns:a16="http://schemas.microsoft.com/office/drawing/2014/main" id="{BFCF2747-5D39-4D12-ACB3-94AA4E08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BA48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4824"/>
                </a:solidFill>
              </a:rPr>
              <a:t>确定目标</a:t>
            </a:r>
          </a:p>
        </p:txBody>
      </p:sp>
      <p:sp>
        <p:nvSpPr>
          <p:cNvPr id="7" name="判断需求价值、系统边界与优先级，确认哪些问题值得解决。">
            <a:extLst xmlns:a="http://schemas.openxmlformats.org/drawingml/2006/main">
              <a:ext uri="{FF2B5EF4-FFF2-40B4-BE49-F238E27FC236}">
                <a16:creationId xmlns:a16="http://schemas.microsoft.com/office/drawing/2014/main" id="{6BCC5143-5109-4517-B7B7-DF5B9963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526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判断需求价值、系统边界与优先级，确认哪些问题值得解决。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799E1-3625-4743-B8B8-22D2C1B0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9" name="作出专业判断">
            <a:extLst xmlns:a="http://schemas.openxmlformats.org/drawingml/2006/main">
              <a:ext uri="{FF2B5EF4-FFF2-40B4-BE49-F238E27FC236}">
                <a16:creationId xmlns:a16="http://schemas.microsoft.com/office/drawing/2014/main" id="{4689B8EC-3EEE-4CD6-B23C-2608D9F0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BA48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4824"/>
                </a:solidFill>
              </a:rPr>
              <a:t>作出专业判断</a:t>
            </a:r>
          </a:p>
        </p:txBody>
      </p:sp>
      <p:sp>
        <p:nvSpPr>
          <p:cNvPr id="10" name="确认可行性、架构约束、性能预算、故障策略与领域依据。">
            <a:extLst xmlns:a="http://schemas.openxmlformats.org/drawingml/2006/main">
              <a:ext uri="{FF2B5EF4-FFF2-40B4-BE49-F238E27FC236}">
                <a16:creationId xmlns:a16="http://schemas.microsoft.com/office/drawing/2014/main" id="{A0367D5D-C229-4540-95D4-5B599EB3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575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确认可行性、架构约束、性能预算、故障策略与领域依据。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637A3-50FF-410D-97D5-46A071F9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0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2" name="批准并承担责任">
            <a:extLst xmlns:a="http://schemas.openxmlformats.org/drawingml/2006/main">
              <a:ext uri="{FF2B5EF4-FFF2-40B4-BE49-F238E27FC236}">
                <a16:creationId xmlns:a16="http://schemas.microsoft.com/office/drawing/2014/main" id="{229F6F5C-0C9E-44B2-A8E5-B53E311D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24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BA48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4824"/>
                </a:solidFill>
              </a:rPr>
              <a:t>批准并承担责任</a:t>
            </a:r>
          </a:p>
        </p:txBody>
      </p:sp>
      <p:sp>
        <p:nvSpPr>
          <p:cNvPr id="13" name="确定行为变更、风险接受及验收范围，落实决定人和批准依据。">
            <a:extLst xmlns:a="http://schemas.openxmlformats.org/drawingml/2006/main">
              <a:ext uri="{FF2B5EF4-FFF2-40B4-BE49-F238E27FC236}">
                <a16:creationId xmlns:a16="http://schemas.microsoft.com/office/drawing/2014/main" id="{F0745578-D3BC-42C3-9B34-BF14E22B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624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确定行为变更、风险接受及验收范围，落实决定人和批准依据。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D860C-16C4-442F-994E-2C7B19F0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1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4D1F2-4D6D-469D-93F2-CD37F77A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</p:spPr>
      </p:sp>
      <p:sp>
        <p:nvSpPr>
          <p:cNvPr id="16" name="人工确认应基于可审查的材料；关键假设和取舍必须留下记录。">
            <a:extLst xmlns:a="http://schemas.openxmlformats.org/drawingml/2006/main">
              <a:ext uri="{FF2B5EF4-FFF2-40B4-BE49-F238E27FC236}">
                <a16:creationId xmlns:a16="http://schemas.microsoft.com/office/drawing/2014/main" id="{485725E0-8710-4C17-AC71-220B4675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39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</a:rPr>
              <a:t>人工确认应基于可审查的材料；关键假设和取舍必须留下记录。</a:t>
            </a:r>
          </a:p>
        </p:txBody>
      </p:sp>
    </p:spTree>
    <p:extLst>
      <p:ext uri="{BB962C8B-B14F-4D97-AF65-F5344CB8AC3E}">
        <p14:creationId xmlns:p14="http://schemas.microsoft.com/office/powerpoint/2010/main" val="1665524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人机如何配合">
            <a:extLst xmlns:a="http://schemas.openxmlformats.org/drawingml/2006/main">
              <a:ext uri="{FF2B5EF4-FFF2-40B4-BE49-F238E27FC236}">
                <a16:creationId xmlns:a16="http://schemas.microsoft.com/office/drawing/2014/main" id="{8B797B4B-215A-47D4-BDD3-B3B58024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04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人机如何配合</a:t>
            </a:r>
          </a:p>
        </p:txBody>
      </p:sp>
      <p:sp>
        <p:nvSpPr>
          <p:cNvPr id="2" name="协作闭环以证据连接 AI 的产出与人的决定">
            <a:extLst xmlns:a="http://schemas.openxmlformats.org/drawingml/2006/main">
              <a:ext uri="{FF2B5EF4-FFF2-40B4-BE49-F238E27FC236}">
                <a16:creationId xmlns:a16="http://schemas.microsoft.com/office/drawing/2014/main" id="{53604F0B-0000-4CF4-9B7A-8DF59BF3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</a:rPr>
              <a:t>协作闭环以证据连接 AI 的产出与人的决定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6B2CB-B904-40A4-8EA5-13AD9D62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B"/>
          </a:solidFill>
        </p:spPr>
      </p:sp>
      <p:sp>
        <p:nvSpPr>
          <p:cNvPr id="4" name="人工智能参与软件工程">
            <a:extLst xmlns:a="http://schemas.openxmlformats.org/drawingml/2006/main">
              <a:ext uri="{FF2B5EF4-FFF2-40B4-BE49-F238E27FC236}">
                <a16:creationId xmlns:a16="http://schemas.microsoft.com/office/drawing/2014/main" id="{27E6106F-8E4A-427D-ABC2-808432D5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人工智能参与软件工程</a:t>
            </a:r>
          </a:p>
        </p:txBody>
      </p:sp>
      <p:sp>
        <p:nvSpPr>
          <p:cNvPr id="5" name="06 / 14">
            <a:extLst xmlns:a="http://schemas.openxmlformats.org/drawingml/2006/main">
              <a:ext uri="{FF2B5EF4-FFF2-40B4-BE49-F238E27FC236}">
                <a16:creationId xmlns:a16="http://schemas.microsoft.com/office/drawing/2014/main" id="{7E2252C3-328A-486B-B2EA-D29D95BF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48425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06 / 14</a:t>
            </a:r>
          </a:p>
        </p:txBody>
      </p:sp>
      <p:sp>
        <p:nvSpPr>
          <p:cNvPr id="6" name="人">
            <a:extLst xmlns:a="http://schemas.openxmlformats.org/drawingml/2006/main">
              <a:ext uri="{FF2B5EF4-FFF2-40B4-BE49-F238E27FC236}">
                <a16:creationId xmlns:a16="http://schemas.microsoft.com/office/drawing/2014/main" id="{4C6E2C18-4C38-4E4A-B8AD-D3A48452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BA48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4824"/>
                </a:solidFill>
              </a:rPr>
              <a:t>人</a:t>
            </a:r>
          </a:p>
        </p:txBody>
      </p:sp>
      <p:sp>
        <p:nvSpPr>
          <p:cNvPr id="7" name="AI">
            <a:extLst xmlns:a="http://schemas.openxmlformats.org/drawingml/2006/main">
              <a:ext uri="{FF2B5EF4-FFF2-40B4-BE49-F238E27FC236}">
                <a16:creationId xmlns:a16="http://schemas.microsoft.com/office/drawing/2014/main" id="{B41B01DB-AAE6-492A-B143-BE0C9EAA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52625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AI</a:t>
            </a:r>
          </a:p>
        </p:txBody>
      </p:sp>
      <p:sp>
        <p:nvSpPr>
          <p:cNvPr id="8" name="人">
            <a:extLst xmlns:a="http://schemas.openxmlformats.org/drawingml/2006/main">
              <a:ext uri="{FF2B5EF4-FFF2-40B4-BE49-F238E27FC236}">
                <a16:creationId xmlns:a16="http://schemas.microsoft.com/office/drawing/2014/main" id="{F23F4808-5A1D-4B19-A188-96B08BCC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BA48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4824"/>
                </a:solidFill>
              </a:rPr>
              <a:t>人</a:t>
            </a:r>
          </a:p>
        </p:txBody>
      </p:sp>
      <p:sp>
        <p:nvSpPr>
          <p:cNvPr id="9" name="AI + 人">
            <a:extLst xmlns:a="http://schemas.openxmlformats.org/drawingml/2006/main">
              <a:ext uri="{FF2B5EF4-FFF2-40B4-BE49-F238E27FC236}">
                <a16:creationId xmlns:a16="http://schemas.microsoft.com/office/drawing/2014/main" id="{267C8D53-5D22-4C78-B3DB-70F06C58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952625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AI + 人</a:t>
            </a:r>
          </a:p>
        </p:txBody>
      </p:sp>
      <p:sp>
        <p:nvSpPr>
          <p:cNvPr id="10" name="目标与约束">
            <a:extLst xmlns:a="http://schemas.openxmlformats.org/drawingml/2006/main">
              <a:ext uri="{FF2B5EF4-FFF2-40B4-BE49-F238E27FC236}">
                <a16:creationId xmlns:a16="http://schemas.microsoft.com/office/drawing/2014/main" id="{14F0FB0D-6E0B-4454-986E-2AAED840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2143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020"/>
                </a:solidFill>
              </a:rPr>
              <a:t>目标与约束</a:t>
            </a:r>
          </a:p>
        </p:txBody>
      </p:sp>
      <p:sp>
        <p:nvSpPr>
          <p:cNvPr id="11" name="明确范围、依据&#10;和授权边界">
            <a:extLst xmlns:a="http://schemas.openxmlformats.org/drawingml/2006/main">
              <a:ext uri="{FF2B5EF4-FFF2-40B4-BE49-F238E27FC236}">
                <a16:creationId xmlns:a16="http://schemas.microsoft.com/office/drawing/2014/main" id="{F9231F94-E474-43FF-800E-0E2C7A48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21431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</a:rPr>
              <a:t>明确范围、依据
和授权边界</a:t>
            </a:r>
          </a:p>
        </p:txBody>
      </p:sp>
      <p:sp>
        <p:nvSpPr>
          <p:cNvPr id="12" name="产出与检查">
            <a:extLst xmlns:a="http://schemas.openxmlformats.org/drawingml/2006/main">
              <a:ext uri="{FF2B5EF4-FFF2-40B4-BE49-F238E27FC236}">
                <a16:creationId xmlns:a16="http://schemas.microsoft.com/office/drawing/2014/main" id="{9C5FFF06-67C9-4543-8CB1-4688F7D1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47950"/>
            <a:ext cx="2143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020"/>
                </a:solidFill>
              </a:rPr>
              <a:t>产出与检查</a:t>
            </a:r>
          </a:p>
        </p:txBody>
      </p:sp>
      <p:sp>
        <p:nvSpPr>
          <p:cNvPr id="13" name="形成草案、偏差&#10;和可比较方案">
            <a:extLst xmlns:a="http://schemas.openxmlformats.org/drawingml/2006/main">
              <a:ext uri="{FF2B5EF4-FFF2-40B4-BE49-F238E27FC236}">
                <a16:creationId xmlns:a16="http://schemas.microsoft.com/office/drawing/2014/main" id="{4B2B8206-EF7D-4C75-B884-982D0CA3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695700"/>
            <a:ext cx="21431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</a:rPr>
              <a:t>形成草案、偏差
和可比较方案</a:t>
            </a:r>
          </a:p>
        </p:txBody>
      </p:sp>
      <p:sp>
        <p:nvSpPr>
          <p:cNvPr id="14" name="关键决定">
            <a:extLst xmlns:a="http://schemas.openxmlformats.org/drawingml/2006/main">
              <a:ext uri="{FF2B5EF4-FFF2-40B4-BE49-F238E27FC236}">
                <a16:creationId xmlns:a16="http://schemas.microsoft.com/office/drawing/2014/main" id="{721CA368-7874-4B51-9E21-6F553231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2143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020"/>
                </a:solidFill>
              </a:rPr>
              <a:t>关键决定</a:t>
            </a:r>
          </a:p>
        </p:txBody>
      </p:sp>
      <p:sp>
        <p:nvSpPr>
          <p:cNvPr id="15" name="确认取舍、修改对象&#10;和接受条件">
            <a:extLst xmlns:a="http://schemas.openxmlformats.org/drawingml/2006/main">
              <a:ext uri="{FF2B5EF4-FFF2-40B4-BE49-F238E27FC236}">
                <a16:creationId xmlns:a16="http://schemas.microsoft.com/office/drawing/2014/main" id="{7EB41F94-C4A9-4666-87FE-B531F1CA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21431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</a:rPr>
              <a:t>确认取舍、修改对象
和接受条件</a:t>
            </a:r>
          </a:p>
        </p:txBody>
      </p:sp>
      <p:sp>
        <p:nvSpPr>
          <p:cNvPr id="16" name="执行与复验">
            <a:extLst xmlns:a="http://schemas.openxmlformats.org/drawingml/2006/main">
              <a:ext uri="{FF2B5EF4-FFF2-40B4-BE49-F238E27FC236}">
                <a16:creationId xmlns:a16="http://schemas.microsoft.com/office/drawing/2014/main" id="{74564709-A2D3-4D46-9E76-17224346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47950"/>
            <a:ext cx="2143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020"/>
                </a:solidFill>
              </a:rPr>
              <a:t>执行与复验</a:t>
            </a:r>
          </a:p>
        </p:txBody>
      </p:sp>
      <p:sp>
        <p:nvSpPr>
          <p:cNvPr id="17" name="形成新版本&#10;核验结果与限制">
            <a:extLst xmlns:a="http://schemas.openxmlformats.org/drawingml/2006/main">
              <a:ext uri="{FF2B5EF4-FFF2-40B4-BE49-F238E27FC236}">
                <a16:creationId xmlns:a16="http://schemas.microsoft.com/office/drawing/2014/main" id="{1CD80499-70E0-4A16-BDEF-8EB00AD4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95700"/>
            <a:ext cx="21431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</a:rPr>
              <a:t>形成新版本
核验结果与限制</a:t>
            </a:r>
          </a:p>
        </p:txBody>
      </p:sp>
      <p:sp>
        <p:nvSpPr>
          <p:cNvPr id="18" name="→">
            <a:extLst xmlns:a="http://schemas.openxmlformats.org/drawingml/2006/main">
              <a:ext uri="{FF2B5EF4-FFF2-40B4-BE49-F238E27FC236}">
                <a16:creationId xmlns:a16="http://schemas.microsoft.com/office/drawing/2014/main" id="{2CDBE297-322E-47A6-83CD-0861EB36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57500"/>
            <a:ext cx="6191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9" name="→">
            <a:extLst xmlns:a="http://schemas.openxmlformats.org/drawingml/2006/main">
              <a:ext uri="{FF2B5EF4-FFF2-40B4-BE49-F238E27FC236}">
                <a16:creationId xmlns:a16="http://schemas.microsoft.com/office/drawing/2014/main" id="{1F73AA80-95E9-412E-9E58-9CC81FC6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57500"/>
            <a:ext cx="6191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0" name="→">
            <a:extLst xmlns:a="http://schemas.openxmlformats.org/drawingml/2006/main">
              <a:ext uri="{FF2B5EF4-FFF2-40B4-BE49-F238E27FC236}">
                <a16:creationId xmlns:a16="http://schemas.microsoft.com/office/drawing/2014/main" id="{2586BB1C-7968-4C27-9351-E17060AD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6191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F558F-B3A7-4B17-8DB2-1BF3562C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</p:spPr>
      </p:sp>
      <p:sp>
        <p:nvSpPr>
          <p:cNvPr id="22" name="新问题或新证据出现后，回到最早受影响的目标、设计或实现环">
            <a:extLst xmlns:a="http://schemas.openxmlformats.org/drawingml/2006/main">
              <a:ext uri="{FF2B5EF4-FFF2-40B4-BE49-F238E27FC236}">
                <a16:creationId xmlns:a16="http://schemas.microsoft.com/office/drawing/2014/main" id="{89C96DFF-ADF4-4497-B6B9-ABC36E94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39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</a:rPr>
              <a:t>新问题或新证据出现后，回到最早受影响的目标、设计或实现环节。</a:t>
            </a:r>
          </a:p>
        </p:txBody>
      </p:sp>
    </p:spTree>
    <p:extLst>
      <p:ext uri="{BB962C8B-B14F-4D97-AF65-F5344CB8AC3E}">
        <p14:creationId xmlns:p14="http://schemas.microsoft.com/office/powerpoint/2010/main" val="2139897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协作场景 01 · 需求">
            <a:extLst xmlns:a="http://schemas.openxmlformats.org/drawingml/2006/main">
              <a:ext uri="{FF2B5EF4-FFF2-40B4-BE49-F238E27FC236}">
                <a16:creationId xmlns:a16="http://schemas.microsoft.com/office/drawing/2014/main" id="{D7A89C55-3EE0-4F5D-8AC9-4F318BD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04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协作场景 01 · 需求</a:t>
            </a:r>
          </a:p>
        </p:txBody>
      </p:sp>
      <p:sp>
        <p:nvSpPr>
          <p:cNvPr id="2" name="需求阶段：AI 查缺口，人确认要解决什么">
            <a:extLst xmlns:a="http://schemas.openxmlformats.org/drawingml/2006/main">
              <a:ext uri="{FF2B5EF4-FFF2-40B4-BE49-F238E27FC236}">
                <a16:creationId xmlns:a16="http://schemas.microsoft.com/office/drawing/2014/main" id="{96559AF3-2557-4866-8B20-9185B8F2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</a:rPr>
              <a:t>需求阶段：AI 查缺口，人确认要解决什么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44BE9-8B19-4038-AC98-B56BA31E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B"/>
          </a:solidFill>
        </p:spPr>
      </p:sp>
      <p:sp>
        <p:nvSpPr>
          <p:cNvPr id="4" name="人工智能参与软件工程">
            <a:extLst xmlns:a="http://schemas.openxmlformats.org/drawingml/2006/main">
              <a:ext uri="{FF2B5EF4-FFF2-40B4-BE49-F238E27FC236}">
                <a16:creationId xmlns:a16="http://schemas.microsoft.com/office/drawing/2014/main" id="{478DAD7E-D6AE-4884-A6F5-5630FD8F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人工智能参与软件工程</a:t>
            </a:r>
          </a:p>
        </p:txBody>
      </p:sp>
      <p:sp>
        <p:nvSpPr>
          <p:cNvPr id="5" name="07 / 14">
            <a:extLst xmlns:a="http://schemas.openxmlformats.org/drawingml/2006/main">
              <a:ext uri="{FF2B5EF4-FFF2-40B4-BE49-F238E27FC236}">
                <a16:creationId xmlns:a16="http://schemas.microsoft.com/office/drawing/2014/main" id="{32FCE5E2-7391-4477-BD9A-4CB76331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48425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07 / 14</a:t>
            </a:r>
          </a:p>
        </p:txBody>
      </p:sp>
      <p:sp>
        <p:nvSpPr>
          <p:cNvPr id="6" name="AI 的工作">
            <a:extLst xmlns:a="http://schemas.openxmlformats.org/drawingml/2006/main">
              <a:ext uri="{FF2B5EF4-FFF2-40B4-BE49-F238E27FC236}">
                <a16:creationId xmlns:a16="http://schemas.microsoft.com/office/drawing/2014/main" id="{1D8BAD3E-71A5-40DF-A5B9-02A2F0BF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AI 的工作</a:t>
            </a:r>
          </a:p>
        </p:txBody>
      </p:sp>
      <p:sp>
        <p:nvSpPr>
          <p:cNvPr id="7" name="人的工作">
            <a:extLst xmlns:a="http://schemas.openxmlformats.org/drawingml/2006/main">
              <a:ext uri="{FF2B5EF4-FFF2-40B4-BE49-F238E27FC236}">
                <a16:creationId xmlns:a16="http://schemas.microsoft.com/office/drawing/2014/main" id="{131FAD4B-5DA7-46CF-AE5E-90CB8FA0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BA48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4824"/>
                </a:solidFill>
              </a:rPr>
              <a:t>人的工作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5270C-1727-4191-AEC3-9F8CC74C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859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</p:spPr>
      </p:sp>
      <p:sp>
        <p:nvSpPr>
          <p:cNvPr id="9" name="还原契约">
            <a:extLst xmlns:a="http://schemas.openxmlformats.org/drawingml/2006/main">
              <a:ext uri="{FF2B5EF4-FFF2-40B4-BE49-F238E27FC236}">
                <a16:creationId xmlns:a16="http://schemas.microsoft.com/office/drawing/2014/main" id="{0BEFF578-C17A-4F0C-AD44-BEBBE643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还原契约</a:t>
            </a:r>
          </a:p>
        </p:txBody>
      </p:sp>
      <p:sp>
        <p:nvSpPr>
          <p:cNvPr id="10" name="提取触发、行为、异常、时间与判据。">
            <a:extLst xmlns:a="http://schemas.openxmlformats.org/drawingml/2006/main">
              <a:ext uri="{FF2B5EF4-FFF2-40B4-BE49-F238E27FC236}">
                <a16:creationId xmlns:a16="http://schemas.microsoft.com/office/drawing/2014/main" id="{16B58B44-FB84-40E2-BC10-1581CB9C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提取触发、行为、异常、时间与判据。</a:t>
            </a:r>
          </a:p>
        </p:txBody>
      </p:sp>
      <p:sp>
        <p:nvSpPr>
          <p:cNvPr id="11" name="识别依据缺口">
            <a:extLst xmlns:a="http://schemas.openxmlformats.org/drawingml/2006/main">
              <a:ext uri="{FF2B5EF4-FFF2-40B4-BE49-F238E27FC236}">
                <a16:creationId xmlns:a16="http://schemas.microsoft.com/office/drawing/2014/main" id="{F0FF499A-F94D-44CE-B96D-4D645EF7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识别依据缺口</a:t>
            </a:r>
          </a:p>
        </p:txBody>
      </p:sp>
      <p:sp>
        <p:nvSpPr>
          <p:cNvPr id="12" name="检查歧义、冲突、阈值来源和可行性证据。">
            <a:extLst xmlns:a="http://schemas.openxmlformats.org/drawingml/2006/main">
              <a:ext uri="{FF2B5EF4-FFF2-40B4-BE49-F238E27FC236}">
                <a16:creationId xmlns:a16="http://schemas.microsoft.com/office/drawing/2014/main" id="{907126AE-D75F-43D5-87B2-B63DA883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检查歧义、冲突、阈值来源和可行性证据。</a:t>
            </a:r>
          </a:p>
        </p:txBody>
      </p:sp>
      <p:sp>
        <p:nvSpPr>
          <p:cNvPr id="13" name="提出可回答的问题">
            <a:extLst xmlns:a="http://schemas.openxmlformats.org/drawingml/2006/main">
              <a:ext uri="{FF2B5EF4-FFF2-40B4-BE49-F238E27FC236}">
                <a16:creationId xmlns:a16="http://schemas.microsoft.com/office/drawing/2014/main" id="{98E2B704-B675-453C-B2BD-D65E57D3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提出可回答的问题</a:t>
            </a:r>
          </a:p>
        </p:txBody>
      </p:sp>
      <p:sp>
        <p:nvSpPr>
          <p:cNvPr id="14" name="用反例说明不同选择会导致什么结果。">
            <a:extLst xmlns:a="http://schemas.openxmlformats.org/drawingml/2006/main">
              <a:ext uri="{FF2B5EF4-FFF2-40B4-BE49-F238E27FC236}">
                <a16:creationId xmlns:a16="http://schemas.microsoft.com/office/drawing/2014/main" id="{25A3B747-D027-49EC-8C7E-8208230C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用反例说明不同选择会导致什么结果。</a:t>
            </a:r>
          </a:p>
        </p:txBody>
      </p:sp>
      <p:sp>
        <p:nvSpPr>
          <p:cNvPr id="15" name="确认任务意图">
            <a:extLst xmlns:a="http://schemas.openxmlformats.org/drawingml/2006/main">
              <a:ext uri="{FF2B5EF4-FFF2-40B4-BE49-F238E27FC236}">
                <a16:creationId xmlns:a16="http://schemas.microsoft.com/office/drawing/2014/main" id="{CD136D19-45F0-4AFC-91F3-7A252A60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确认任务意图</a:t>
            </a:r>
          </a:p>
        </p:txBody>
      </p:sp>
      <p:sp>
        <p:nvSpPr>
          <p:cNvPr id="16" name="决定需求价值、范围与优先级。">
            <a:extLst xmlns:a="http://schemas.openxmlformats.org/drawingml/2006/main">
              <a:ext uri="{FF2B5EF4-FFF2-40B4-BE49-F238E27FC236}">
                <a16:creationId xmlns:a16="http://schemas.microsoft.com/office/drawing/2014/main" id="{6EA3D23F-E4A6-41EA-8ED1-CF6AB6D7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051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决定需求价值、范围与优先级。</a:t>
            </a:r>
          </a:p>
        </p:txBody>
      </p:sp>
      <p:sp>
        <p:nvSpPr>
          <p:cNvPr id="17" name="确认领域约束">
            <a:extLst xmlns:a="http://schemas.openxmlformats.org/drawingml/2006/main">
              <a:ext uri="{FF2B5EF4-FFF2-40B4-BE49-F238E27FC236}">
                <a16:creationId xmlns:a16="http://schemas.microsoft.com/office/drawing/2014/main" id="{420C074A-A813-459A-A0C6-2D437566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确认领域约束</a:t>
            </a:r>
          </a:p>
        </p:txBody>
      </p:sp>
      <p:sp>
        <p:nvSpPr>
          <p:cNvPr id="18" name="提供预算、接口保证和故障策略依据。">
            <a:extLst xmlns:a="http://schemas.openxmlformats.org/drawingml/2006/main">
              <a:ext uri="{FF2B5EF4-FFF2-40B4-BE49-F238E27FC236}">
                <a16:creationId xmlns:a16="http://schemas.microsoft.com/office/drawing/2014/main" id="{1A189330-3B00-4EA1-9099-7C0549BD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576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提供预算、接口保证和故障策略依据。</a:t>
            </a:r>
          </a:p>
        </p:txBody>
      </p:sp>
      <p:sp>
        <p:nvSpPr>
          <p:cNvPr id="19" name="批准可实施的基线">
            <a:extLst xmlns:a="http://schemas.openxmlformats.org/drawingml/2006/main">
              <a:ext uri="{FF2B5EF4-FFF2-40B4-BE49-F238E27FC236}">
                <a16:creationId xmlns:a16="http://schemas.microsoft.com/office/drawing/2014/main" id="{CB7C3B62-BA2A-49E9-9A6F-69A9144D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批准可实施的基线</a:t>
            </a:r>
          </a:p>
        </p:txBody>
      </p:sp>
      <p:sp>
        <p:nvSpPr>
          <p:cNvPr id="20" name="将决定写入需求或受控引用。">
            <a:extLst xmlns:a="http://schemas.openxmlformats.org/drawingml/2006/main">
              <a:ext uri="{FF2B5EF4-FFF2-40B4-BE49-F238E27FC236}">
                <a16:creationId xmlns:a16="http://schemas.microsoft.com/office/drawing/2014/main" id="{917A32A4-0EEE-460B-BEFB-F64931CF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101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将决定写入需求或受控引用。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B2887-7C33-4846-8BB7-CA34E72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</p:spPr>
      </p:sp>
      <p:sp>
        <p:nvSpPr>
          <p:cNvPr id="22" name="案例起点：“通信超时后采取适当措施”——具体动作和触发条">
            <a:extLst xmlns:a="http://schemas.openxmlformats.org/drawingml/2006/main">
              <a:ext uri="{FF2B5EF4-FFF2-40B4-BE49-F238E27FC236}">
                <a16:creationId xmlns:a16="http://schemas.microsoft.com/office/drawing/2014/main" id="{34D4B641-EC7A-466F-A10F-AE25A853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39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</a:rPr>
              <a:t>案例起点：“通信超时后采取适当措施”——具体动作和触发条件仍待决定。</a:t>
            </a:r>
          </a:p>
        </p:txBody>
      </p:sp>
    </p:spTree>
    <p:extLst>
      <p:ext uri="{BB962C8B-B14F-4D97-AF65-F5344CB8AC3E}">
        <p14:creationId xmlns:p14="http://schemas.microsoft.com/office/powerpoint/2010/main" val="16910535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协作场景 02 · 设计与实现">
            <a:extLst xmlns:a="http://schemas.openxmlformats.org/drawingml/2006/main">
              <a:ext uri="{FF2B5EF4-FFF2-40B4-BE49-F238E27FC236}">
                <a16:creationId xmlns:a16="http://schemas.microsoft.com/office/drawing/2014/main" id="{1D7F732F-0FBC-42A9-9609-801C3E66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04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协作场景 02 · 设计与实现</a:t>
            </a:r>
          </a:p>
        </p:txBody>
      </p:sp>
      <p:sp>
        <p:nvSpPr>
          <p:cNvPr id="2" name="设计与编码阶段：AI 落实方案，人确认关键改变">
            <a:extLst xmlns:a="http://schemas.openxmlformats.org/drawingml/2006/main">
              <a:ext uri="{FF2B5EF4-FFF2-40B4-BE49-F238E27FC236}">
                <a16:creationId xmlns:a16="http://schemas.microsoft.com/office/drawing/2014/main" id="{350E54A2-F324-408A-84DE-EA4AC392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</a:rPr>
              <a:t>设计与编码阶段：AI 落实方案，人确认关键改变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B0002-7D5F-41C0-AC6B-A5D7E723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B"/>
          </a:solidFill>
        </p:spPr>
      </p:sp>
      <p:sp>
        <p:nvSpPr>
          <p:cNvPr id="4" name="人工智能参与软件工程">
            <a:extLst xmlns:a="http://schemas.openxmlformats.org/drawingml/2006/main">
              <a:ext uri="{FF2B5EF4-FFF2-40B4-BE49-F238E27FC236}">
                <a16:creationId xmlns:a16="http://schemas.microsoft.com/office/drawing/2014/main" id="{8A273C4A-7A3B-4150-91BA-0ABC78E4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人工智能参与软件工程</a:t>
            </a:r>
          </a:p>
        </p:txBody>
      </p:sp>
      <p:sp>
        <p:nvSpPr>
          <p:cNvPr id="5" name="08 / 14">
            <a:extLst xmlns:a="http://schemas.openxmlformats.org/drawingml/2006/main">
              <a:ext uri="{FF2B5EF4-FFF2-40B4-BE49-F238E27FC236}">
                <a16:creationId xmlns:a16="http://schemas.microsoft.com/office/drawing/2014/main" id="{FFABDC28-7627-4DB0-A63A-239C88B7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48425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08 / 14</a:t>
            </a:r>
          </a:p>
        </p:txBody>
      </p:sp>
      <p:sp>
        <p:nvSpPr>
          <p:cNvPr id="6" name="AI 的工作">
            <a:extLst xmlns:a="http://schemas.openxmlformats.org/drawingml/2006/main">
              <a:ext uri="{FF2B5EF4-FFF2-40B4-BE49-F238E27FC236}">
                <a16:creationId xmlns:a16="http://schemas.microsoft.com/office/drawing/2014/main" id="{EC45C3EF-16C0-46FB-B94D-364C3637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AI 的工作</a:t>
            </a:r>
          </a:p>
        </p:txBody>
      </p:sp>
      <p:sp>
        <p:nvSpPr>
          <p:cNvPr id="7" name="人的工作">
            <a:extLst xmlns:a="http://schemas.openxmlformats.org/drawingml/2006/main">
              <a:ext uri="{FF2B5EF4-FFF2-40B4-BE49-F238E27FC236}">
                <a16:creationId xmlns:a16="http://schemas.microsoft.com/office/drawing/2014/main" id="{EE4020C6-D070-4A8D-BD3C-EC7CDF7F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BA48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4824"/>
                </a:solidFill>
              </a:rPr>
              <a:t>人的工作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FD3FD-509B-4095-B034-A0480DDE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859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</p:spPr>
      </p:sp>
      <p:sp>
        <p:nvSpPr>
          <p:cNvPr id="9" name="生成候选设计与代码">
            <a:extLst xmlns:a="http://schemas.openxmlformats.org/drawingml/2006/main">
              <a:ext uri="{FF2B5EF4-FFF2-40B4-BE49-F238E27FC236}">
                <a16:creationId xmlns:a16="http://schemas.microsoft.com/office/drawing/2014/main" id="{BA8938A5-014A-4664-8639-8F8A3E9A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生成候选设计与代码</a:t>
            </a:r>
          </a:p>
        </p:txBody>
      </p:sp>
      <p:sp>
        <p:nvSpPr>
          <p:cNvPr id="10" name="写明接口、状态、异常和配置前提。">
            <a:extLst xmlns:a="http://schemas.openxmlformats.org/drawingml/2006/main">
              <a:ext uri="{FF2B5EF4-FFF2-40B4-BE49-F238E27FC236}">
                <a16:creationId xmlns:a16="http://schemas.microsoft.com/office/drawing/2014/main" id="{0942B95B-13CA-4B57-8506-F59B0DFF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写明接口、状态、异常和配置前提。</a:t>
            </a:r>
          </a:p>
        </p:txBody>
      </p:sp>
      <p:sp>
        <p:nvSpPr>
          <p:cNvPr id="11" name="检查两级一致性">
            <a:extLst xmlns:a="http://schemas.openxmlformats.org/drawingml/2006/main">
              <a:ext uri="{FF2B5EF4-FFF2-40B4-BE49-F238E27FC236}">
                <a16:creationId xmlns:a16="http://schemas.microsoft.com/office/drawing/2014/main" id="{D74B2CC4-5040-4C1F-863B-38D76FCE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检查两级一致性</a:t>
            </a:r>
          </a:p>
        </p:txBody>
      </p:sp>
      <p:sp>
        <p:nvSpPr>
          <p:cNvPr id="12" name="需求对应设计，设计对应实际代码与构建。">
            <a:extLst xmlns:a="http://schemas.openxmlformats.org/drawingml/2006/main">
              <a:ext uri="{FF2B5EF4-FFF2-40B4-BE49-F238E27FC236}">
                <a16:creationId xmlns:a16="http://schemas.microsoft.com/office/drawing/2014/main" id="{7748782D-28D2-4AD3-8606-70D4F541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需求对应设计，设计对应实际代码与构建。</a:t>
            </a:r>
          </a:p>
        </p:txBody>
      </p:sp>
      <p:sp>
        <p:nvSpPr>
          <p:cNvPr id="13" name="解释额外行为">
            <a:extLst xmlns:a="http://schemas.openxmlformats.org/drawingml/2006/main">
              <a:ext uri="{FF2B5EF4-FFF2-40B4-BE49-F238E27FC236}">
                <a16:creationId xmlns:a16="http://schemas.microsoft.com/office/drawing/2014/main" id="{E003EDA0-BE05-4178-B792-79D9AF97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解释额外行为</a:t>
            </a:r>
          </a:p>
        </p:txBody>
      </p:sp>
      <p:sp>
        <p:nvSpPr>
          <p:cNvPr id="14" name="识别新增约束、遗漏和无依据实现。">
            <a:extLst xmlns:a="http://schemas.openxmlformats.org/drawingml/2006/main">
              <a:ext uri="{FF2B5EF4-FFF2-40B4-BE49-F238E27FC236}">
                <a16:creationId xmlns:a16="http://schemas.microsoft.com/office/drawing/2014/main" id="{A1F32951-8195-4B68-9B83-85ED34F7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识别新增约束、遗漏和无依据实现。</a:t>
            </a:r>
          </a:p>
        </p:txBody>
      </p:sp>
      <p:sp>
        <p:nvSpPr>
          <p:cNvPr id="15" name="确认关键设计取舍">
            <a:extLst xmlns:a="http://schemas.openxmlformats.org/drawingml/2006/main">
              <a:ext uri="{FF2B5EF4-FFF2-40B4-BE49-F238E27FC236}">
                <a16:creationId xmlns:a16="http://schemas.microsoft.com/office/drawing/2014/main" id="{1C61C618-55B3-454B-80C1-0D50BF4B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确认关键设计取舍</a:t>
            </a:r>
          </a:p>
        </p:txBody>
      </p:sp>
      <p:sp>
        <p:nvSpPr>
          <p:cNvPr id="16" name="评估架构、资源、领域与接口影响。">
            <a:extLst xmlns:a="http://schemas.openxmlformats.org/drawingml/2006/main">
              <a:ext uri="{FF2B5EF4-FFF2-40B4-BE49-F238E27FC236}">
                <a16:creationId xmlns:a16="http://schemas.microsoft.com/office/drawing/2014/main" id="{F92330FA-2A8A-4CAE-B00B-D8F1B825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051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评估架构、资源、领域与接口影响。</a:t>
            </a:r>
          </a:p>
        </p:txBody>
      </p:sp>
      <p:sp>
        <p:nvSpPr>
          <p:cNvPr id="17" name="决定行为是否应改变">
            <a:extLst xmlns:a="http://schemas.openxmlformats.org/drawingml/2006/main">
              <a:ext uri="{FF2B5EF4-FFF2-40B4-BE49-F238E27FC236}">
                <a16:creationId xmlns:a16="http://schemas.microsoft.com/office/drawing/2014/main" id="{4A2AE0BE-4543-4827-BB3E-4624B17D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决定行为是否应改变</a:t>
            </a:r>
          </a:p>
        </p:txBody>
      </p:sp>
      <p:sp>
        <p:nvSpPr>
          <p:cNvPr id="18" name="新增策略或约束需有上游依据。">
            <a:extLst xmlns:a="http://schemas.openxmlformats.org/drawingml/2006/main">
              <a:ext uri="{FF2B5EF4-FFF2-40B4-BE49-F238E27FC236}">
                <a16:creationId xmlns:a16="http://schemas.microsoft.com/office/drawing/2014/main" id="{DD51E4FA-7B91-415C-8275-FD881268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576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新增策略或约束需有上游依据。</a:t>
            </a:r>
          </a:p>
        </p:txBody>
      </p:sp>
      <p:sp>
        <p:nvSpPr>
          <p:cNvPr id="19" name="确定修订对象">
            <a:extLst xmlns:a="http://schemas.openxmlformats.org/drawingml/2006/main">
              <a:ext uri="{FF2B5EF4-FFF2-40B4-BE49-F238E27FC236}">
                <a16:creationId xmlns:a16="http://schemas.microsoft.com/office/drawing/2014/main" id="{EE790B15-FAAD-4A64-95F9-83B23C70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确定修订对象</a:t>
            </a:r>
          </a:p>
        </p:txBody>
      </p:sp>
      <p:sp>
        <p:nvSpPr>
          <p:cNvPr id="20" name="根据证据选择修需求、设计或实现。">
            <a:extLst xmlns:a="http://schemas.openxmlformats.org/drawingml/2006/main">
              <a:ext uri="{FF2B5EF4-FFF2-40B4-BE49-F238E27FC236}">
                <a16:creationId xmlns:a16="http://schemas.microsoft.com/office/drawing/2014/main" id="{FFB8D908-DB3E-47B0-845D-39B73D0B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101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根据证据选择修需求、设计或实现。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1C099-5089-4343-84F9-47637C52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</p:spPr>
      </p:sp>
      <p:sp>
        <p:nvSpPr>
          <p:cNvPr id="22" name="案例推进：若代码超时后只写日志，AI 应对照获准策略指出">
            <a:extLst xmlns:a="http://schemas.openxmlformats.org/drawingml/2006/main">
              <a:ext uri="{FF2B5EF4-FFF2-40B4-BE49-F238E27FC236}">
                <a16:creationId xmlns:a16="http://schemas.microsoft.com/office/drawing/2014/main" id="{52EDADC2-86AB-4BA8-81E5-E93D9853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39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</a:rPr>
              <a:t>案例推进：若代码超时后只写日志，AI 应对照获准策略指出行为差异。</a:t>
            </a:r>
          </a:p>
        </p:txBody>
      </p:sp>
    </p:spTree>
    <p:extLst>
      <p:ext uri="{BB962C8B-B14F-4D97-AF65-F5344CB8AC3E}">
        <p14:creationId xmlns:p14="http://schemas.microsoft.com/office/powerpoint/2010/main" val="2097103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协作场景 03 · 验证">
            <a:extLst xmlns:a="http://schemas.openxmlformats.org/drawingml/2006/main">
              <a:ext uri="{FF2B5EF4-FFF2-40B4-BE49-F238E27FC236}">
                <a16:creationId xmlns:a16="http://schemas.microsoft.com/office/drawing/2014/main" id="{785CF6F7-5D77-4A39-B8AF-736285D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04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协作场景 03 · 验证</a:t>
            </a:r>
          </a:p>
        </p:txBody>
      </p:sp>
      <p:sp>
        <p:nvSpPr>
          <p:cNvPr id="2" name="测试阶段：AI 形成证据，人判断是否充分">
            <a:extLst xmlns:a="http://schemas.openxmlformats.org/drawingml/2006/main">
              <a:ext uri="{FF2B5EF4-FFF2-40B4-BE49-F238E27FC236}">
                <a16:creationId xmlns:a16="http://schemas.microsoft.com/office/drawing/2014/main" id="{B95597AA-2229-4969-B51C-B84429EE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</a:rPr>
              <a:t>测试阶段：AI 形成证据，人判断是否充分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DDEED-4E11-4A35-8212-5897859D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B"/>
          </a:solidFill>
        </p:spPr>
      </p:sp>
      <p:sp>
        <p:nvSpPr>
          <p:cNvPr id="4" name="人工智能参与软件工程">
            <a:extLst xmlns:a="http://schemas.openxmlformats.org/drawingml/2006/main">
              <a:ext uri="{FF2B5EF4-FFF2-40B4-BE49-F238E27FC236}">
                <a16:creationId xmlns:a16="http://schemas.microsoft.com/office/drawing/2014/main" id="{C658A770-11DF-458B-AE69-F47AF594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人工智能参与软件工程</a:t>
            </a:r>
          </a:p>
        </p:txBody>
      </p:sp>
      <p:sp>
        <p:nvSpPr>
          <p:cNvPr id="5" name="09 / 14">
            <a:extLst xmlns:a="http://schemas.openxmlformats.org/drawingml/2006/main">
              <a:ext uri="{FF2B5EF4-FFF2-40B4-BE49-F238E27FC236}">
                <a16:creationId xmlns:a16="http://schemas.microsoft.com/office/drawing/2014/main" id="{F6A1D51A-B2B2-4481-83F3-11096E01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48425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09 / 14</a:t>
            </a:r>
          </a:p>
        </p:txBody>
      </p:sp>
      <p:sp>
        <p:nvSpPr>
          <p:cNvPr id="6" name="AI 的工作">
            <a:extLst xmlns:a="http://schemas.openxmlformats.org/drawingml/2006/main">
              <a:ext uri="{FF2B5EF4-FFF2-40B4-BE49-F238E27FC236}">
                <a16:creationId xmlns:a16="http://schemas.microsoft.com/office/drawing/2014/main" id="{834DEAE8-84DB-45B9-90F6-9F82BB3E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AI 的工作</a:t>
            </a:r>
          </a:p>
        </p:txBody>
      </p:sp>
      <p:sp>
        <p:nvSpPr>
          <p:cNvPr id="7" name="人的工作">
            <a:extLst xmlns:a="http://schemas.openxmlformats.org/drawingml/2006/main">
              <a:ext uri="{FF2B5EF4-FFF2-40B4-BE49-F238E27FC236}">
                <a16:creationId xmlns:a16="http://schemas.microsoft.com/office/drawing/2014/main" id="{6E0D3FAB-C3B9-4A04-8F0B-E14366A2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BA48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4824"/>
                </a:solidFill>
              </a:rPr>
              <a:t>人的工作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B46B0-B9AD-4007-A993-0EE9805D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859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</p:spPr>
      </p:sp>
      <p:sp>
        <p:nvSpPr>
          <p:cNvPr id="9" name="设计测试与反例">
            <a:extLst xmlns:a="http://schemas.openxmlformats.org/drawingml/2006/main">
              <a:ext uri="{FF2B5EF4-FFF2-40B4-BE49-F238E27FC236}">
                <a16:creationId xmlns:a16="http://schemas.microsoft.com/office/drawing/2014/main" id="{834DF1C5-41C3-4375-B2F1-70715E80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设计测试与反例</a:t>
            </a:r>
          </a:p>
        </p:txBody>
      </p:sp>
      <p:sp>
        <p:nvSpPr>
          <p:cNvPr id="10" name="从需求和设计获得预期，覆盖边界与异常。">
            <a:extLst xmlns:a="http://schemas.openxmlformats.org/drawingml/2006/main">
              <a:ext uri="{FF2B5EF4-FFF2-40B4-BE49-F238E27FC236}">
                <a16:creationId xmlns:a16="http://schemas.microsoft.com/office/drawing/2014/main" id="{75E64995-07A7-4DBA-8146-2F015331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从需求和设计获得预期，覆盖边界与异常。</a:t>
            </a:r>
          </a:p>
        </p:txBody>
      </p:sp>
      <p:sp>
        <p:nvSpPr>
          <p:cNvPr id="11" name="执行获准活动">
            <a:extLst xmlns:a="http://schemas.openxmlformats.org/drawingml/2006/main">
              <a:ext uri="{FF2B5EF4-FFF2-40B4-BE49-F238E27FC236}">
                <a16:creationId xmlns:a16="http://schemas.microsoft.com/office/drawing/2014/main" id="{A12BD70A-2D5B-4F3D-9776-7D91B12D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执行获准活动</a:t>
            </a:r>
          </a:p>
        </p:txBody>
      </p:sp>
      <p:sp>
        <p:nvSpPr>
          <p:cNvPr id="12" name="固定用例、配置、构建和采集记录。">
            <a:extLst xmlns:a="http://schemas.openxmlformats.org/drawingml/2006/main">
              <a:ext uri="{FF2B5EF4-FFF2-40B4-BE49-F238E27FC236}">
                <a16:creationId xmlns:a16="http://schemas.microsoft.com/office/drawing/2014/main" id="{BA5755C3-EA27-439F-9A31-A5369CFD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固定用例、配置、构建和采集记录。</a:t>
            </a:r>
          </a:p>
        </p:txBody>
      </p:sp>
      <p:sp>
        <p:nvSpPr>
          <p:cNvPr id="13" name="分析结果与限制">
            <a:extLst xmlns:a="http://schemas.openxmlformats.org/drawingml/2006/main">
              <a:ext uri="{FF2B5EF4-FFF2-40B4-BE49-F238E27FC236}">
                <a16:creationId xmlns:a16="http://schemas.microsoft.com/office/drawing/2014/main" id="{F0964037-11B7-4BA9-8067-DECF14FA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分析结果与限制</a:t>
            </a:r>
          </a:p>
        </p:txBody>
      </p:sp>
      <p:sp>
        <p:nvSpPr>
          <p:cNvPr id="14" name="区分产品失败、测试问题和环境问题。">
            <a:extLst xmlns:a="http://schemas.openxmlformats.org/drawingml/2006/main">
              <a:ext uri="{FF2B5EF4-FFF2-40B4-BE49-F238E27FC236}">
                <a16:creationId xmlns:a16="http://schemas.microsoft.com/office/drawing/2014/main" id="{9636C6B9-7ED5-4E4E-8021-4D9E11A1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区分产品失败、测试问题和环境问题。</a:t>
            </a:r>
          </a:p>
        </p:txBody>
      </p:sp>
      <p:sp>
        <p:nvSpPr>
          <p:cNvPr id="15" name="确认验证依据">
            <a:extLst xmlns:a="http://schemas.openxmlformats.org/drawingml/2006/main">
              <a:ext uri="{FF2B5EF4-FFF2-40B4-BE49-F238E27FC236}">
                <a16:creationId xmlns:a16="http://schemas.microsoft.com/office/drawing/2014/main" id="{CE551628-6451-40BA-A9E2-3ACAA889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确认验证依据</a:t>
            </a:r>
          </a:p>
        </p:txBody>
      </p:sp>
      <p:sp>
        <p:nvSpPr>
          <p:cNvPr id="16" name="审查判据来源、容差与参考模型适用性。">
            <a:extLst xmlns:a="http://schemas.openxmlformats.org/drawingml/2006/main">
              <a:ext uri="{FF2B5EF4-FFF2-40B4-BE49-F238E27FC236}">
                <a16:creationId xmlns:a16="http://schemas.microsoft.com/office/drawing/2014/main" id="{8F05684F-6DDB-4630-9C6B-89A8B687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051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审查判据来源、容差与参考模型适用性。</a:t>
            </a:r>
          </a:p>
        </p:txBody>
      </p:sp>
      <p:sp>
        <p:nvSpPr>
          <p:cNvPr id="17" name="确认关键试验条件">
            <a:extLst xmlns:a="http://schemas.openxmlformats.org/drawingml/2006/main">
              <a:ext uri="{FF2B5EF4-FFF2-40B4-BE49-F238E27FC236}">
                <a16:creationId xmlns:a16="http://schemas.microsoft.com/office/drawing/2014/main" id="{55E4343E-ED88-4E4C-9B4E-4D963336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确认关键试验条件</a:t>
            </a:r>
          </a:p>
        </p:txBody>
      </p:sp>
      <p:sp>
        <p:nvSpPr>
          <p:cNvPr id="18" name="明确目标环境、操作权限和中止条件。">
            <a:extLst xmlns:a="http://schemas.openxmlformats.org/drawingml/2006/main">
              <a:ext uri="{FF2B5EF4-FFF2-40B4-BE49-F238E27FC236}">
                <a16:creationId xmlns:a16="http://schemas.microsoft.com/office/drawing/2014/main" id="{C908BCB4-B67D-49DA-89F9-3DEC825C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576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明确目标环境、操作权限和中止条件。</a:t>
            </a:r>
          </a:p>
        </p:txBody>
      </p:sp>
      <p:sp>
        <p:nvSpPr>
          <p:cNvPr id="19" name="判断阶段能否继续">
            <a:extLst xmlns:a="http://schemas.openxmlformats.org/drawingml/2006/main">
              <a:ext uri="{FF2B5EF4-FFF2-40B4-BE49-F238E27FC236}">
                <a16:creationId xmlns:a16="http://schemas.microsoft.com/office/drawing/2014/main" id="{5B844345-353C-44FA-8AA5-080424A5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020"/>
                </a:solidFill>
              </a:rPr>
              <a:t>判断阶段能否继续</a:t>
            </a:r>
          </a:p>
        </p:txBody>
      </p:sp>
      <p:sp>
        <p:nvSpPr>
          <p:cNvPr id="20" name="结合未覆盖义务和残余问题形成决定。">
            <a:extLst xmlns:a="http://schemas.openxmlformats.org/drawingml/2006/main">
              <a:ext uri="{FF2B5EF4-FFF2-40B4-BE49-F238E27FC236}">
                <a16:creationId xmlns:a16="http://schemas.microsoft.com/office/drawing/2014/main" id="{ADB0D355-A9B8-4EEE-9CFF-E3F9C03F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10125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结合未覆盖义务和残余问题形成决定。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AA886F-AB7A-4356-8992-192BECAE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</p:spPr>
      </p:sp>
      <p:sp>
        <p:nvSpPr>
          <p:cNvPr id="22" name="案例验证：覆盖超时边界、恢复过程和故障组合，并核对真实处">
            <a:extLst xmlns:a="http://schemas.openxmlformats.org/drawingml/2006/main">
              <a:ext uri="{FF2B5EF4-FFF2-40B4-BE49-F238E27FC236}">
                <a16:creationId xmlns:a16="http://schemas.microsoft.com/office/drawing/2014/main" id="{1979E70F-1425-4D5B-8284-EBAF3032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39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</a:rPr>
              <a:t>案例验证：覆盖超时边界、恢复过程和故障组合，并核对真实处置结果。</a:t>
            </a:r>
          </a:p>
        </p:txBody>
      </p:sp>
    </p:spTree>
    <p:extLst>
      <p:ext uri="{BB962C8B-B14F-4D97-AF65-F5344CB8AC3E}">
        <p14:creationId xmlns:p14="http://schemas.microsoft.com/office/powerpoint/2010/main" val="5350688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如何提高产出可信度">
            <a:extLst xmlns:a="http://schemas.openxmlformats.org/drawingml/2006/main">
              <a:ext uri="{FF2B5EF4-FFF2-40B4-BE49-F238E27FC236}">
                <a16:creationId xmlns:a16="http://schemas.microsoft.com/office/drawing/2014/main" id="{7493CE79-3DB4-4AD9-A39C-93877860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04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如何提高产出可信度</a:t>
            </a:r>
          </a:p>
        </p:txBody>
      </p:sp>
      <p:sp>
        <p:nvSpPr>
          <p:cNvPr id="2" name="检查链必须能发现 AI 与人共同遗漏的问题">
            <a:extLst xmlns:a="http://schemas.openxmlformats.org/drawingml/2006/main">
              <a:ext uri="{FF2B5EF4-FFF2-40B4-BE49-F238E27FC236}">
                <a16:creationId xmlns:a16="http://schemas.microsoft.com/office/drawing/2014/main" id="{5D045817-4C2B-48C7-B821-D9CABEAB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</a:rPr>
              <a:t>检查链必须能发现 AI 与人共同遗漏的问题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583DE-BA39-4403-9FF0-7E01EBAC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B"/>
          </a:solidFill>
        </p:spPr>
      </p:sp>
      <p:sp>
        <p:nvSpPr>
          <p:cNvPr id="4" name="人工智能参与软件工程">
            <a:extLst xmlns:a="http://schemas.openxmlformats.org/drawingml/2006/main">
              <a:ext uri="{FF2B5EF4-FFF2-40B4-BE49-F238E27FC236}">
                <a16:creationId xmlns:a16="http://schemas.microsoft.com/office/drawing/2014/main" id="{9D330212-2B48-46A5-BDE4-EF10C0A2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人工智能参与软件工程</a:t>
            </a:r>
          </a:p>
        </p:txBody>
      </p:sp>
      <p:sp>
        <p:nvSpPr>
          <p:cNvPr id="5" name="10 / 14">
            <a:extLst xmlns:a="http://schemas.openxmlformats.org/drawingml/2006/main">
              <a:ext uri="{FF2B5EF4-FFF2-40B4-BE49-F238E27FC236}">
                <a16:creationId xmlns:a16="http://schemas.microsoft.com/office/drawing/2014/main" id="{2D41C3A0-66DA-4B3C-8165-B461EDEF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48425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10 / 14</a:t>
            </a:r>
          </a:p>
        </p:txBody>
      </p:sp>
      <p:sp>
        <p:nvSpPr>
          <p:cNvPr id="6" name="双向追溯">
            <a:extLst xmlns:a="http://schemas.openxmlformats.org/drawingml/2006/main">
              <a:ext uri="{FF2B5EF4-FFF2-40B4-BE49-F238E27FC236}">
                <a16:creationId xmlns:a16="http://schemas.microsoft.com/office/drawing/2014/main" id="{9D71B146-7EA5-4314-84A9-2B8B6D64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双向追溯</a:t>
            </a:r>
          </a:p>
        </p:txBody>
      </p:sp>
      <p:sp>
        <p:nvSpPr>
          <p:cNvPr id="7" name="逐项核对语义与配置，找到未落实义务和没有来源的行为。">
            <a:extLst xmlns:a="http://schemas.openxmlformats.org/drawingml/2006/main">
              <a:ext uri="{FF2B5EF4-FFF2-40B4-BE49-F238E27FC236}">
                <a16:creationId xmlns:a16="http://schemas.microsoft.com/office/drawing/2014/main" id="{BC3AC2A8-9702-4982-B6D5-65A39D05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526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逐项核对语义与配置，找到未落实义务和没有来源的行为。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53DB5-1ACE-445D-AF1E-D907A63E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9" name="独立预期与反例">
            <a:extLst xmlns:a="http://schemas.openxmlformats.org/drawingml/2006/main">
              <a:ext uri="{FF2B5EF4-FFF2-40B4-BE49-F238E27FC236}">
                <a16:creationId xmlns:a16="http://schemas.microsoft.com/office/drawing/2014/main" id="{00B0430B-5FDF-41A2-A1EA-FA895686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独立预期与反例</a:t>
            </a:r>
          </a:p>
        </p:txBody>
      </p:sp>
      <p:sp>
        <p:nvSpPr>
          <p:cNvPr id="10" name="由明确契约或独立推导得到预期，用边界和异常暴露差异。">
            <a:extLst xmlns:a="http://schemas.openxmlformats.org/drawingml/2006/main">
              <a:ext uri="{FF2B5EF4-FFF2-40B4-BE49-F238E27FC236}">
                <a16:creationId xmlns:a16="http://schemas.microsoft.com/office/drawing/2014/main" id="{49721EE4-756B-4271-9147-0860B0C5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575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由明确契约或独立推导得到预期，用边界和异常暴露差异。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B71E5-2B60-43D2-B4B6-2B516903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0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2" name="运行与专业证据">
            <a:extLst xmlns:a="http://schemas.openxmlformats.org/drawingml/2006/main">
              <a:ext uri="{FF2B5EF4-FFF2-40B4-BE49-F238E27FC236}">
                <a16:creationId xmlns:a16="http://schemas.microsoft.com/office/drawing/2014/main" id="{BF64AD6B-DC9C-4A22-AD72-0C6597FB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24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运行与专业证据</a:t>
            </a:r>
          </a:p>
        </p:txBody>
      </p:sp>
      <p:sp>
        <p:nvSpPr>
          <p:cNvPr id="13" name="对依赖平台、模型和时序的主张，取得相应环境与分析证据。">
            <a:extLst xmlns:a="http://schemas.openxmlformats.org/drawingml/2006/main">
              <a:ext uri="{FF2B5EF4-FFF2-40B4-BE49-F238E27FC236}">
                <a16:creationId xmlns:a16="http://schemas.microsoft.com/office/drawing/2014/main" id="{37875FB3-66CB-4FA7-87E3-B0A6888A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624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对依赖平台、模型和时序的主张，取得相应环境与分析证据。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685E5-5C4A-436C-B0D1-1B22614D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1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DE30F-99E9-4E41-A93F-7B08F245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</p:spPr>
      </p:sp>
      <p:sp>
        <p:nvSpPr>
          <p:cNvPr id="16" name="自查可以发现问题；需要独立审查时，应安排符合项目要求的审">
            <a:extLst xmlns:a="http://schemas.openxmlformats.org/drawingml/2006/main">
              <a:ext uri="{FF2B5EF4-FFF2-40B4-BE49-F238E27FC236}">
                <a16:creationId xmlns:a16="http://schemas.microsoft.com/office/drawing/2014/main" id="{139E19E9-2BA8-4D39-928E-0A1F1617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39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</a:rPr>
              <a:t>自查可以发现问题；需要独立审查时，应安排符合项目要求的审查者。</a:t>
            </a:r>
          </a:p>
        </p:txBody>
      </p:sp>
    </p:spTree>
    <p:extLst>
      <p:ext uri="{BB962C8B-B14F-4D97-AF65-F5344CB8AC3E}">
        <p14:creationId xmlns:p14="http://schemas.microsoft.com/office/powerpoint/2010/main" val="15766368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何时继续，何时交给人">
            <a:extLst xmlns:a="http://schemas.openxmlformats.org/drawingml/2006/main">
              <a:ext uri="{FF2B5EF4-FFF2-40B4-BE49-F238E27FC236}">
                <a16:creationId xmlns:a16="http://schemas.microsoft.com/office/drawing/2014/main" id="{FC147AD1-B8DC-4822-8B25-6751AA5B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04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何时继续，何时交给人</a:t>
            </a:r>
          </a:p>
        </p:txBody>
      </p:sp>
      <p:sp>
        <p:nvSpPr>
          <p:cNvPr id="2" name="把需要人判断的问题整理成可决策材料">
            <a:extLst xmlns:a="http://schemas.openxmlformats.org/drawingml/2006/main">
              <a:ext uri="{FF2B5EF4-FFF2-40B4-BE49-F238E27FC236}">
                <a16:creationId xmlns:a16="http://schemas.microsoft.com/office/drawing/2014/main" id="{E366F1BD-F9E9-4C4E-94C4-4251694A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</a:rPr>
              <a:t>把需要人判断的问题整理成可决策材料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0993E-5681-43BD-B67C-BB47CCA9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B"/>
          </a:solidFill>
        </p:spPr>
      </p:sp>
      <p:sp>
        <p:nvSpPr>
          <p:cNvPr id="4" name="人工智能参与软件工程">
            <a:extLst xmlns:a="http://schemas.openxmlformats.org/drawingml/2006/main">
              <a:ext uri="{FF2B5EF4-FFF2-40B4-BE49-F238E27FC236}">
                <a16:creationId xmlns:a16="http://schemas.microsoft.com/office/drawing/2014/main" id="{40D6C432-AF13-4363-A482-2B2D1844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人工智能参与软件工程</a:t>
            </a:r>
          </a:p>
        </p:txBody>
      </p:sp>
      <p:sp>
        <p:nvSpPr>
          <p:cNvPr id="5" name="11 / 14">
            <a:extLst xmlns:a="http://schemas.openxmlformats.org/drawingml/2006/main">
              <a:ext uri="{FF2B5EF4-FFF2-40B4-BE49-F238E27FC236}">
                <a16:creationId xmlns:a16="http://schemas.microsoft.com/office/drawing/2014/main" id="{F19C0FBD-34B9-4405-862E-DBD62270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48425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11 / 14</a:t>
            </a:r>
          </a:p>
        </p:txBody>
      </p:sp>
      <p:sp>
        <p:nvSpPr>
          <p:cNvPr id="6" name="AI 可以继续">
            <a:extLst xmlns:a="http://schemas.openxmlformats.org/drawingml/2006/main">
              <a:ext uri="{FF2B5EF4-FFF2-40B4-BE49-F238E27FC236}">
                <a16:creationId xmlns:a16="http://schemas.microsoft.com/office/drawing/2014/main" id="{EC3C3865-F617-4363-B516-7765CEC7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6425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AI 可以继续</a:t>
            </a:r>
          </a:p>
        </p:txBody>
      </p:sp>
      <p:sp>
        <p:nvSpPr>
          <p:cNvPr id="7" name="需要人的新决定">
            <a:extLst xmlns:a="http://schemas.openxmlformats.org/drawingml/2006/main">
              <a:ext uri="{FF2B5EF4-FFF2-40B4-BE49-F238E27FC236}">
                <a16:creationId xmlns:a16="http://schemas.microsoft.com/office/drawing/2014/main" id="{95274BB2-5E53-4C71-B964-EFE048E8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76425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BA48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4824"/>
                </a:solidFill>
              </a:rPr>
              <a:t>需要人的新决定</a:t>
            </a:r>
          </a:p>
        </p:txBody>
      </p:sp>
      <p:sp>
        <p:nvSpPr>
          <p:cNvPr id="8" name="依据、判据和权限已经明确&#10;活动处于约定范围内&#10;结果能复核">
            <a:extLst xmlns:a="http://schemas.openxmlformats.org/drawingml/2006/main">
              <a:ext uri="{FF2B5EF4-FFF2-40B4-BE49-F238E27FC236}">
                <a16:creationId xmlns:a16="http://schemas.microsoft.com/office/drawing/2014/main" id="{BD17D35B-459A-484F-A4D2-D1048753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5143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</a:rPr>
              <a:t>依据、判据和权限已经明确
活动处于约定范围内
结果能复核，变更可追踪</a:t>
            </a:r>
          </a:p>
        </p:txBody>
      </p:sp>
      <p:sp>
        <p:nvSpPr>
          <p:cNvPr id="9" name="目标或约束相互冲突&#10;新增或改变已批准的行为&#10;关键未知影响">
            <a:extLst xmlns:a="http://schemas.openxmlformats.org/drawingml/2006/main">
              <a:ext uri="{FF2B5EF4-FFF2-40B4-BE49-F238E27FC236}">
                <a16:creationId xmlns:a16="http://schemas.microsoft.com/office/drawing/2014/main" id="{5065A9A5-A301-447F-BA66-5E1373DD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05075"/>
            <a:ext cx="5143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</a:rPr>
              <a:t>目标或约束相互冲突
新增或改变已批准的行为
关键未知影响可行性或风险取舍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7FFBA-A893-4F14-8D30-A67BE6DF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sp>
        <p:nvSpPr>
          <p:cNvPr id="11" name="决策材料">
            <a:extLst xmlns:a="http://schemas.openxmlformats.org/drawingml/2006/main">
              <a:ext uri="{FF2B5EF4-FFF2-40B4-BE49-F238E27FC236}">
                <a16:creationId xmlns:a16="http://schemas.microsoft.com/office/drawing/2014/main" id="{1164FE57-46B9-4DA5-99AA-B2E2AD7E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2000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020"/>
                </a:solidFill>
              </a:rPr>
              <a:t>决策材料</a:t>
            </a:r>
          </a:p>
        </p:txBody>
      </p:sp>
      <p:sp>
        <p:nvSpPr>
          <p:cNvPr id="12" name="问题与证据 → 候选方案 → 影响与代价 → AI 建议">
            <a:extLst xmlns:a="http://schemas.openxmlformats.org/drawingml/2006/main">
              <a:ext uri="{FF2B5EF4-FFF2-40B4-BE49-F238E27FC236}">
                <a16:creationId xmlns:a16="http://schemas.microsoft.com/office/drawing/2014/main" id="{23B23744-CDE6-4612-ADC4-8931E640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9625"/>
            <a:ext cx="90678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问题与证据 → 候选方案 → 影响与代价 → AI 建议 → 未知与验证计划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432D7-BE0D-449C-9A98-6F1A4C0B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</p:spPr>
      </p:sp>
      <p:sp>
        <p:nvSpPr>
          <p:cNvPr id="14" name="人的答复应明确选择、责任与范围，并落实到受控工件。">
            <a:extLst xmlns:a="http://schemas.openxmlformats.org/drawingml/2006/main">
              <a:ext uri="{FF2B5EF4-FFF2-40B4-BE49-F238E27FC236}">
                <a16:creationId xmlns:a16="http://schemas.microsoft.com/office/drawing/2014/main" id="{5C8B91B9-2537-4E61-9AA0-609092AD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39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</a:rPr>
              <a:t>人的答复应明确选择、责任与范围，并落实到受控工件。</a:t>
            </a:r>
          </a:p>
        </p:txBody>
      </p:sp>
    </p:spTree>
    <p:extLst>
      <p:ext uri="{BB962C8B-B14F-4D97-AF65-F5344CB8AC3E}">
        <p14:creationId xmlns:p14="http://schemas.microsoft.com/office/powerpoint/2010/main" val="1776737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示例 · 展示方法，不代表实测结果">
            <a:extLst xmlns:a="http://schemas.openxmlformats.org/drawingml/2006/main">
              <a:ext uri="{FF2B5EF4-FFF2-40B4-BE49-F238E27FC236}">
                <a16:creationId xmlns:a16="http://schemas.microsoft.com/office/drawing/2014/main" id="{D964B038-F44A-40F3-981C-4D0AA782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04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示例 · 展示方法，不代表实测结果</a:t>
            </a:r>
          </a:p>
        </p:txBody>
      </p:sp>
      <p:sp>
        <p:nvSpPr>
          <p:cNvPr id="2" name="超时处置案例展示一次完整的人机协作">
            <a:extLst xmlns:a="http://schemas.openxmlformats.org/drawingml/2006/main">
              <a:ext uri="{FF2B5EF4-FFF2-40B4-BE49-F238E27FC236}">
                <a16:creationId xmlns:a16="http://schemas.microsoft.com/office/drawing/2014/main" id="{B2028410-CCB5-4643-BB0D-7CEE287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</a:rPr>
              <a:t>超时处置案例展示一次完整的人机协作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C0A47-139D-4A2E-B40A-4C7C21DE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B"/>
          </a:solidFill>
        </p:spPr>
      </p:sp>
      <p:sp>
        <p:nvSpPr>
          <p:cNvPr id="4" name="人工智能参与软件工程">
            <a:extLst xmlns:a="http://schemas.openxmlformats.org/drawingml/2006/main">
              <a:ext uri="{FF2B5EF4-FFF2-40B4-BE49-F238E27FC236}">
                <a16:creationId xmlns:a16="http://schemas.microsoft.com/office/drawing/2014/main" id="{E3CFC7E0-484B-488B-90C8-E53FED9F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人工智能参与软件工程</a:t>
            </a:r>
          </a:p>
        </p:txBody>
      </p:sp>
      <p:sp>
        <p:nvSpPr>
          <p:cNvPr id="5" name="12 / 14">
            <a:extLst xmlns:a="http://schemas.openxmlformats.org/drawingml/2006/main">
              <a:ext uri="{FF2B5EF4-FFF2-40B4-BE49-F238E27FC236}">
                <a16:creationId xmlns:a16="http://schemas.microsoft.com/office/drawing/2014/main" id="{7515F96C-54A8-48A6-A080-736E2797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48425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12 / 14</a:t>
            </a:r>
          </a:p>
        </p:txBody>
      </p:sp>
      <p:sp>
        <p:nvSpPr>
          <p:cNvPr id="6" name="AI 发现缺口">
            <a:extLst xmlns:a="http://schemas.openxmlformats.org/drawingml/2006/main">
              <a:ext uri="{FF2B5EF4-FFF2-40B4-BE49-F238E27FC236}">
                <a16:creationId xmlns:a16="http://schemas.microsoft.com/office/drawing/2014/main" id="{102D46BD-14C5-49E9-A48D-F19C3D1B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295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AI 发现缺口</a:t>
            </a:r>
          </a:p>
        </p:txBody>
      </p:sp>
      <p:sp>
        <p:nvSpPr>
          <p:cNvPr id="7" name="“适当措施”未定义；列出超时起点、动作、恢复条件及待取依">
            <a:extLst xmlns:a="http://schemas.openxmlformats.org/drawingml/2006/main">
              <a:ext uri="{FF2B5EF4-FFF2-40B4-BE49-F238E27FC236}">
                <a16:creationId xmlns:a16="http://schemas.microsoft.com/office/drawing/2014/main" id="{F8454638-59E8-4412-A67F-84AA9FF0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66900"/>
            <a:ext cx="7981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“适当措施”未定义；列出超时起点、动作、恢复条件及待取依据。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7C2B5-DFA7-40EF-8E7C-2E7E32EC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9" name="人作出选择">
            <a:extLst xmlns:a="http://schemas.openxmlformats.org/drawingml/2006/main">
              <a:ext uri="{FF2B5EF4-FFF2-40B4-BE49-F238E27FC236}">
                <a16:creationId xmlns:a16="http://schemas.microsoft.com/office/drawing/2014/main" id="{ECA5FBD3-4281-4DB0-B990-9306180C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295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BA48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4824"/>
                </a:solidFill>
              </a:rPr>
              <a:t>人作出选择</a:t>
            </a:r>
          </a:p>
        </p:txBody>
      </p:sp>
      <p:sp>
        <p:nvSpPr>
          <p:cNvPr id="10" name="领域负责人结合系统分析确认策略、预算和适用配置，写回需求">
            <a:extLst xmlns:a="http://schemas.openxmlformats.org/drawingml/2006/main">
              <a:ext uri="{FF2B5EF4-FFF2-40B4-BE49-F238E27FC236}">
                <a16:creationId xmlns:a16="http://schemas.microsoft.com/office/drawing/2014/main" id="{43D1F793-FB96-4C5F-864F-B234B1FD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81300"/>
            <a:ext cx="7981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领域负责人结合系统分析确认策略、预算和适用配置，写回需求。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BE278-0D4D-4B76-8E27-15BBAA38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2" name="AI 实现并复查">
            <a:extLst xmlns:a="http://schemas.openxmlformats.org/drawingml/2006/main">
              <a:ext uri="{FF2B5EF4-FFF2-40B4-BE49-F238E27FC236}">
                <a16:creationId xmlns:a16="http://schemas.microsoft.com/office/drawing/2014/main" id="{BEB166F7-F915-4184-BD73-8784A18E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295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AI 实现并复查</a:t>
            </a:r>
          </a:p>
        </p:txBody>
      </p:sp>
      <p:sp>
        <p:nvSpPr>
          <p:cNvPr id="13" name="更新设计与代码，检查两级一致性，验证超时与恢复的边界场景">
            <a:extLst xmlns:a="http://schemas.openxmlformats.org/drawingml/2006/main">
              <a:ext uri="{FF2B5EF4-FFF2-40B4-BE49-F238E27FC236}">
                <a16:creationId xmlns:a16="http://schemas.microsoft.com/office/drawing/2014/main" id="{31E048BD-27F0-47B6-AFCB-5E281300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95700"/>
            <a:ext cx="7981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更新设计与代码，检查两级一致性，验证超时与恢复的边界场景。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41629-D354-484A-A9AB-E9088C75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5" name="人审查关闭证据">
            <a:extLst xmlns:a="http://schemas.openxmlformats.org/drawingml/2006/main">
              <a:ext uri="{FF2B5EF4-FFF2-40B4-BE49-F238E27FC236}">
                <a16:creationId xmlns:a16="http://schemas.microsoft.com/office/drawing/2014/main" id="{C829E48E-9567-4D9E-AAC2-6EEFF102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295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BA48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4824"/>
                </a:solidFill>
              </a:rPr>
              <a:t>人审查关闭证据</a:t>
            </a:r>
          </a:p>
        </p:txBody>
      </p:sp>
      <p:sp>
        <p:nvSpPr>
          <p:cNvPr id="16" name="核验新基线、原反例、回归结果及残余限制，决定是否关闭。">
            <a:extLst xmlns:a="http://schemas.openxmlformats.org/drawingml/2006/main">
              <a:ext uri="{FF2B5EF4-FFF2-40B4-BE49-F238E27FC236}">
                <a16:creationId xmlns:a16="http://schemas.microsoft.com/office/drawing/2014/main" id="{FF1869DC-F161-47BB-BF9A-2D8BAF37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10100"/>
            <a:ext cx="7981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核验新基线、原反例、回归结果及残余限制，决定是否关闭。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D8E03-1AE9-42E2-A7C8-A0B979E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2D8F8-7100-4B21-9A3C-7219AB2C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</p:spPr>
      </p:sp>
      <p:sp>
        <p:nvSpPr>
          <p:cNvPr id="19" name="若证据不足，先补分析或测量；处置策略与阈值仍由有依据的决">
            <a:extLst xmlns:a="http://schemas.openxmlformats.org/drawingml/2006/main">
              <a:ext uri="{FF2B5EF4-FFF2-40B4-BE49-F238E27FC236}">
                <a16:creationId xmlns:a16="http://schemas.microsoft.com/office/drawing/2014/main" id="{98738944-0880-46D4-8ABF-BD01DD94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39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</a:rPr>
              <a:t>若证据不足，先补分析或测量；处置策略与阈值仍由有依据的决定确定。</a:t>
            </a:r>
          </a:p>
        </p:txBody>
      </p:sp>
    </p:spTree>
    <p:extLst>
      <p:ext uri="{BB962C8B-B14F-4D97-AF65-F5344CB8AC3E}">
        <p14:creationId xmlns:p14="http://schemas.microsoft.com/office/powerpoint/2010/main" val="7333727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让协作持续运行">
            <a:extLst xmlns:a="http://schemas.openxmlformats.org/drawingml/2006/main">
              <a:ext uri="{FF2B5EF4-FFF2-40B4-BE49-F238E27FC236}">
                <a16:creationId xmlns:a16="http://schemas.microsoft.com/office/drawing/2014/main" id="{BE13542A-6233-4E4D-B74D-25FBD0E9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04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让协作持续运行</a:t>
            </a:r>
          </a:p>
        </p:txBody>
      </p:sp>
      <p:sp>
        <p:nvSpPr>
          <p:cNvPr id="2" name="记录让人工审核和后续接手都能核验">
            <a:extLst xmlns:a="http://schemas.openxmlformats.org/drawingml/2006/main">
              <a:ext uri="{FF2B5EF4-FFF2-40B4-BE49-F238E27FC236}">
                <a16:creationId xmlns:a16="http://schemas.microsoft.com/office/drawing/2014/main" id="{3439ED53-53D5-4AB4-AFDF-D6122AB0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</a:rPr>
              <a:t>记录让人工审核和后续接手都能核验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F6CE2-FC34-4F56-BDD7-51074BC1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B"/>
          </a:solidFill>
        </p:spPr>
      </p:sp>
      <p:sp>
        <p:nvSpPr>
          <p:cNvPr id="4" name="人工智能参与软件工程">
            <a:extLst xmlns:a="http://schemas.openxmlformats.org/drawingml/2006/main">
              <a:ext uri="{FF2B5EF4-FFF2-40B4-BE49-F238E27FC236}">
                <a16:creationId xmlns:a16="http://schemas.microsoft.com/office/drawing/2014/main" id="{5D1D54C4-B2B1-4B86-97EE-208DD63E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人工智能参与软件工程</a:t>
            </a:r>
          </a:p>
        </p:txBody>
      </p:sp>
      <p:sp>
        <p:nvSpPr>
          <p:cNvPr id="5" name="13 / 14">
            <a:extLst xmlns:a="http://schemas.openxmlformats.org/drawingml/2006/main">
              <a:ext uri="{FF2B5EF4-FFF2-40B4-BE49-F238E27FC236}">
                <a16:creationId xmlns:a16="http://schemas.microsoft.com/office/drawing/2014/main" id="{CFCA7964-C0EE-4CBB-B26F-0490C7AF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48425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13 / 14</a:t>
            </a:r>
          </a:p>
        </p:txBody>
      </p:sp>
      <p:sp>
        <p:nvSpPr>
          <p:cNvPr id="6" name="当前工作依据">
            <a:extLst xmlns:a="http://schemas.openxmlformats.org/drawingml/2006/main">
              <a:ext uri="{FF2B5EF4-FFF2-40B4-BE49-F238E27FC236}">
                <a16:creationId xmlns:a16="http://schemas.microsoft.com/office/drawing/2014/main" id="{1E762F43-E4B4-41E7-B740-98D2B662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当前工作依据</a:t>
            </a:r>
          </a:p>
        </p:txBody>
      </p:sp>
      <p:sp>
        <p:nvSpPr>
          <p:cNvPr id="7" name="范围、需求与设计版本、代码快照、配置，以及允许执行的动作">
            <a:extLst xmlns:a="http://schemas.openxmlformats.org/drawingml/2006/main">
              <a:ext uri="{FF2B5EF4-FFF2-40B4-BE49-F238E27FC236}">
                <a16:creationId xmlns:a16="http://schemas.microsoft.com/office/drawing/2014/main" id="{20A6573F-8053-44EF-AFDD-DD954947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526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范围、需求与设计版本、代码快照、配置，以及允许执行的动作。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D3F69-8872-46A0-8FFB-BA545143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9" name="问题和决定">
            <a:extLst xmlns:a="http://schemas.openxmlformats.org/drawingml/2006/main">
              <a:ext uri="{FF2B5EF4-FFF2-40B4-BE49-F238E27FC236}">
                <a16:creationId xmlns:a16="http://schemas.microsoft.com/office/drawing/2014/main" id="{FB97567A-F297-4C72-A423-47661DCB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问题和决定</a:t>
            </a:r>
          </a:p>
        </p:txBody>
      </p:sp>
      <p:sp>
        <p:nvSpPr>
          <p:cNvPr id="10" name="事实、假设、证据位置、候选原因、决定人、依据与待写回工件">
            <a:extLst xmlns:a="http://schemas.openxmlformats.org/drawingml/2006/main">
              <a:ext uri="{FF2B5EF4-FFF2-40B4-BE49-F238E27FC236}">
                <a16:creationId xmlns:a16="http://schemas.microsoft.com/office/drawing/2014/main" id="{33F569BE-658F-46A9-AC51-F3B4F0C8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575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事实、假设、证据位置、候选原因、决定人、依据与待写回工件。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048F5-1C4C-4D6B-AAE9-BC35E724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0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2" name="恢复工作的入口">
            <a:extLst xmlns:a="http://schemas.openxmlformats.org/drawingml/2006/main">
              <a:ext uri="{FF2B5EF4-FFF2-40B4-BE49-F238E27FC236}">
                <a16:creationId xmlns:a16="http://schemas.microsoft.com/office/drawing/2014/main" id="{927BE80C-5C33-44B9-A9E1-D5B67D70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24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恢复工作的入口</a:t>
            </a:r>
          </a:p>
        </p:txBody>
      </p:sp>
      <p:sp>
        <p:nvSpPr>
          <p:cNvPr id="13" name="当前阶段、已完成检查、未完成项、阻断原因及下一步所需输入">
            <a:extLst xmlns:a="http://schemas.openxmlformats.org/drawingml/2006/main">
              <a:ext uri="{FF2B5EF4-FFF2-40B4-BE49-F238E27FC236}">
                <a16:creationId xmlns:a16="http://schemas.microsoft.com/office/drawing/2014/main" id="{A76DE42D-CA44-4044-B8D4-2C29E94E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624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当前阶段、已完成检查、未完成项、阻断原因及下一步所需输入。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D1057-03BB-493B-B2B3-E926E9E8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1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00498-7FEA-4F4A-B149-E2402418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</p:spPr>
      </p:sp>
      <p:sp>
        <p:nvSpPr>
          <p:cNvPr id="16" name="接手者先核对基线和关键证据，再使用已有结论继续工作。">
            <a:extLst xmlns:a="http://schemas.openxmlformats.org/drawingml/2006/main">
              <a:ext uri="{FF2B5EF4-FFF2-40B4-BE49-F238E27FC236}">
                <a16:creationId xmlns:a16="http://schemas.microsoft.com/office/drawing/2014/main" id="{F96DE348-C94C-4FF4-B09D-B61AEF11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39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</a:rPr>
              <a:t>接手者先核对基线和关键证据，再使用已有结论继续工作。</a:t>
            </a:r>
          </a:p>
        </p:txBody>
      </p:sp>
    </p:spTree>
    <p:extLst>
      <p:ext uri="{BB962C8B-B14F-4D97-AF65-F5344CB8AC3E}">
        <p14:creationId xmlns:p14="http://schemas.microsoft.com/office/powerpoint/2010/main" val="36378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下一步建议">
            <a:extLst xmlns:a="http://schemas.openxmlformats.org/drawingml/2006/main">
              <a:ext uri="{FF2B5EF4-FFF2-40B4-BE49-F238E27FC236}">
                <a16:creationId xmlns:a16="http://schemas.microsoft.com/office/drawing/2014/main" id="{9944BD4D-AB57-418A-8891-6C9BB720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04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</a:rPr>
              <a:t>下一步建议</a:t>
            </a:r>
          </a:p>
        </p:txBody>
      </p:sp>
      <p:sp>
        <p:nvSpPr>
          <p:cNvPr id="2" name="从一个功能试点，建立可验证的人机分工">
            <a:extLst xmlns:a="http://schemas.openxmlformats.org/drawingml/2006/main">
              <a:ext uri="{FF2B5EF4-FFF2-40B4-BE49-F238E27FC236}">
                <a16:creationId xmlns:a16="http://schemas.microsoft.com/office/drawing/2014/main" id="{117DFEA9-91C3-4645-A778-68829051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</a:rPr>
              <a:t>从一个功能试点，建立可验证的人机分工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439FE-3E6D-4D75-8A87-FB3C4227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B"/>
          </a:solidFill>
        </p:spPr>
      </p:sp>
      <p:sp>
        <p:nvSpPr>
          <p:cNvPr id="4" name="人工智能参与软件工程">
            <a:extLst xmlns:a="http://schemas.openxmlformats.org/drawingml/2006/main">
              <a:ext uri="{FF2B5EF4-FFF2-40B4-BE49-F238E27FC236}">
                <a16:creationId xmlns:a16="http://schemas.microsoft.com/office/drawing/2014/main" id="{350D3258-A383-41FC-B460-5055AF11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人工智能参与软件工程</a:t>
            </a:r>
          </a:p>
        </p:txBody>
      </p:sp>
      <p:sp>
        <p:nvSpPr>
          <p:cNvPr id="5" name="14 / 14">
            <a:extLst xmlns:a="http://schemas.openxmlformats.org/drawingml/2006/main">
              <a:ext uri="{FF2B5EF4-FFF2-40B4-BE49-F238E27FC236}">
                <a16:creationId xmlns:a16="http://schemas.microsoft.com/office/drawing/2014/main" id="{3476191B-2880-4674-B6A5-D483F435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48425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</a:rPr>
              <a:t>14 / 14</a:t>
            </a:r>
          </a:p>
        </p:txBody>
      </p:sp>
      <p:sp>
        <p:nvSpPr>
          <p:cNvPr id="6" name="共同选定试点">
            <a:extLst xmlns:a="http://schemas.openxmlformats.org/drawingml/2006/main">
              <a:ext uri="{FF2B5EF4-FFF2-40B4-BE49-F238E27FC236}">
                <a16:creationId xmlns:a16="http://schemas.microsoft.com/office/drawing/2014/main" id="{CBEED821-9F30-4399-882E-64B7AF5B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共同选定试点</a:t>
            </a:r>
          </a:p>
        </p:txBody>
      </p:sp>
      <p:sp>
        <p:nvSpPr>
          <p:cNvPr id="7" name="选择边界和接口清楚的功能，指定目标、责任人和验收依据。">
            <a:extLst xmlns:a="http://schemas.openxmlformats.org/drawingml/2006/main">
              <a:ext uri="{FF2B5EF4-FFF2-40B4-BE49-F238E27FC236}">
                <a16:creationId xmlns:a16="http://schemas.microsoft.com/office/drawing/2014/main" id="{15FEC9EB-377E-4620-8E0D-16A2A8CC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526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选择边界和接口清楚的功能，指定目标、责任人和验收依据。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CF706-30DD-4A3B-9F67-F198C40E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9" name="划定 AI 的工作范围">
            <a:extLst xmlns:a="http://schemas.openxmlformats.org/drawingml/2006/main">
              <a:ext uri="{FF2B5EF4-FFF2-40B4-BE49-F238E27FC236}">
                <a16:creationId xmlns:a16="http://schemas.microsoft.com/office/drawing/2014/main" id="{6495F450-7632-49E3-AD86-8587F9AE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划定 AI 的工作范围</a:t>
            </a:r>
          </a:p>
        </p:txBody>
      </p:sp>
      <p:sp>
        <p:nvSpPr>
          <p:cNvPr id="10" name="列出可生成、可检查和可执行的活动，以及需要人决定的条件。">
            <a:extLst xmlns:a="http://schemas.openxmlformats.org/drawingml/2006/main">
              <a:ext uri="{FF2B5EF4-FFF2-40B4-BE49-F238E27FC236}">
                <a16:creationId xmlns:a16="http://schemas.microsoft.com/office/drawing/2014/main" id="{EBB92C15-0DA1-4288-873D-FD4463A1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575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列出可生成、可检查和可执行的活动，以及需要人决定的条件。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F3D10-BB23-4F25-8740-3A0D7001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0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2" name="跑通一次变更闭环">
            <a:extLst xmlns:a="http://schemas.openxmlformats.org/drawingml/2006/main">
              <a:ext uri="{FF2B5EF4-FFF2-40B4-BE49-F238E27FC236}">
                <a16:creationId xmlns:a16="http://schemas.microsoft.com/office/drawing/2014/main" id="{DED87894-D6BC-497D-A7C9-FB99F400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2425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91"/>
                </a:solidFill>
              </a:rPr>
              <a:t>跑通一次变更闭环</a:t>
            </a:r>
          </a:p>
        </p:txBody>
      </p:sp>
      <p:sp>
        <p:nvSpPr>
          <p:cNvPr id="13" name="留存问题、决定、修订与复验，检查能否追溯每个关键结论。">
            <a:extLst xmlns:a="http://schemas.openxmlformats.org/drawingml/2006/main">
              <a:ext uri="{FF2B5EF4-FFF2-40B4-BE49-F238E27FC236}">
                <a16:creationId xmlns:a16="http://schemas.microsoft.com/office/drawing/2014/main" id="{93B3D25F-E532-4A60-8148-0F928D7D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62425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</a:rPr>
              <a:t>留存问题、决定、修订与复验，检查能否追溯每个关键结论。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858C9-F1AD-4483-8A36-8BCB5251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1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4C712-D752-420B-A7C3-E12FAFF2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</p:spPr>
      </p:sp>
      <p:sp>
        <p:nvSpPr>
          <p:cNvPr id="16" name="AI 的产出有证据，人的决定有依据，协作结果可以复核与接">
            <a:extLst xmlns:a="http://schemas.openxmlformats.org/drawingml/2006/main">
              <a:ext uri="{FF2B5EF4-FFF2-40B4-BE49-F238E27FC236}">
                <a16:creationId xmlns:a16="http://schemas.microsoft.com/office/drawing/2014/main" id="{707639A0-BE24-4AC0-86E8-FB0EEF9A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39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</a:rPr>
              <a:t>AI 的产出有证据，人的决定有依据，协作结果可以复核与接续。</a:t>
            </a:r>
          </a:p>
        </p:txBody>
      </p:sp>
    </p:spTree>
    <p:extLst>
      <p:ext uri="{BB962C8B-B14F-4D97-AF65-F5344CB8AC3E}">
        <p14:creationId xmlns:p14="http://schemas.microsoft.com/office/powerpoint/2010/main" val="48458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2026-10-25T02:16:31.4420000Z</dcterms:created>
  <dcterms:modified xsi:type="dcterms:W3CDTF">2026-10-25T02:16:31.4420000Z</dcterms:modified>
</coreProperties>
</file>